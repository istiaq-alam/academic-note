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embeddedFontLst>
    <p:embeddedFont>
      <p:font typeface="Arim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hmC1sA7NTExS2fSL1Vhnmi6k6p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1A21D6-B60E-475E-8EA8-3754D00907D6}">
  <a:tblStyle styleId="{131A21D6-B60E-475E-8EA8-3754D00907D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mo-bold.fntdata"/><Relationship Id="rId11" Type="http://schemas.openxmlformats.org/officeDocument/2006/relationships/slide" Target="slides/slide5.xml"/><Relationship Id="rId22" Type="http://schemas.openxmlformats.org/officeDocument/2006/relationships/font" Target="fonts/Arimo-boldItalic.fntdata"/><Relationship Id="rId10" Type="http://schemas.openxmlformats.org/officeDocument/2006/relationships/slide" Target="slides/slide4.xml"/><Relationship Id="rId21" Type="http://schemas.openxmlformats.org/officeDocument/2006/relationships/font" Target="fonts/Arimo-italic.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Arim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5" name="Shape 15"/>
        <p:cNvGrpSpPr/>
        <p:nvPr/>
      </p:nvGrpSpPr>
      <p:grpSpPr>
        <a:xfrm>
          <a:off x="0" y="0"/>
          <a:ext cx="0" cy="0"/>
          <a:chOff x="0" y="0"/>
          <a:chExt cx="0" cy="0"/>
        </a:xfrm>
      </p:grpSpPr>
      <p:sp>
        <p:nvSpPr>
          <p:cNvPr id="16" name="Google Shape;1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14"/>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14"/>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1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7" name="Shape 27"/>
        <p:cNvGrpSpPr/>
        <p:nvPr/>
      </p:nvGrpSpPr>
      <p:grpSpPr>
        <a:xfrm>
          <a:off x="0" y="0"/>
          <a:ext cx="0" cy="0"/>
          <a:chOff x="0" y="0"/>
          <a:chExt cx="0" cy="0"/>
        </a:xfrm>
      </p:grpSpPr>
      <p:sp>
        <p:nvSpPr>
          <p:cNvPr id="28" name="Google Shape;2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16"/>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16"/>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1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5" name="Shape 35"/>
        <p:cNvGrpSpPr/>
        <p:nvPr/>
      </p:nvGrpSpPr>
      <p:grpSpPr>
        <a:xfrm>
          <a:off x="0" y="0"/>
          <a:ext cx="0" cy="0"/>
          <a:chOff x="0" y="0"/>
          <a:chExt cx="0" cy="0"/>
        </a:xfrm>
      </p:grpSpPr>
      <p:sp>
        <p:nvSpPr>
          <p:cNvPr id="36" name="Google Shape;3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1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42" name="Shape 42"/>
        <p:cNvGrpSpPr/>
        <p:nvPr/>
      </p:nvGrpSpPr>
      <p:grpSpPr>
        <a:xfrm>
          <a:off x="0" y="0"/>
          <a:ext cx="0" cy="0"/>
          <a:chOff x="0" y="0"/>
          <a:chExt cx="0" cy="0"/>
        </a:xfrm>
      </p:grpSpPr>
      <p:sp>
        <p:nvSpPr>
          <p:cNvPr id="43" name="Google Shape;43;p18"/>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1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7" name="Shape 47"/>
        <p:cNvGrpSpPr/>
        <p:nvPr/>
      </p:nvGrpSpPr>
      <p:grpSpPr>
        <a:xfrm>
          <a:off x="0" y="0"/>
          <a:ext cx="0" cy="0"/>
          <a:chOff x="0" y="0"/>
          <a:chExt cx="0" cy="0"/>
        </a:xfrm>
      </p:grpSpPr>
      <p:sp>
        <p:nvSpPr>
          <p:cNvPr id="48" name="Google Shape;48;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1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2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2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21"/>
          <p:cNvSpPr/>
          <p:nvPr>
            <p:ph idx="2" type="pic"/>
          </p:nvPr>
        </p:nvSpPr>
        <p:spPr>
          <a:xfrm>
            <a:off x="1792288" y="612775"/>
            <a:ext cx="5486400" cy="4114800"/>
          </a:xfrm>
          <a:prstGeom prst="rect">
            <a:avLst/>
          </a:prstGeom>
          <a:noFill/>
          <a:ln>
            <a:noFill/>
          </a:ln>
        </p:spPr>
      </p:sp>
      <p:sp>
        <p:nvSpPr>
          <p:cNvPr id="62" name="Google Shape;62;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3" name="Google Shape;63;p2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9" name="Google Shape;69;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0" name="Google Shape;70;p2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2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1" name="Google Shape;81;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2" name="Google Shape;82;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83" name="Google Shape;83;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84" name="Google Shape;84;p2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0" name="Google Shape;90;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91" name="Google Shape;91;p2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97" name="Google Shape;97;p2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3" name="Google Shape;103;p2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6" name="Shape 106"/>
        <p:cNvGrpSpPr/>
        <p:nvPr/>
      </p:nvGrpSpPr>
      <p:grpSpPr>
        <a:xfrm>
          <a:off x="0" y="0"/>
          <a:ext cx="0" cy="0"/>
          <a:chOff x="0" y="0"/>
          <a:chExt cx="0" cy="0"/>
        </a:xfrm>
      </p:grpSpPr>
      <p:sp>
        <p:nvSpPr>
          <p:cNvPr id="107" name="Google Shape;107;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09" name="Google Shape;109;p2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1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1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nvSpPr>
        <p:spPr>
          <a:xfrm>
            <a:off x="685800" y="2133600"/>
            <a:ext cx="7467600" cy="1754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omic Sans MS"/>
              <a:buNone/>
            </a:pPr>
            <a:r>
              <a:rPr b="0" i="0" lang="en-US" sz="3600" u="none" cap="none" strike="noStrike">
                <a:solidFill>
                  <a:schemeClr val="dk1"/>
                </a:solidFill>
                <a:latin typeface="Comic Sans MS"/>
                <a:ea typeface="Comic Sans MS"/>
                <a:cs typeface="Comic Sans MS"/>
                <a:sym typeface="Comic Sans MS"/>
              </a:rPr>
              <a:t>Computer Architecture</a:t>
            </a:r>
            <a:br>
              <a:rPr b="0" i="0" lang="en-US" sz="3600" u="none" cap="none" strike="noStrike">
                <a:solidFill>
                  <a:schemeClr val="dk1"/>
                </a:solidFill>
                <a:latin typeface="Comic Sans MS"/>
                <a:ea typeface="Comic Sans MS"/>
                <a:cs typeface="Comic Sans MS"/>
                <a:sym typeface="Comic Sans MS"/>
              </a:rPr>
            </a:br>
            <a:r>
              <a:rPr b="0" i="0" lang="en-US" sz="3600" u="none" cap="none" strike="noStrike">
                <a:solidFill>
                  <a:schemeClr val="dk1"/>
                </a:solidFill>
                <a:latin typeface="Comic Sans MS"/>
                <a:ea typeface="Comic Sans MS"/>
                <a:cs typeface="Comic Sans MS"/>
                <a:sym typeface="Comic Sans MS"/>
              </a:rPr>
              <a:t>Lecture </a:t>
            </a:r>
            <a:r>
              <a:rPr lang="en-US" sz="3600">
                <a:solidFill>
                  <a:schemeClr val="dk1"/>
                </a:solidFill>
                <a:latin typeface="Comic Sans MS"/>
                <a:ea typeface="Comic Sans MS"/>
                <a:cs typeface="Comic Sans MS"/>
                <a:sym typeface="Comic Sans MS"/>
              </a:rPr>
              <a:t>1</a:t>
            </a:r>
            <a:r>
              <a:rPr b="0" i="0" lang="en-US" sz="3600" u="none" cap="none" strike="noStrike">
                <a:solidFill>
                  <a:schemeClr val="dk1"/>
                </a:solidFill>
                <a:latin typeface="Comic Sans MS"/>
                <a:ea typeface="Comic Sans MS"/>
                <a:cs typeface="Comic Sans MS"/>
                <a:sym typeface="Comic Sans MS"/>
              </a:rPr>
              <a:t>1</a:t>
            </a:r>
            <a:endParaRPr/>
          </a:p>
          <a:p>
            <a:pPr indent="0" lvl="0" marL="0" marR="0" rtl="0" algn="l">
              <a:lnSpc>
                <a:spcPct val="100000"/>
              </a:lnSpc>
              <a:spcBef>
                <a:spcPts val="0"/>
              </a:spcBef>
              <a:spcAft>
                <a:spcPts val="0"/>
              </a:spcAft>
              <a:buNone/>
            </a:pPr>
            <a:r>
              <a:t/>
            </a:r>
            <a:endParaRPr b="0" i="0" sz="3600" u="none">
              <a:solidFill>
                <a:schemeClr val="dk1"/>
              </a:solidFill>
              <a:latin typeface="Comic Sans MS"/>
              <a:ea typeface="Comic Sans MS"/>
              <a:cs typeface="Comic Sans MS"/>
              <a:sym typeface="Comic Sans MS"/>
            </a:endParaRPr>
          </a:p>
        </p:txBody>
      </p:sp>
      <p:sp>
        <p:nvSpPr>
          <p:cNvPr id="117" name="Google Shape;117;p1"/>
          <p:cNvSpPr txBox="1"/>
          <p:nvPr>
            <p:ph type="title"/>
          </p:nvPr>
        </p:nvSpPr>
        <p:spPr>
          <a:xfrm>
            <a:off x="304800" y="4267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omic Sans MS"/>
              <a:buNone/>
            </a:pPr>
            <a:r>
              <a:rPr b="0" i="0" lang="en-US" sz="4400" u="none">
                <a:solidFill>
                  <a:schemeClr val="dk1"/>
                </a:solidFill>
                <a:latin typeface="Comic Sans MS"/>
                <a:ea typeface="Comic Sans MS"/>
                <a:cs typeface="Comic Sans MS"/>
                <a:sym typeface="Comic Sans MS"/>
              </a:rPr>
              <a:t>CISC and RISC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What is CISC?</a:t>
            </a:r>
            <a:endParaRPr/>
          </a:p>
        </p:txBody>
      </p:sp>
      <p:sp>
        <p:nvSpPr>
          <p:cNvPr id="123" name="Google Shape;123;p2"/>
          <p:cNvSpPr txBox="1"/>
          <p:nvPr/>
        </p:nvSpPr>
        <p:spPr>
          <a:xfrm>
            <a:off x="0" y="990600"/>
            <a:ext cx="9144000" cy="3886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CISC is an acronym for Complex Instruction Set Computer  that are easy to program and which make efficient use of memory. </a:t>
            </a:r>
            <a:endParaRPr/>
          </a:p>
          <a:p>
            <a:pPr indent="-342900" lvl="0" marL="342900" marR="0" rtl="0" algn="just">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Since the earliest machines were programmed in assembly language and memory was slow and expensive, the CISC philosophy made sense.</a:t>
            </a:r>
            <a:endParaRPr/>
          </a:p>
          <a:p>
            <a:pPr indent="-342900" lvl="0" marL="342900" marR="0" rtl="0" algn="just">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Most common microprocessor designs such as the Intel 80x86 and Motorola 68K series followed the CISC philosophy.</a:t>
            </a:r>
            <a:endParaRPr/>
          </a:p>
          <a:p>
            <a:pPr indent="-342900" lvl="0" marL="342900" marR="0" rtl="0" algn="just">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CISC was developed to make compiler development simpler. It shifts most of the burden of generating machine instructions to the processor. </a:t>
            </a:r>
            <a:endParaRPr/>
          </a:p>
          <a:p>
            <a:pPr indent="-342900" lvl="0" marL="342900" marR="0" rtl="0" algn="just">
              <a:lnSpc>
                <a:spcPct val="9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example, instead of having to make a compiler write long machine instructions to calculate a square-root, a CISC processor would have a built-in ability to do this.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CISC Attributes</a:t>
            </a:r>
            <a:endParaRPr/>
          </a:p>
        </p:txBody>
      </p:sp>
      <p:sp>
        <p:nvSpPr>
          <p:cNvPr id="129" name="Google Shape;129;p3"/>
          <p:cNvSpPr txBox="1"/>
          <p:nvPr/>
        </p:nvSpPr>
        <p:spPr>
          <a:xfrm>
            <a:off x="0" y="838200"/>
            <a:ext cx="9144000" cy="3886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The design constraints that led to the development of CISC (small amounts of slow memory and fact that most early machines were programmed in assembly language) give CISC instructions sets some common characteristics:</a:t>
            </a:r>
            <a:endParaRPr/>
          </a:p>
          <a:p>
            <a:pPr indent="-190500" lvl="0" marL="342900" marR="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2-operand format, where instructions have a source and a destination.</a:t>
            </a:r>
            <a:endParaRPr/>
          </a:p>
          <a:p>
            <a:pPr indent="-190500" lvl="0" marL="342900" marR="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Multiple addressing modes for memory, including specialized modes for indexing through arrays </a:t>
            </a:r>
            <a:endParaRPr/>
          </a:p>
          <a:p>
            <a:pPr indent="-190500" lvl="0" marL="342900" marR="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Variable length instructions where the length often varies according to the addressing mode </a:t>
            </a:r>
            <a:endParaRPr/>
          </a:p>
          <a:p>
            <a:pPr indent="-190500" lvl="0" marL="342900" marR="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Instructions which require multiple clock cycles to execute. </a:t>
            </a:r>
            <a:endParaRPr/>
          </a:p>
          <a:p>
            <a:pPr indent="-342900" lvl="0" marL="342900" marR="0" rtl="0" algn="l">
              <a:lnSpc>
                <a:spcPct val="80000"/>
              </a:lnSpc>
              <a:spcBef>
                <a:spcPts val="400"/>
              </a:spcBef>
              <a:spcAft>
                <a:spcPts val="0"/>
              </a:spcAft>
              <a:buClr>
                <a:schemeClr val="dk1"/>
              </a:buClr>
              <a:buSzPts val="2000"/>
              <a:buFont typeface="Times New Roman"/>
              <a:buNone/>
            </a:pPr>
            <a:r>
              <a:t/>
            </a:r>
            <a:endParaRPr b="0" i="0" sz="20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What is RISC?</a:t>
            </a:r>
            <a:endParaRPr/>
          </a:p>
        </p:txBody>
      </p:sp>
      <p:sp>
        <p:nvSpPr>
          <p:cNvPr id="135" name="Google Shape;135;p4"/>
          <p:cNvSpPr txBox="1"/>
          <p:nvPr/>
        </p:nvSpPr>
        <p:spPr>
          <a:xfrm>
            <a:off x="0" y="533400"/>
            <a:ext cx="9144000" cy="114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RISC, or </a:t>
            </a:r>
            <a:r>
              <a:rPr b="0" i="1" lang="en-US" sz="2400" u="none">
                <a:solidFill>
                  <a:schemeClr val="dk1"/>
                </a:solidFill>
                <a:latin typeface="Times New Roman"/>
                <a:ea typeface="Times New Roman"/>
                <a:cs typeface="Times New Roman"/>
                <a:sym typeface="Times New Roman"/>
              </a:rPr>
              <a:t>Reduced Instruction Set Computer</a:t>
            </a:r>
            <a:r>
              <a:rPr b="0" i="0" lang="en-US" sz="2400" u="none">
                <a:solidFill>
                  <a:schemeClr val="dk1"/>
                </a:solidFill>
                <a:latin typeface="Times New Roman"/>
                <a:ea typeface="Times New Roman"/>
                <a:cs typeface="Times New Roman"/>
                <a:sym typeface="Times New Roman"/>
              </a:rPr>
              <a:t>. is a type of microprocessor architecture that utilizes a small, highly-optimized set of instructions, rather than a more specialized set of instructions.</a:t>
            </a:r>
            <a:endParaRPr/>
          </a:p>
          <a:p>
            <a:pPr indent="-184150" lvl="1" marL="742950" marR="0" rtl="0" algn="l">
              <a:lnSpc>
                <a:spcPct val="80000"/>
              </a:lnSpc>
              <a:spcBef>
                <a:spcPts val="320"/>
              </a:spcBef>
              <a:spcAft>
                <a:spcPts val="0"/>
              </a:spcAft>
              <a:buClr>
                <a:schemeClr val="dk1"/>
              </a:buClr>
              <a:buSzPts val="1600"/>
              <a:buFont typeface="Times New Roman"/>
              <a:buNone/>
            </a:pPr>
            <a:r>
              <a:t/>
            </a:r>
            <a:endParaRPr b="0" i="1"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1" sz="1600" u="none" cap="none" strike="noStrike">
              <a:solidFill>
                <a:schemeClr val="dk1"/>
              </a:solidFill>
              <a:latin typeface="Arial"/>
              <a:ea typeface="Arial"/>
              <a:cs typeface="Arial"/>
              <a:sym typeface="Arial"/>
            </a:endParaRPr>
          </a:p>
        </p:txBody>
      </p:sp>
      <p:sp>
        <p:nvSpPr>
          <p:cNvPr id="136" name="Google Shape;136;p4"/>
          <p:cNvSpPr txBox="1"/>
          <p:nvPr/>
        </p:nvSpPr>
        <p:spPr>
          <a:xfrm>
            <a:off x="228600" y="1600200"/>
            <a:ext cx="7924800" cy="48006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80000"/>
              </a:lnSpc>
              <a:spcBef>
                <a:spcPts val="0"/>
              </a:spcBef>
              <a:spcAft>
                <a:spcPts val="0"/>
              </a:spcAft>
              <a:buClr>
                <a:schemeClr val="dk1"/>
              </a:buClr>
              <a:buSzPts val="2400"/>
              <a:buFont typeface="Times New Roman"/>
              <a:buNone/>
            </a:pPr>
            <a:r>
              <a:t/>
            </a:r>
            <a:endParaRPr b="1" i="0" sz="2400" u="none">
              <a:solidFill>
                <a:schemeClr val="dk1"/>
              </a:solidFill>
              <a:latin typeface="Arial"/>
              <a:ea typeface="Arial"/>
              <a:cs typeface="Arial"/>
              <a:sym typeface="Arial"/>
            </a:endParaRPr>
          </a:p>
          <a:p>
            <a:pPr indent="-285750" lvl="1" marL="742950" marR="0" rtl="0" algn="just">
              <a:lnSpc>
                <a:spcPct val="8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Small number of fast instruction format</a:t>
            </a:r>
            <a:endParaRPr/>
          </a:p>
          <a:p>
            <a:pPr indent="-133350" lvl="1" marL="742950" marR="0" rtl="0" algn="just">
              <a:lnSpc>
                <a:spcPct val="80000"/>
              </a:lnSpc>
              <a:spcBef>
                <a:spcPts val="480"/>
              </a:spcBef>
              <a:spcAft>
                <a:spcPts val="0"/>
              </a:spcAft>
              <a:buClr>
                <a:srgbClr val="000099"/>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just">
              <a:lnSpc>
                <a:spcPct val="8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Fixed instruction format, fixed length</a:t>
            </a:r>
            <a:endParaRPr/>
          </a:p>
          <a:p>
            <a:pPr indent="-133350" lvl="1" marL="742950" marR="0" rtl="0" algn="just">
              <a:lnSpc>
                <a:spcPct val="80000"/>
              </a:lnSpc>
              <a:spcBef>
                <a:spcPts val="480"/>
              </a:spcBef>
              <a:spcAft>
                <a:spcPts val="0"/>
              </a:spcAft>
              <a:buClr>
                <a:srgbClr val="000099"/>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just">
              <a:lnSpc>
                <a:spcPct val="8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Fast and single cycle instruction execution</a:t>
            </a:r>
            <a:endParaRPr/>
          </a:p>
          <a:p>
            <a:pPr indent="-133350" lvl="1" marL="742950" marR="0" rtl="0" algn="just">
              <a:lnSpc>
                <a:spcPct val="80000"/>
              </a:lnSpc>
              <a:spcBef>
                <a:spcPts val="480"/>
              </a:spcBef>
              <a:spcAft>
                <a:spcPts val="0"/>
              </a:spcAft>
              <a:buClr>
                <a:srgbClr val="000099"/>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just">
              <a:lnSpc>
                <a:spcPct val="8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Large number of general purpose registers: the RISC design philosophy generally incorporates a larger number of registers to prevent in large amounts of interactions with memory </a:t>
            </a:r>
            <a:endParaRPr/>
          </a:p>
          <a:p>
            <a:pPr indent="-285750" lvl="1" marL="742950" marR="0" rtl="0" algn="just">
              <a:lnSpc>
                <a:spcPct val="8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just">
              <a:lnSpc>
                <a:spcPct val="8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Typical for load/store architectures</a:t>
            </a:r>
            <a:endParaRPr/>
          </a:p>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nvSpPr>
        <p:spPr>
          <a:xfrm>
            <a:off x="533400" y="1600200"/>
            <a:ext cx="7924800" cy="3505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CISC (complex instruction set computer)</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VAX, Intel X86, Motorolla 680X0, etc</a:t>
            </a:r>
            <a:endParaRPr/>
          </a:p>
          <a:p>
            <a:pPr indent="-285750" lvl="1" marL="742950" marR="0" rtl="0" algn="just">
              <a:lnSpc>
                <a:spcPct val="8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just">
              <a:lnSpc>
                <a:spcPct val="80000"/>
              </a:lnSpc>
              <a:spcBef>
                <a:spcPts val="480"/>
              </a:spcBef>
              <a:spcAft>
                <a:spcPts val="0"/>
              </a:spcAft>
              <a:buClr>
                <a:srgbClr val="000099"/>
              </a:buClr>
              <a:buSzPts val="3000"/>
              <a:buFont typeface="Noto Sans Symbols"/>
              <a:buChar char="▪"/>
            </a:pPr>
            <a:r>
              <a:rPr b="0" i="0" lang="en-US" sz="2400" u="none">
                <a:solidFill>
                  <a:schemeClr val="dk1"/>
                </a:solidFill>
                <a:latin typeface="Times New Roman"/>
                <a:ea typeface="Times New Roman"/>
                <a:cs typeface="Times New Roman"/>
                <a:sym typeface="Times New Roman"/>
              </a:rPr>
              <a:t>RISC (reduced instruction set computer)</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MIPS, DEC Alpha, SUN Sparc, IBM 801,ARM6, etc</a:t>
            </a:r>
            <a:endParaRPr/>
          </a:p>
        </p:txBody>
      </p:sp>
      <p:sp>
        <p:nvSpPr>
          <p:cNvPr id="142" name="Google Shape;142;p5"/>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CISC and RISC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nvSpPr>
        <p:spPr>
          <a:xfrm>
            <a:off x="0" y="0"/>
            <a:ext cx="9144000" cy="1077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Example- </a:t>
            </a:r>
            <a:r>
              <a:rPr b="0" i="0" lang="en-US" sz="3200" u="none">
                <a:solidFill>
                  <a:schemeClr val="dk1"/>
                </a:solidFill>
                <a:latin typeface="Times New Roman"/>
                <a:ea typeface="Times New Roman"/>
                <a:cs typeface="Times New Roman"/>
                <a:sym typeface="Times New Roman"/>
              </a:rPr>
              <a:t>Multiplying Two Numbers in Memory</a:t>
            </a:r>
            <a:endParaRPr/>
          </a:p>
          <a:p>
            <a:pPr indent="0" lvl="0" marL="0" marR="0" rtl="0" algn="l">
              <a:lnSpc>
                <a:spcPct val="100000"/>
              </a:lnSpc>
              <a:spcBef>
                <a:spcPts val="0"/>
              </a:spcBef>
              <a:spcAft>
                <a:spcPts val="0"/>
              </a:spcAft>
              <a:buNone/>
            </a:pPr>
            <a:r>
              <a:t/>
            </a:r>
            <a:endParaRPr b="0" i="0" sz="3200" u="none">
              <a:solidFill>
                <a:schemeClr val="dk1"/>
              </a:solidFill>
              <a:latin typeface="Times New Roman"/>
              <a:ea typeface="Times New Roman"/>
              <a:cs typeface="Times New Roman"/>
              <a:sym typeface="Times New Roman"/>
            </a:endParaRPr>
          </a:p>
        </p:txBody>
      </p:sp>
      <p:sp>
        <p:nvSpPr>
          <p:cNvPr id="148" name="Google Shape;148;p6"/>
          <p:cNvSpPr txBox="1"/>
          <p:nvPr/>
        </p:nvSpPr>
        <p:spPr>
          <a:xfrm>
            <a:off x="0" y="838200"/>
            <a:ext cx="4114800" cy="58483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On the right is a diagram representing the storage scheme for a generic computer. The main memory is divided into locations numbered from (row) 1: (column) 1 to (row) 6: (column) 4. The execution unit is responsible for carrying out all computations. However, the execution unit can only operate on data that has been loaded into one of the six registers (A, B, C, D, E, or F). Let's say we want to find the product of two numbers - one stored in location 2:3 and another stored in location 5:2 - and then store the product back in the location 2:3.</a:t>
            </a:r>
            <a:endParaRPr/>
          </a:p>
        </p:txBody>
      </p:sp>
      <p:pic>
        <p:nvPicPr>
          <p:cNvPr id="149" name="Google Shape;149;p6"/>
          <p:cNvPicPr preferRelativeResize="0"/>
          <p:nvPr/>
        </p:nvPicPr>
        <p:blipFill rotWithShape="1">
          <a:blip r:embed="rId3">
            <a:alphaModFix/>
          </a:blip>
          <a:srcRect b="0" l="0" r="0" t="0"/>
          <a:stretch/>
        </p:blipFill>
        <p:spPr>
          <a:xfrm>
            <a:off x="4495800" y="1066800"/>
            <a:ext cx="4038600" cy="5035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The CISC approach</a:t>
            </a:r>
            <a:endParaRPr/>
          </a:p>
        </p:txBody>
      </p:sp>
      <p:sp>
        <p:nvSpPr>
          <p:cNvPr id="155" name="Google Shape;155;p7"/>
          <p:cNvSpPr txBox="1"/>
          <p:nvPr/>
        </p:nvSpPr>
        <p:spPr>
          <a:xfrm>
            <a:off x="0" y="762000"/>
            <a:ext cx="9144000" cy="4894262"/>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The primary goal of CISC architecture is to complete a task in as few lines of assembly as possible. This is achieved by building processor hardware that is capable of understanding and executing a series of operations. For this particular task, a CISC processor would come prepared with a specific instruction (we'll call it "MULT"). When executed, this instruction loads the two values into separate registers, multiplies the operands in the execution unit, and then stores the product in the appropriate register. Thus, the entire task of multiplying two numbers can be completed with one instruction: </a:t>
            </a:r>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rgbClr val="000000"/>
              </a:solidFill>
              <a:latin typeface="Arimo"/>
              <a:ea typeface="Arimo"/>
              <a:cs typeface="Arimo"/>
              <a:sym typeface="Arimo"/>
            </a:endParaRPr>
          </a:p>
          <a:p>
            <a:pPr indent="0" lvl="0" marL="0" marR="0" rtl="0" algn="ctr">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MULT 2:3, 5:2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t/>
            </a:r>
            <a:endParaRPr b="0" i="0" sz="24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nvSpPr>
        <p:spPr>
          <a:xfrm>
            <a:off x="0" y="0"/>
            <a:ext cx="9144000" cy="1077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Continue</a:t>
            </a:r>
            <a:endParaRPr/>
          </a:p>
          <a:p>
            <a:pPr indent="0" lvl="0" marL="0" marR="0" rtl="0" algn="l">
              <a:lnSpc>
                <a:spcPct val="100000"/>
              </a:lnSpc>
              <a:spcBef>
                <a:spcPts val="0"/>
              </a:spcBef>
              <a:spcAft>
                <a:spcPts val="0"/>
              </a:spcAft>
              <a:buNone/>
            </a:pPr>
            <a:r>
              <a:t/>
            </a:r>
            <a:endParaRPr b="0" i="0" sz="3200" u="none">
              <a:solidFill>
                <a:schemeClr val="dk1"/>
              </a:solidFill>
              <a:latin typeface="Times New Roman"/>
              <a:ea typeface="Times New Roman"/>
              <a:cs typeface="Times New Roman"/>
              <a:sym typeface="Times New Roman"/>
            </a:endParaRPr>
          </a:p>
        </p:txBody>
      </p:sp>
      <p:sp>
        <p:nvSpPr>
          <p:cNvPr id="161" name="Google Shape;161;p8"/>
          <p:cNvSpPr txBox="1"/>
          <p:nvPr/>
        </p:nvSpPr>
        <p:spPr>
          <a:xfrm>
            <a:off x="0" y="609600"/>
            <a:ext cx="9144000" cy="1200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MULT is what is known as a "complex instruction." It operates directly on the computer's memory banks and does not require the programmer to explicitly call any loading or storing functions.</a:t>
            </a:r>
            <a:endParaRPr/>
          </a:p>
        </p:txBody>
      </p:sp>
      <p:sp>
        <p:nvSpPr>
          <p:cNvPr id="162" name="Google Shape;162;p8"/>
          <p:cNvSpPr txBox="1"/>
          <p:nvPr/>
        </p:nvSpPr>
        <p:spPr>
          <a:xfrm>
            <a:off x="0" y="2057400"/>
            <a:ext cx="9144000" cy="15700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One of the primary advantages of this system is that the compiler has to do very little work to translate a high-level language statement into assembly. Because the length of the code is relatively short, very little RAM is required to store instructions.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The RISC approach</a:t>
            </a:r>
            <a:endParaRPr/>
          </a:p>
        </p:txBody>
      </p:sp>
      <p:sp>
        <p:nvSpPr>
          <p:cNvPr id="168" name="Google Shape;168;p9"/>
          <p:cNvSpPr txBox="1"/>
          <p:nvPr/>
        </p:nvSpPr>
        <p:spPr>
          <a:xfrm>
            <a:off x="0" y="838200"/>
            <a:ext cx="9144000" cy="1938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RISC processors only use simple instructions that can be executed within one clock cycle. Thus, the "MULT" command described above could be divided into three separate commands: "LOAD," which moves data from the memory bank to a register, "PROD," which finds the product of two operands located within the registers.</a:t>
            </a:r>
            <a:endParaRPr/>
          </a:p>
        </p:txBody>
      </p:sp>
      <p:sp>
        <p:nvSpPr>
          <p:cNvPr id="169" name="Google Shape;169;p9"/>
          <p:cNvSpPr txBox="1"/>
          <p:nvPr/>
        </p:nvSpPr>
        <p:spPr>
          <a:xfrm>
            <a:off x="0" y="3048000"/>
            <a:ext cx="9144000" cy="2308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In order to perform the exact series of steps described in the CISC approach, a programmer would need to code three lines of assembly:</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LOAD A, 2:3</a:t>
            </a:r>
            <a:br>
              <a:rPr b="0" i="0" lang="en-US" sz="2400" u="none">
                <a:solidFill>
                  <a:schemeClr val="dk1"/>
                </a:solidFill>
                <a:latin typeface="Times New Roman"/>
                <a:ea typeface="Times New Roman"/>
                <a:cs typeface="Times New Roman"/>
                <a:sym typeface="Times New Roman"/>
              </a:rPr>
            </a:br>
            <a:r>
              <a:rPr b="0" i="0" lang="en-US" sz="2400" u="none">
                <a:solidFill>
                  <a:schemeClr val="dk1"/>
                </a:solidFill>
                <a:latin typeface="Times New Roman"/>
                <a:ea typeface="Times New Roman"/>
                <a:cs typeface="Times New Roman"/>
                <a:sym typeface="Times New Roman"/>
              </a:rPr>
              <a:t>LOAD B, 5:2</a:t>
            </a:r>
            <a:br>
              <a:rPr b="0" i="0" lang="en-US" sz="2400" u="none">
                <a:solidFill>
                  <a:schemeClr val="dk1"/>
                </a:solidFill>
                <a:latin typeface="Times New Roman"/>
                <a:ea typeface="Times New Roman"/>
                <a:cs typeface="Times New Roman"/>
                <a:sym typeface="Times New Roman"/>
              </a:rPr>
            </a:br>
            <a:r>
              <a:rPr b="0" i="0" lang="en-US" sz="2400" u="none">
                <a:solidFill>
                  <a:schemeClr val="dk1"/>
                </a:solidFill>
                <a:latin typeface="Times New Roman"/>
                <a:ea typeface="Times New Roman"/>
                <a:cs typeface="Times New Roman"/>
                <a:sym typeface="Times New Roman"/>
              </a:rPr>
              <a:t>PROD A, B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nvSpPr>
        <p:spPr>
          <a:xfrm>
            <a:off x="0" y="762000"/>
            <a:ext cx="9144000" cy="1938337"/>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At first, this may seem like a much less efficient way of completing the operation. Because there are more lines of code, more RAM is needed to store the assembly level instructions. The compiler must also perform more work to convert a high-level language statement into code of this form.</a:t>
            </a:r>
            <a:endParaRPr/>
          </a:p>
        </p:txBody>
      </p:sp>
      <p:sp>
        <p:nvSpPr>
          <p:cNvPr id="175" name="Google Shape;175;p10"/>
          <p:cNvSpPr txBox="1"/>
          <p:nvPr/>
        </p:nvSpPr>
        <p:spPr>
          <a:xfrm>
            <a:off x="0" y="3048000"/>
            <a:ext cx="9144000" cy="341630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However, the RISC strategy also brings some very important advantages. Because each instruction requires only one clock cycle to execute, the entire program will execute in approximately the same amount of time as the multi-cycle "MULT" command. These RISC "reduced instructions" require less transistors of hardware space than the complex instructions, leaving more room for general purpose registers. </a:t>
            </a:r>
            <a:endParaRPr/>
          </a:p>
          <a:p>
            <a:pPr indent="0" lvl="0" marL="0" marR="0" rtl="0" algn="just">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Because all of the instructions execute in a uniform amount of time (i.e. one clock), pipelining is possible.</a:t>
            </a:r>
            <a:endParaRPr/>
          </a:p>
        </p:txBody>
      </p:sp>
      <p:sp>
        <p:nvSpPr>
          <p:cNvPr id="176" name="Google Shape;176;p10"/>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Continue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Continue</a:t>
            </a:r>
            <a:endParaRPr/>
          </a:p>
        </p:txBody>
      </p:sp>
      <p:sp>
        <p:nvSpPr>
          <p:cNvPr id="182" name="Google Shape;182;p11"/>
          <p:cNvSpPr txBox="1"/>
          <p:nvPr/>
        </p:nvSpPr>
        <p:spPr>
          <a:xfrm>
            <a:off x="0" y="609600"/>
            <a:ext cx="9144000" cy="2678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Separating the "LOAD" and "STORE" instructions actually reduces the amount of work that the computer must perform. After a CISC-style "MULT" command is executed, the processor automatically erases the registers. If one of the operands needs to be used for another computation, the processor must re-load the data from the memory bank into a register. In RISC, the operand will remain in the register until another value is loaded in its place.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nvSpPr>
        <p:spPr>
          <a:xfrm>
            <a:off x="0" y="0"/>
            <a:ext cx="91440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73"/>
              </a:buClr>
              <a:buSzPts val="3200"/>
              <a:buFont typeface="Comic Sans MS"/>
              <a:buNone/>
            </a:pPr>
            <a:r>
              <a:rPr b="0" i="0" lang="en-US" sz="3200" u="none">
                <a:solidFill>
                  <a:srgbClr val="262673"/>
                </a:solidFill>
                <a:latin typeface="Comic Sans MS"/>
                <a:ea typeface="Comic Sans MS"/>
                <a:cs typeface="Comic Sans MS"/>
                <a:sym typeface="Comic Sans MS"/>
              </a:rPr>
              <a:t>CISC versus RISC</a:t>
            </a:r>
            <a:endParaRPr/>
          </a:p>
        </p:txBody>
      </p:sp>
      <p:graphicFrame>
        <p:nvGraphicFramePr>
          <p:cNvPr id="188" name="Google Shape;188;p12"/>
          <p:cNvGraphicFramePr/>
          <p:nvPr/>
        </p:nvGraphicFramePr>
        <p:xfrm>
          <a:off x="228600" y="609600"/>
          <a:ext cx="3000000" cy="3000000"/>
        </p:xfrm>
        <a:graphic>
          <a:graphicData uri="http://schemas.openxmlformats.org/drawingml/2006/table">
            <a:tbl>
              <a:tblPr>
                <a:noFill/>
                <a:tableStyleId>{131A21D6-B60E-475E-8EA8-3754D00907D6}</a:tableStyleId>
              </a:tblPr>
              <a:tblGrid>
                <a:gridCol w="4457700"/>
                <a:gridCol w="4229100"/>
              </a:tblGrid>
              <a:tr h="427025">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cap="none" strike="noStrike">
                          <a:solidFill>
                            <a:schemeClr val="dk1"/>
                          </a:solidFill>
                          <a:latin typeface="Times New Roman"/>
                          <a:ea typeface="Times New Roman"/>
                          <a:cs typeface="Times New Roman"/>
                          <a:sym typeface="Times New Roman"/>
                        </a:rPr>
                        <a:t>CISC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cap="none" strike="noStrike">
                          <a:solidFill>
                            <a:schemeClr val="dk1"/>
                          </a:solidFill>
                          <a:latin typeface="Times New Roman"/>
                          <a:ea typeface="Times New Roman"/>
                          <a:cs typeface="Times New Roman"/>
                          <a:sym typeface="Times New Roman"/>
                        </a:rPr>
                        <a:t>RISC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62000">
                <a:tc>
                  <a:txBody>
                    <a:bodyPr/>
                    <a:lstStyle/>
                    <a:p>
                      <a:pPr indent="0" lvl="0" marL="0" marR="0" rtl="0" algn="just">
                        <a:lnSpc>
                          <a:spcPct val="100000"/>
                        </a:lnSpc>
                        <a:spcBef>
                          <a:spcPts val="0"/>
                        </a:spcBef>
                        <a:spcAft>
                          <a:spcPts val="0"/>
                        </a:spcAft>
                        <a:buClr>
                          <a:schemeClr val="dk1"/>
                        </a:buClr>
                        <a:buSzPts val="2200"/>
                        <a:buFont typeface="Times New Roman"/>
                        <a:buNone/>
                      </a:pPr>
                      <a:r>
                        <a:rPr b="0" i="0" lang="en-US" sz="2200" u="none" cap="none" strike="noStrike">
                          <a:solidFill>
                            <a:schemeClr val="dk1"/>
                          </a:solidFill>
                          <a:latin typeface="Times New Roman"/>
                          <a:ea typeface="Times New Roman"/>
                          <a:cs typeface="Times New Roman"/>
                          <a:sym typeface="Times New Roman"/>
                        </a:rPr>
                        <a:t>Emphasis on hardware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cap="none" strike="noStrike">
                          <a:solidFill>
                            <a:schemeClr val="dk1"/>
                          </a:solidFill>
                          <a:latin typeface="Times New Roman"/>
                          <a:ea typeface="Times New Roman"/>
                          <a:cs typeface="Times New Roman"/>
                          <a:sym typeface="Times New Roman"/>
                        </a:rPr>
                        <a:t>Emphasis on software </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7025">
                <a:tc>
                  <a:txBody>
                    <a:bodyPr/>
                    <a:lstStyle/>
                    <a:p>
                      <a:pPr indent="0" lvl="0" marL="0" marR="0" rtl="0" algn="just">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Variable length instruction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One word instruction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96950">
                <a:tc>
                  <a:txBody>
                    <a:bodyPr/>
                    <a:lstStyle/>
                    <a:p>
                      <a:pPr indent="0" lvl="0" marL="0" marR="0" rtl="0" algn="just">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Includes multi-clock cycle  complex instructions </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Single-clock,</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reduced instruction only </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431925">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Memory-to-memory:</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"LOAD" and "STORE"</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incorporated in instructions </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Register to register:</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"LOAD" and "STORE"</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are independent instructions </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62000">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Small code sizes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large code sizes </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96950">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Transistors used for storing</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complex instructions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Times New Roman"/>
                        <a:buNone/>
                      </a:pPr>
                      <a:r>
                        <a:rPr b="0" i="0" lang="en-US" sz="2200" u="none">
                          <a:solidFill>
                            <a:schemeClr val="dk1"/>
                          </a:solidFill>
                          <a:latin typeface="Times New Roman"/>
                          <a:ea typeface="Times New Roman"/>
                          <a:cs typeface="Times New Roman"/>
                          <a:sym typeface="Times New Roman"/>
                        </a:rPr>
                        <a:t>Spends more transistors</a:t>
                      </a:r>
                      <a:br>
                        <a:rPr b="0" i="0" lang="en-US" sz="2200" u="none">
                          <a:solidFill>
                            <a:schemeClr val="dk1"/>
                          </a:solidFill>
                          <a:latin typeface="Times New Roman"/>
                          <a:ea typeface="Times New Roman"/>
                          <a:cs typeface="Times New Roman"/>
                          <a:sym typeface="Times New Roman"/>
                        </a:rPr>
                      </a:br>
                      <a:r>
                        <a:rPr b="0" i="0" lang="en-US" sz="2200" u="none">
                          <a:solidFill>
                            <a:schemeClr val="dk1"/>
                          </a:solidFill>
                          <a:latin typeface="Times New Roman"/>
                          <a:ea typeface="Times New Roman"/>
                          <a:cs typeface="Times New Roman"/>
                          <a:sym typeface="Times New Roman"/>
                        </a:rPr>
                        <a:t>on memory registers</a:t>
                      </a:r>
                      <a:endParaRPr/>
                    </a:p>
                    <a:p>
                      <a:pPr indent="0" lvl="0" marL="0" marR="0" rtl="0" algn="l">
                        <a:spcBef>
                          <a:spcPts val="0"/>
                        </a:spcBef>
                        <a:spcAft>
                          <a:spcPts val="0"/>
                        </a:spcAft>
                        <a:buNone/>
                      </a:pPr>
                      <a:r>
                        <a:t/>
                      </a:r>
                      <a:endParaRPr b="0" i="0" sz="2200" u="non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2008-03-23T23:58:27Z</dcterms:created>
  <dc:creator>Mrs.Nayeema Islam</dc:creator>
</cp:coreProperties>
</file>