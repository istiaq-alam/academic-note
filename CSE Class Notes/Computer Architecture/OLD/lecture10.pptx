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1" roundtripDataSignature="AMtx7miFLEg6Ev7eFtIcVTDJUvMOBr8b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1F1F1F"/>
                </a:solidFill>
                <a:highlight>
                  <a:srgbClr val="FFFFFF"/>
                </a:highlight>
                <a:latin typeface="Times New Roman"/>
                <a:ea typeface="Times New Roman"/>
                <a:cs typeface="Times New Roman"/>
                <a:sym typeface="Times New Roman"/>
              </a:rPr>
              <a:t>In a direct-mapped cache </a:t>
            </a:r>
            <a:r>
              <a:rPr lang="en-US" sz="1200">
                <a:solidFill>
                  <a:srgbClr val="040C28"/>
                </a:solidFill>
                <a:highlight>
                  <a:srgbClr val="FFFFFF"/>
                </a:highlight>
                <a:latin typeface="Times New Roman"/>
                <a:ea typeface="Times New Roman"/>
                <a:cs typeface="Times New Roman"/>
                <a:sym typeface="Times New Roman"/>
              </a:rPr>
              <a:t>each addressed location in main memory maps to a single location in cache memory</a:t>
            </a:r>
            <a:r>
              <a:rPr lang="en-US" sz="1200">
                <a:solidFill>
                  <a:srgbClr val="1F1F1F"/>
                </a:solidFill>
                <a:highlight>
                  <a:srgbClr val="FFFFFF"/>
                </a:highlight>
                <a:latin typeface="Times New Roman"/>
                <a:ea typeface="Times New Roman"/>
                <a:cs typeface="Times New Roman"/>
                <a:sym typeface="Times New Roman"/>
              </a:rPr>
              <a:t>. Since main memory is much larger than cache memory, there are many addresses in main memory that map to the same single location in cache memory.</a:t>
            </a:r>
            <a:endParaRPr sz="1200">
              <a:solidFill>
                <a:srgbClr val="1F1F1F"/>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b="1" lang="en-US" sz="1200">
                <a:solidFill>
                  <a:schemeClr val="dk1"/>
                </a:solidFill>
                <a:highlight>
                  <a:srgbClr val="FFFFFF"/>
                </a:highlight>
                <a:latin typeface="Times New Roman"/>
                <a:ea typeface="Times New Roman"/>
                <a:cs typeface="Times New Roman"/>
                <a:sym typeface="Times New Roman"/>
              </a:rPr>
              <a:t>In the direct mapping scheme, we map each block of main memory to only one specific cache location.</a:t>
            </a:r>
            <a:endParaRPr sz="1200">
              <a:solidFill>
                <a:srgbClr val="1F1F1F"/>
              </a:solidFill>
              <a:highlight>
                <a:srgbClr val="FFFFFF"/>
              </a:highlight>
              <a:latin typeface="Times New Roman"/>
              <a:ea typeface="Times New Roman"/>
              <a:cs typeface="Times New Roman"/>
              <a:sym typeface="Times New Roman"/>
            </a:endParaRPr>
          </a:p>
        </p:txBody>
      </p:sp>
      <p:sp>
        <p:nvSpPr>
          <p:cNvPr id="190" name="Google Shape;19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15" name="Shape 15"/>
        <p:cNvGrpSpPr/>
        <p:nvPr/>
      </p:nvGrpSpPr>
      <p:grpSpPr>
        <a:xfrm>
          <a:off x="0" y="0"/>
          <a:ext cx="0" cy="0"/>
          <a:chOff x="0" y="0"/>
          <a:chExt cx="0" cy="0"/>
        </a:xfrm>
      </p:grpSpPr>
      <p:sp>
        <p:nvSpPr>
          <p:cNvPr id="16" name="Google Shape;1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17"/>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17"/>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1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7" name="Shape 27"/>
        <p:cNvGrpSpPr/>
        <p:nvPr/>
      </p:nvGrpSpPr>
      <p:grpSpPr>
        <a:xfrm>
          <a:off x="0" y="0"/>
          <a:ext cx="0" cy="0"/>
          <a:chOff x="0" y="0"/>
          <a:chExt cx="0" cy="0"/>
        </a:xfrm>
      </p:grpSpPr>
      <p:sp>
        <p:nvSpPr>
          <p:cNvPr id="28" name="Google Shape;28;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19"/>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19"/>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1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5" name="Shape 35"/>
        <p:cNvGrpSpPr/>
        <p:nvPr/>
      </p:nvGrpSpPr>
      <p:grpSpPr>
        <a:xfrm>
          <a:off x="0" y="0"/>
          <a:ext cx="0" cy="0"/>
          <a:chOff x="0" y="0"/>
          <a:chExt cx="0" cy="0"/>
        </a:xfrm>
      </p:grpSpPr>
      <p:sp>
        <p:nvSpPr>
          <p:cNvPr id="36" name="Google Shape;3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 name="Google Shape;38;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2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42" name="Shape 42"/>
        <p:cNvGrpSpPr/>
        <p:nvPr/>
      </p:nvGrpSpPr>
      <p:grpSpPr>
        <a:xfrm>
          <a:off x="0" y="0"/>
          <a:ext cx="0" cy="0"/>
          <a:chOff x="0" y="0"/>
          <a:chExt cx="0" cy="0"/>
        </a:xfrm>
      </p:grpSpPr>
      <p:sp>
        <p:nvSpPr>
          <p:cNvPr id="43" name="Google Shape;43;p21"/>
          <p:cNvSpPr txBox="1"/>
          <p:nvPr>
            <p:ph idx="1" type="body"/>
          </p:nvPr>
        </p:nvSpPr>
        <p:spPr>
          <a:xfrm>
            <a:off x="457200" y="274638"/>
            <a:ext cx="8229600" cy="58515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4" name="Google Shape;44;p2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7" name="Shape 47"/>
        <p:cNvGrpSpPr/>
        <p:nvPr/>
      </p:nvGrpSpPr>
      <p:grpSpPr>
        <a:xfrm>
          <a:off x="0" y="0"/>
          <a:ext cx="0" cy="0"/>
          <a:chOff x="0" y="0"/>
          <a:chExt cx="0" cy="0"/>
        </a:xfrm>
      </p:grpSpPr>
      <p:sp>
        <p:nvSpPr>
          <p:cNvPr id="48" name="Google Shape;48;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 name="Google Shape;50;p2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3" name="Shape 53"/>
        <p:cNvGrpSpPr/>
        <p:nvPr/>
      </p:nvGrpSpPr>
      <p:grpSpPr>
        <a:xfrm>
          <a:off x="0" y="0"/>
          <a:ext cx="0" cy="0"/>
          <a:chOff x="0" y="0"/>
          <a:chExt cx="0" cy="0"/>
        </a:xfrm>
      </p:grpSpPr>
      <p:sp>
        <p:nvSpPr>
          <p:cNvPr id="54" name="Google Shape;54;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23"/>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6" name="Google Shape;56;p2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24"/>
          <p:cNvSpPr/>
          <p:nvPr>
            <p:ph idx="2" type="pic"/>
          </p:nvPr>
        </p:nvSpPr>
        <p:spPr>
          <a:xfrm>
            <a:off x="1792288" y="612775"/>
            <a:ext cx="5486400" cy="4114800"/>
          </a:xfrm>
          <a:prstGeom prst="rect">
            <a:avLst/>
          </a:prstGeom>
          <a:noFill/>
          <a:ln>
            <a:noFill/>
          </a:ln>
        </p:spPr>
      </p:sp>
      <p:sp>
        <p:nvSpPr>
          <p:cNvPr id="62" name="Google Shape;62;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3" name="Google Shape;63;p2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69" name="Google Shape;69;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70" name="Google Shape;70;p2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2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8" name="Shape 78"/>
        <p:cNvGrpSpPr/>
        <p:nvPr/>
      </p:nvGrpSpPr>
      <p:grpSpPr>
        <a:xfrm>
          <a:off x="0" y="0"/>
          <a:ext cx="0" cy="0"/>
          <a:chOff x="0" y="0"/>
          <a:chExt cx="0" cy="0"/>
        </a:xfrm>
      </p:grpSpPr>
      <p:sp>
        <p:nvSpPr>
          <p:cNvPr id="79" name="Google Shape;79;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1" name="Google Shape;81;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82" name="Google Shape;82;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3" name="Google Shape;83;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84" name="Google Shape;84;p2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7" name="Shape 87"/>
        <p:cNvGrpSpPr/>
        <p:nvPr/>
      </p:nvGrpSpPr>
      <p:grpSpPr>
        <a:xfrm>
          <a:off x="0" y="0"/>
          <a:ext cx="0" cy="0"/>
          <a:chOff x="0" y="0"/>
          <a:chExt cx="0" cy="0"/>
        </a:xfrm>
      </p:grpSpPr>
      <p:sp>
        <p:nvSpPr>
          <p:cNvPr id="88" name="Google Shape;88;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9" name="Google Shape;89;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90" name="Google Shape;90;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91" name="Google Shape;91;p2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2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6" name="Google Shape;96;p2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97" name="Google Shape;97;p2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3" name="Google Shape;103;p3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6" name="Shape 106"/>
        <p:cNvGrpSpPr/>
        <p:nvPr/>
      </p:nvGrpSpPr>
      <p:grpSpPr>
        <a:xfrm>
          <a:off x="0" y="0"/>
          <a:ext cx="0" cy="0"/>
          <a:chOff x="0" y="0"/>
          <a:chExt cx="0" cy="0"/>
        </a:xfrm>
      </p:grpSpPr>
      <p:sp>
        <p:nvSpPr>
          <p:cNvPr id="107" name="Google Shape;107;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8" name="Google Shape;108;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09" name="Google Shape;109;p3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1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1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1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
          <p:cNvSpPr txBox="1"/>
          <p:nvPr/>
        </p:nvSpPr>
        <p:spPr>
          <a:xfrm>
            <a:off x="685800" y="2133600"/>
            <a:ext cx="7467600" cy="17541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Comic Sans MS"/>
              <a:buNone/>
            </a:pPr>
            <a:r>
              <a:rPr b="0" i="0" lang="en-US" sz="3600" u="none" cap="none" strike="noStrike">
                <a:solidFill>
                  <a:schemeClr val="dk1"/>
                </a:solidFill>
                <a:latin typeface="Comic Sans MS"/>
                <a:ea typeface="Comic Sans MS"/>
                <a:cs typeface="Comic Sans MS"/>
                <a:sym typeface="Comic Sans MS"/>
              </a:rPr>
              <a:t>CSE-3109 Computer Architecture</a:t>
            </a:r>
            <a:br>
              <a:rPr b="0" i="0" lang="en-US" sz="3600" u="none" cap="none" strike="noStrike">
                <a:solidFill>
                  <a:schemeClr val="dk1"/>
                </a:solidFill>
                <a:latin typeface="Comic Sans MS"/>
                <a:ea typeface="Comic Sans MS"/>
                <a:cs typeface="Comic Sans MS"/>
                <a:sym typeface="Comic Sans MS"/>
              </a:rPr>
            </a:br>
            <a:r>
              <a:rPr b="0" i="0" lang="en-US" sz="3600" u="none" cap="none" strike="noStrike">
                <a:solidFill>
                  <a:schemeClr val="dk1"/>
                </a:solidFill>
                <a:latin typeface="Comic Sans MS"/>
                <a:ea typeface="Comic Sans MS"/>
                <a:cs typeface="Comic Sans MS"/>
                <a:sym typeface="Comic Sans MS"/>
              </a:rPr>
              <a:t>Lecture 9</a:t>
            </a:r>
            <a:endParaRPr/>
          </a:p>
          <a:p>
            <a:pPr indent="0" lvl="0" marL="0" marR="0" rtl="0" algn="l">
              <a:lnSpc>
                <a:spcPct val="100000"/>
              </a:lnSpc>
              <a:spcBef>
                <a:spcPts val="0"/>
              </a:spcBef>
              <a:spcAft>
                <a:spcPts val="0"/>
              </a:spcAft>
              <a:buNone/>
            </a:pPr>
            <a:r>
              <a:t/>
            </a:r>
            <a:endParaRPr b="0" i="0" sz="3600" u="none">
              <a:solidFill>
                <a:schemeClr val="dk1"/>
              </a:solidFill>
              <a:latin typeface="Comic Sans MS"/>
              <a:ea typeface="Comic Sans MS"/>
              <a:cs typeface="Comic Sans MS"/>
              <a:sym typeface="Comic Sans MS"/>
            </a:endParaRPr>
          </a:p>
        </p:txBody>
      </p:sp>
      <p:sp>
        <p:nvSpPr>
          <p:cNvPr id="117" name="Google Shape;117;p1"/>
          <p:cNvSpPr txBox="1"/>
          <p:nvPr>
            <p:ph type="title"/>
          </p:nvPr>
        </p:nvSpPr>
        <p:spPr>
          <a:xfrm>
            <a:off x="152400" y="44196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omic Sans MS"/>
              <a:buNone/>
            </a:pPr>
            <a:r>
              <a:rPr b="0" i="0" lang="en-US" sz="4400" u="none">
                <a:solidFill>
                  <a:schemeClr val="dk1"/>
                </a:solidFill>
                <a:latin typeface="Comic Sans MS"/>
                <a:ea typeface="Comic Sans MS"/>
                <a:cs typeface="Comic Sans MS"/>
                <a:sym typeface="Comic Sans MS"/>
              </a:rPr>
              <a:t>Memory Hierarchy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Memory Hierarchy</a:t>
            </a:r>
            <a:endParaRPr/>
          </a:p>
        </p:txBody>
      </p:sp>
      <p:sp>
        <p:nvSpPr>
          <p:cNvPr id="123" name="Google Shape;123;p2"/>
          <p:cNvSpPr txBox="1"/>
          <p:nvPr>
            <p:ph idx="1" type="body"/>
          </p:nvPr>
        </p:nvSpPr>
        <p:spPr>
          <a:xfrm>
            <a:off x="304800" y="990600"/>
            <a:ext cx="8229600" cy="41910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000099"/>
              </a:buClr>
              <a:buSzPts val="3000"/>
              <a:buFont typeface="Noto Sans Symbols"/>
              <a:buChar char="▪"/>
            </a:pPr>
            <a:r>
              <a:rPr b="0" i="0" lang="en-US" sz="2400" u="none">
                <a:solidFill>
                  <a:schemeClr val="dk1"/>
                </a:solidFill>
                <a:latin typeface="Times New Roman"/>
                <a:ea typeface="Times New Roman"/>
                <a:cs typeface="Times New Roman"/>
                <a:sym typeface="Times New Roman"/>
              </a:rPr>
              <a:t>A memory hierarchy consists of multiple levels of memory with different speeds and sizes.</a:t>
            </a:r>
            <a:endParaRPr/>
          </a:p>
          <a:p>
            <a:pPr indent="-152400" lvl="0" marL="342900" rtl="0" algn="l">
              <a:lnSpc>
                <a:spcPct val="100000"/>
              </a:lnSpc>
              <a:spcBef>
                <a:spcPts val="480"/>
              </a:spcBef>
              <a:spcAft>
                <a:spcPts val="0"/>
              </a:spcAft>
              <a:buClr>
                <a:srgbClr val="000099"/>
              </a:buClr>
              <a:buSzPts val="3000"/>
              <a:buFont typeface="Noto Sans Symbols"/>
              <a:buNone/>
            </a:pPr>
            <a:r>
              <a:t/>
            </a:r>
            <a:endParaRPr b="0" i="0" sz="2400" u="none">
              <a:solidFill>
                <a:schemeClr val="dk1"/>
              </a:solidFill>
              <a:latin typeface="Times New Roman"/>
              <a:ea typeface="Times New Roman"/>
              <a:cs typeface="Times New Roman"/>
              <a:sym typeface="Times New Roman"/>
            </a:endParaRPr>
          </a:p>
          <a:p>
            <a:pPr indent="-342900" lvl="0" marL="342900" rtl="0" algn="l">
              <a:lnSpc>
                <a:spcPct val="100000"/>
              </a:lnSpc>
              <a:spcBef>
                <a:spcPts val="480"/>
              </a:spcBef>
              <a:spcAft>
                <a:spcPts val="0"/>
              </a:spcAft>
              <a:buClr>
                <a:srgbClr val="000099"/>
              </a:buClr>
              <a:buSzPts val="3000"/>
              <a:buFont typeface="Noto Sans Symbols"/>
              <a:buChar char="▪"/>
            </a:pPr>
            <a:r>
              <a:rPr b="0" i="0" lang="en-US" sz="2400" u="none">
                <a:solidFill>
                  <a:schemeClr val="dk1"/>
                </a:solidFill>
                <a:latin typeface="Times New Roman"/>
                <a:ea typeface="Times New Roman"/>
                <a:cs typeface="Times New Roman"/>
                <a:sym typeface="Times New Roman"/>
              </a:rPr>
              <a:t>The faster memories are more expensive per bit than the slower memories and thus smaller.</a:t>
            </a:r>
            <a:endParaRPr/>
          </a:p>
          <a:p>
            <a:pPr indent="-152400" lvl="0" marL="342900" rtl="0" algn="l">
              <a:lnSpc>
                <a:spcPct val="100000"/>
              </a:lnSpc>
              <a:spcBef>
                <a:spcPts val="480"/>
              </a:spcBef>
              <a:spcAft>
                <a:spcPts val="0"/>
              </a:spcAft>
              <a:buClr>
                <a:srgbClr val="000099"/>
              </a:buClr>
              <a:buSzPts val="3000"/>
              <a:buFont typeface="Noto Sans Symbols"/>
              <a:buNone/>
            </a:pPr>
            <a:r>
              <a:t/>
            </a:r>
            <a:endParaRPr b="0" i="0" sz="2400" u="none">
              <a:solidFill>
                <a:schemeClr val="dk1"/>
              </a:solidFill>
              <a:latin typeface="Times New Roman"/>
              <a:ea typeface="Times New Roman"/>
              <a:cs typeface="Times New Roman"/>
              <a:sym typeface="Times New Roman"/>
            </a:endParaRPr>
          </a:p>
          <a:p>
            <a:pPr indent="-342900" lvl="0" marL="342900" rtl="0" algn="l">
              <a:lnSpc>
                <a:spcPct val="100000"/>
              </a:lnSpc>
              <a:spcBef>
                <a:spcPts val="480"/>
              </a:spcBef>
              <a:spcAft>
                <a:spcPts val="0"/>
              </a:spcAft>
              <a:buClr>
                <a:srgbClr val="000099"/>
              </a:buClr>
              <a:buSzPts val="3000"/>
              <a:buFont typeface="Noto Sans Symbols"/>
              <a:buChar char="▪"/>
            </a:pPr>
            <a:r>
              <a:rPr b="0" i="0" lang="en-US" sz="2400" u="none">
                <a:solidFill>
                  <a:schemeClr val="dk1"/>
                </a:solidFill>
                <a:latin typeface="Times New Roman"/>
                <a:ea typeface="Times New Roman"/>
                <a:cs typeface="Times New Roman"/>
                <a:sym typeface="Times New Roman"/>
              </a:rPr>
              <a:t>Three technologies used in building memory hierarchies:</a:t>
            </a:r>
            <a:endParaRPr/>
          </a:p>
          <a:p>
            <a:pPr indent="-342900" lvl="0" marL="342900" rtl="0" algn="l">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t>
            </a:r>
            <a:r>
              <a:rPr b="0" i="0" lang="en-US" sz="2400" u="none">
                <a:solidFill>
                  <a:srgbClr val="000099"/>
                </a:solidFill>
                <a:latin typeface="Times New Roman"/>
                <a:ea typeface="Times New Roman"/>
                <a:cs typeface="Times New Roman"/>
                <a:sym typeface="Times New Roman"/>
              </a:rPr>
              <a:t>1.</a:t>
            </a:r>
            <a:r>
              <a:rPr b="0" i="0" lang="en-US" sz="2400" u="none">
                <a:solidFill>
                  <a:schemeClr val="dk1"/>
                </a:solidFill>
                <a:latin typeface="Times New Roman"/>
                <a:ea typeface="Times New Roman"/>
                <a:cs typeface="Times New Roman"/>
                <a:sym typeface="Times New Roman"/>
              </a:rPr>
              <a:t> DRAM (Main memory)</a:t>
            </a:r>
            <a:endParaRPr/>
          </a:p>
          <a:p>
            <a:pPr indent="-342900" lvl="0" marL="342900" rtl="0" algn="l">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t>
            </a:r>
            <a:r>
              <a:rPr b="0" i="0" lang="en-US" sz="2400" u="none">
                <a:solidFill>
                  <a:srgbClr val="000099"/>
                </a:solidFill>
                <a:latin typeface="Times New Roman"/>
                <a:ea typeface="Times New Roman"/>
                <a:cs typeface="Times New Roman"/>
                <a:sym typeface="Times New Roman"/>
              </a:rPr>
              <a:t>2.</a:t>
            </a:r>
            <a:r>
              <a:rPr b="0" i="0" lang="en-US" sz="2400" u="none">
                <a:solidFill>
                  <a:schemeClr val="dk1"/>
                </a:solidFill>
                <a:latin typeface="Times New Roman"/>
                <a:ea typeface="Times New Roman"/>
                <a:cs typeface="Times New Roman"/>
                <a:sym typeface="Times New Roman"/>
              </a:rPr>
              <a:t> SRAM (Cache)</a:t>
            </a:r>
            <a:endParaRPr/>
          </a:p>
          <a:p>
            <a:pPr indent="-342900" lvl="0" marL="342900" rtl="0" algn="l">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t>
            </a:r>
            <a:r>
              <a:rPr b="0" i="0" lang="en-US" sz="2400" u="none">
                <a:solidFill>
                  <a:srgbClr val="000099"/>
                </a:solidFill>
                <a:latin typeface="Times New Roman"/>
                <a:ea typeface="Times New Roman"/>
                <a:cs typeface="Times New Roman"/>
                <a:sym typeface="Times New Roman"/>
              </a:rPr>
              <a:t>3.</a:t>
            </a:r>
            <a:r>
              <a:rPr b="0" i="0" lang="en-US" sz="2400" u="none">
                <a:solidFill>
                  <a:schemeClr val="dk1"/>
                </a:solidFill>
                <a:latin typeface="Times New Roman"/>
                <a:ea typeface="Times New Roman"/>
                <a:cs typeface="Times New Roman"/>
                <a:sym typeface="Times New Roman"/>
              </a:rPr>
              <a:t> Magnetic disk (Hard disk)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Memory Hierarchy</a:t>
            </a:r>
            <a:endParaRPr/>
          </a:p>
        </p:txBody>
      </p:sp>
      <p:pic>
        <p:nvPicPr>
          <p:cNvPr descr="Lightbox" id="129" name="Google Shape;129;p3"/>
          <p:cNvPicPr preferRelativeResize="0"/>
          <p:nvPr/>
        </p:nvPicPr>
        <p:blipFill rotWithShape="1">
          <a:blip r:embed="rId3">
            <a:alphaModFix/>
          </a:blip>
          <a:srcRect b="0" l="0" r="0" t="0"/>
          <a:stretch/>
        </p:blipFill>
        <p:spPr>
          <a:xfrm>
            <a:off x="381000" y="1577975"/>
            <a:ext cx="7872412" cy="370046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Memory Hierarchy</a:t>
            </a:r>
            <a:endParaRPr/>
          </a:p>
        </p:txBody>
      </p:sp>
      <p:sp>
        <p:nvSpPr>
          <p:cNvPr id="135" name="Google Shape;135;p4"/>
          <p:cNvSpPr txBox="1"/>
          <p:nvPr>
            <p:ph idx="1" type="body"/>
          </p:nvPr>
        </p:nvSpPr>
        <p:spPr>
          <a:xfrm>
            <a:off x="228600" y="762000"/>
            <a:ext cx="8458200" cy="830262"/>
          </a:xfrm>
          <a:prstGeom prst="rect">
            <a:avLst/>
          </a:prstGeom>
          <a:noFill/>
          <a:ln>
            <a:noFill/>
          </a:ln>
        </p:spPr>
        <p:txBody>
          <a:bodyPr anchorCtr="0" anchor="ctr" bIns="45700" lIns="91425" spcFirstLastPara="1" rIns="91425" wrap="square" tIns="45700">
            <a:spAutoFit/>
          </a:bodyPr>
          <a:lstStyle/>
          <a:p>
            <a:pPr indent="-342900" lvl="0" marL="34290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 computer system's memory structure manages variations in speed. </a:t>
            </a:r>
            <a:endParaRPr/>
          </a:p>
        </p:txBody>
      </p:sp>
      <p:pic>
        <p:nvPicPr>
          <p:cNvPr descr="Lightbox" id="136" name="Google Shape;136;p4"/>
          <p:cNvPicPr preferRelativeResize="0"/>
          <p:nvPr/>
        </p:nvPicPr>
        <p:blipFill rotWithShape="1">
          <a:blip r:embed="rId3">
            <a:alphaModFix/>
          </a:blip>
          <a:srcRect b="0" l="0" r="0" t="0"/>
          <a:stretch/>
        </p:blipFill>
        <p:spPr>
          <a:xfrm>
            <a:off x="720725" y="2057400"/>
            <a:ext cx="7702550" cy="3467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5"/>
          <p:cNvPicPr preferRelativeResize="0"/>
          <p:nvPr/>
        </p:nvPicPr>
        <p:blipFill rotWithShape="1">
          <a:blip r:embed="rId3">
            <a:alphaModFix/>
          </a:blip>
          <a:srcRect b="0" l="0" r="0" t="0"/>
          <a:stretch/>
        </p:blipFill>
        <p:spPr>
          <a:xfrm>
            <a:off x="0" y="1447800"/>
            <a:ext cx="8763000" cy="1885950"/>
          </a:xfrm>
          <a:prstGeom prst="rect">
            <a:avLst/>
          </a:prstGeom>
          <a:noFill/>
          <a:ln>
            <a:noFill/>
          </a:ln>
        </p:spPr>
      </p:pic>
      <p:sp>
        <p:nvSpPr>
          <p:cNvPr id="142" name="Google Shape;142;p5"/>
          <p:cNvSpPr txBox="1"/>
          <p:nvPr>
            <p:ph idx="1" type="body"/>
          </p:nvPr>
        </p:nvSpPr>
        <p:spPr>
          <a:xfrm>
            <a:off x="0" y="3733800"/>
            <a:ext cx="9144000" cy="83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342900" lvl="0" marL="342900" rtl="0" algn="just">
              <a:lnSpc>
                <a:spcPct val="100000"/>
              </a:lnSpc>
              <a:spcBef>
                <a:spcPts val="480"/>
              </a:spcBef>
              <a:spcAft>
                <a:spcPts val="0"/>
              </a:spcAft>
              <a:buClr>
                <a:srgbClr val="000099"/>
              </a:buClr>
              <a:buSzPts val="3000"/>
              <a:buFont typeface="Noto Sans Symbols"/>
              <a:buChar char="▪"/>
            </a:pPr>
            <a:r>
              <a:rPr b="0" i="0" lang="en-US" sz="2400" u="none">
                <a:solidFill>
                  <a:schemeClr val="dk1"/>
                </a:solidFill>
                <a:latin typeface="Times New Roman"/>
                <a:ea typeface="Times New Roman"/>
                <a:cs typeface="Times New Roman"/>
                <a:sym typeface="Times New Roman"/>
              </a:rPr>
              <a:t>The goal is to provide the user with as much memory as is available in the cheapest technology, while providing access at the speed offered by the fastest memory.</a:t>
            </a:r>
            <a:endParaRPr/>
          </a:p>
          <a:p>
            <a:pPr indent="-190500" lvl="0" marL="342900" rtl="0" algn="l">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p:txBody>
      </p:sp>
      <p:sp>
        <p:nvSpPr>
          <p:cNvPr id="143" name="Google Shape;143;p5"/>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Memory Hierarchy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6"/>
          <p:cNvPicPr preferRelativeResize="0"/>
          <p:nvPr/>
        </p:nvPicPr>
        <p:blipFill rotWithShape="1">
          <a:blip r:embed="rId3">
            <a:alphaModFix/>
          </a:blip>
          <a:srcRect b="0" l="0" r="0" t="0"/>
          <a:stretch/>
        </p:blipFill>
        <p:spPr>
          <a:xfrm>
            <a:off x="762000" y="1752600"/>
            <a:ext cx="6864350" cy="3648075"/>
          </a:xfrm>
          <a:prstGeom prst="rect">
            <a:avLst/>
          </a:prstGeom>
          <a:noFill/>
          <a:ln>
            <a:noFill/>
          </a:ln>
        </p:spPr>
      </p:pic>
      <p:sp>
        <p:nvSpPr>
          <p:cNvPr id="149" name="Google Shape;149;p6"/>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Memory Hierarchy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Data Hierarchy</a:t>
            </a:r>
            <a:endParaRPr/>
          </a:p>
        </p:txBody>
      </p:sp>
      <p:sp>
        <p:nvSpPr>
          <p:cNvPr id="155" name="Google Shape;155;p7"/>
          <p:cNvSpPr txBox="1"/>
          <p:nvPr/>
        </p:nvSpPr>
        <p:spPr>
          <a:xfrm>
            <a:off x="0" y="838200"/>
            <a:ext cx="9144000" cy="4894262"/>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data is similarly hierarchical: a level closer to the processor is generally a subset of any level further away, and all the data is stored at the lowest level. </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memory hierarchy can consist of multiple levels, but data is copied between only two adjacent levels at a time, so we can focus our attention on just two levels. The upper level—the one closer to the processor—is smaller and faster than the lower level, since the upper level uses technology that is more expensive. </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Within each level, the unit of information that is present or not is called a block or a line. Usually we transfer an entire block when we copy something between levels.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Data Hierarchy</a:t>
            </a:r>
            <a:endParaRPr/>
          </a:p>
        </p:txBody>
      </p:sp>
      <p:pic>
        <p:nvPicPr>
          <p:cNvPr id="161" name="Google Shape;161;p8"/>
          <p:cNvPicPr preferRelativeResize="0"/>
          <p:nvPr/>
        </p:nvPicPr>
        <p:blipFill rotWithShape="1">
          <a:blip r:embed="rId3">
            <a:alphaModFix/>
          </a:blip>
          <a:srcRect b="0" l="0" r="0" t="0"/>
          <a:stretch/>
        </p:blipFill>
        <p:spPr>
          <a:xfrm>
            <a:off x="2057400" y="1143000"/>
            <a:ext cx="4648200" cy="44053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9"/>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Hit and Miss</a:t>
            </a:r>
            <a:endParaRPr/>
          </a:p>
        </p:txBody>
      </p:sp>
      <p:sp>
        <p:nvSpPr>
          <p:cNvPr id="167" name="Google Shape;167;p9"/>
          <p:cNvSpPr txBox="1"/>
          <p:nvPr/>
        </p:nvSpPr>
        <p:spPr>
          <a:xfrm>
            <a:off x="0" y="990600"/>
            <a:ext cx="9144000" cy="4894262"/>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If the data requested by the processor appears in some block in the upper level, this is called a </a:t>
            </a:r>
            <a:r>
              <a:rPr b="0" i="1" lang="en-US" sz="2400" u="none">
                <a:solidFill>
                  <a:schemeClr val="dk1"/>
                </a:solidFill>
                <a:latin typeface="Times New Roman"/>
                <a:ea typeface="Times New Roman"/>
                <a:cs typeface="Times New Roman"/>
                <a:sym typeface="Times New Roman"/>
              </a:rPr>
              <a:t>hit </a:t>
            </a:r>
            <a:endParaRPr/>
          </a:p>
          <a:p>
            <a:pPr indent="0" lvl="0" marL="0" marR="0" rtl="0" algn="just">
              <a:lnSpc>
                <a:spcPct val="100000"/>
              </a:lnSpc>
              <a:spcBef>
                <a:spcPts val="0"/>
              </a:spcBef>
              <a:spcAft>
                <a:spcPts val="0"/>
              </a:spcAft>
              <a:buClr>
                <a:schemeClr val="dk1"/>
              </a:buClr>
              <a:buSzPts val="2400"/>
              <a:buFont typeface="Times New Roman"/>
              <a:buNone/>
            </a:pPr>
            <a:r>
              <a:t/>
            </a:r>
            <a:endParaRPr b="0" i="1"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If the data is not found in the upper level, the request is called a </a:t>
            </a:r>
            <a:r>
              <a:rPr b="0" i="1" lang="en-US" sz="2400" u="none">
                <a:solidFill>
                  <a:schemeClr val="dk1"/>
                </a:solidFill>
                <a:latin typeface="Times New Roman"/>
                <a:ea typeface="Times New Roman"/>
                <a:cs typeface="Times New Roman"/>
                <a:sym typeface="Times New Roman"/>
              </a:rPr>
              <a:t>miss. </a:t>
            </a:r>
            <a:r>
              <a:rPr b="0" i="0" lang="en-US" sz="2400" u="none">
                <a:solidFill>
                  <a:schemeClr val="dk1"/>
                </a:solidFill>
                <a:latin typeface="Times New Roman"/>
                <a:ea typeface="Times New Roman"/>
                <a:cs typeface="Times New Roman"/>
                <a:sym typeface="Times New Roman"/>
              </a:rPr>
              <a:t>The lower level in the hierarchy is then accessed to retrieve the block containing the requested data. </a:t>
            </a:r>
            <a:endParaRPr/>
          </a:p>
          <a:p>
            <a:pPr indent="0" lvl="0" marL="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hit rate, or </a:t>
            </a:r>
            <a:r>
              <a:rPr b="0" i="1" lang="en-US" sz="2400" u="none">
                <a:solidFill>
                  <a:schemeClr val="dk1"/>
                </a:solidFill>
                <a:latin typeface="Times New Roman"/>
                <a:ea typeface="Times New Roman"/>
                <a:cs typeface="Times New Roman"/>
                <a:sym typeface="Times New Roman"/>
              </a:rPr>
              <a:t>hit ratio, is the fraction of memory  a</a:t>
            </a:r>
            <a:r>
              <a:rPr b="0" i="0" lang="en-US" sz="2400" u="none">
                <a:solidFill>
                  <a:schemeClr val="dk1"/>
                </a:solidFill>
                <a:latin typeface="Times New Roman"/>
                <a:ea typeface="Times New Roman"/>
                <a:cs typeface="Times New Roman"/>
                <a:sym typeface="Times New Roman"/>
              </a:rPr>
              <a:t>ccesses found in the upper level; it is often used as a measure of the performance of the memory hierarchy. </a:t>
            </a:r>
            <a:endParaRPr/>
          </a:p>
          <a:p>
            <a:pPr indent="0" lvl="0" marL="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miss rate (1 - hit rate) is the fraction of memory accesses not found in the upper level.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0"/>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Hit time  and Miss Penalty</a:t>
            </a:r>
            <a:endParaRPr/>
          </a:p>
        </p:txBody>
      </p:sp>
      <p:sp>
        <p:nvSpPr>
          <p:cNvPr id="173" name="Google Shape;173;p10"/>
          <p:cNvSpPr txBox="1"/>
          <p:nvPr/>
        </p:nvSpPr>
        <p:spPr>
          <a:xfrm>
            <a:off x="0" y="1028700"/>
            <a:ext cx="9144000" cy="4154487"/>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Hit time is the time to access the upper level </a:t>
            </a:r>
            <a:r>
              <a:rPr b="0" i="0" lang="en-US" sz="2400" u="none">
                <a:solidFill>
                  <a:schemeClr val="dk1"/>
                </a:solidFill>
                <a:latin typeface="Times New Roman"/>
                <a:ea typeface="Times New Roman"/>
                <a:cs typeface="Times New Roman"/>
                <a:sym typeface="Times New Roman"/>
              </a:rPr>
              <a:t>of the memory hierarchy, which includes the time needed to determine whether the access is a hit or a miss. </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t>
            </a:r>
            <a:r>
              <a:rPr b="1" i="0" lang="en-US" sz="2400" u="none">
                <a:solidFill>
                  <a:schemeClr val="dk1"/>
                </a:solidFill>
                <a:latin typeface="Times New Roman"/>
                <a:ea typeface="Times New Roman"/>
                <a:cs typeface="Times New Roman"/>
                <a:sym typeface="Times New Roman"/>
              </a:rPr>
              <a:t>miss penalty is the time to replace a block in the upper level with </a:t>
            </a:r>
            <a:r>
              <a:rPr b="0" i="0" lang="en-US" sz="2400" u="none">
                <a:solidFill>
                  <a:schemeClr val="dk1"/>
                </a:solidFill>
                <a:latin typeface="Times New Roman"/>
                <a:ea typeface="Times New Roman"/>
                <a:cs typeface="Times New Roman"/>
                <a:sym typeface="Times New Roman"/>
              </a:rPr>
              <a:t>the corresponding block from the lower level, plus the time to deliver this block to the processor.</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Because the upper level is smaller and built using faster memory parts, the hit time will be much smaller than the time to access the next level in the hierarchy, which is the major component of the miss penalty.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1"/>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Continue</a:t>
            </a:r>
            <a:endParaRPr/>
          </a:p>
        </p:txBody>
      </p:sp>
      <p:sp>
        <p:nvSpPr>
          <p:cNvPr id="179" name="Google Shape;179;p11"/>
          <p:cNvSpPr txBox="1"/>
          <p:nvPr/>
        </p:nvSpPr>
        <p:spPr>
          <a:xfrm>
            <a:off x="0" y="533400"/>
            <a:ext cx="9144000" cy="2308225"/>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memory hierarchy uses smaller and faster memory technologies close to the processor. </a:t>
            </a:r>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Thus, accesses that hit in the highest level of the hierarchy can be processed quickly. </a:t>
            </a:r>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Accesses that miss go to lower levels of the hierarchy, which are larger but slower. </a:t>
            </a:r>
            <a:endParaRPr/>
          </a:p>
        </p:txBody>
      </p:sp>
      <p:pic>
        <p:nvPicPr>
          <p:cNvPr id="180" name="Google Shape;180;p11"/>
          <p:cNvPicPr preferRelativeResize="0"/>
          <p:nvPr/>
        </p:nvPicPr>
        <p:blipFill rotWithShape="1">
          <a:blip r:embed="rId3">
            <a:alphaModFix/>
          </a:blip>
          <a:srcRect b="0" l="0" r="0" t="0"/>
          <a:stretch/>
        </p:blipFill>
        <p:spPr>
          <a:xfrm>
            <a:off x="1752600" y="2438400"/>
            <a:ext cx="6172200" cy="390366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2"/>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Cache</a:t>
            </a:r>
            <a:endParaRPr/>
          </a:p>
        </p:txBody>
      </p:sp>
      <p:sp>
        <p:nvSpPr>
          <p:cNvPr id="186" name="Google Shape;186;p12"/>
          <p:cNvSpPr txBox="1"/>
          <p:nvPr>
            <p:ph idx="1" type="body"/>
          </p:nvPr>
        </p:nvSpPr>
        <p:spPr>
          <a:xfrm>
            <a:off x="0" y="609600"/>
            <a:ext cx="9144000" cy="11430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It refers to the level of memory hierarchy between the processor and main memory.</a:t>
            </a:r>
            <a:r>
              <a:rPr b="0" i="0" lang="en-US" sz="2400" u="none">
                <a:solidFill>
                  <a:schemeClr val="dk1"/>
                </a:solidFill>
                <a:latin typeface="Arial"/>
                <a:ea typeface="Arial"/>
                <a:cs typeface="Arial"/>
                <a:sym typeface="Arial"/>
              </a:rPr>
              <a:t> </a:t>
            </a:r>
            <a:endParaRPr/>
          </a:p>
          <a:p>
            <a:pPr indent="-342900" lvl="0" marL="34290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shows such a simple cache, before and after requesting a data item that is not initially in the cache. Before the request, the cache contains a collection of recent references X</a:t>
            </a:r>
            <a:r>
              <a:rPr b="0" baseline="-25000" i="0" lang="en-US" sz="2400" u="none">
                <a:solidFill>
                  <a:schemeClr val="dk1"/>
                </a:solidFill>
                <a:latin typeface="Times New Roman"/>
                <a:ea typeface="Times New Roman"/>
                <a:cs typeface="Times New Roman"/>
                <a:sym typeface="Times New Roman"/>
              </a:rPr>
              <a:t>1</a:t>
            </a:r>
            <a:r>
              <a:rPr b="0" i="0" lang="en-US" sz="2400" u="none">
                <a:solidFill>
                  <a:schemeClr val="dk1"/>
                </a:solidFill>
                <a:latin typeface="Times New Roman"/>
                <a:ea typeface="Times New Roman"/>
                <a:cs typeface="Times New Roman"/>
                <a:sym typeface="Times New Roman"/>
              </a:rPr>
              <a:t>, X</a:t>
            </a:r>
            <a:r>
              <a:rPr b="0" baseline="-25000" i="0" lang="en-US" sz="2400" u="none">
                <a:solidFill>
                  <a:schemeClr val="dk1"/>
                </a:solidFill>
                <a:latin typeface="Times New Roman"/>
                <a:ea typeface="Times New Roman"/>
                <a:cs typeface="Times New Roman"/>
                <a:sym typeface="Times New Roman"/>
              </a:rPr>
              <a:t>2</a:t>
            </a:r>
            <a:r>
              <a:rPr b="0" i="0" lang="en-US" sz="2400" u="none">
                <a:solidFill>
                  <a:schemeClr val="dk1"/>
                </a:solidFill>
                <a:latin typeface="Times New Roman"/>
                <a:ea typeface="Times New Roman"/>
                <a:cs typeface="Times New Roman"/>
                <a:sym typeface="Times New Roman"/>
              </a:rPr>
              <a:t>, . . . , X</a:t>
            </a:r>
            <a:r>
              <a:rPr b="0" baseline="-25000" i="1" lang="en-US" sz="2400" u="none">
                <a:solidFill>
                  <a:schemeClr val="dk1"/>
                </a:solidFill>
                <a:latin typeface="Times New Roman"/>
                <a:ea typeface="Times New Roman"/>
                <a:cs typeface="Times New Roman"/>
                <a:sym typeface="Times New Roman"/>
              </a:rPr>
              <a:t>n - 1</a:t>
            </a:r>
            <a:r>
              <a:rPr b="0" i="1" lang="en-US" sz="2400" u="none">
                <a:solidFill>
                  <a:schemeClr val="dk1"/>
                </a:solidFill>
                <a:latin typeface="Times New Roman"/>
                <a:ea typeface="Times New Roman"/>
                <a:cs typeface="Times New Roman"/>
                <a:sym typeface="Times New Roman"/>
              </a:rPr>
              <a:t>, and the processor requests a word X</a:t>
            </a:r>
            <a:r>
              <a:rPr b="0" baseline="-25000" i="1" lang="en-US" sz="2400" u="none">
                <a:solidFill>
                  <a:schemeClr val="dk1"/>
                </a:solidFill>
                <a:latin typeface="Times New Roman"/>
                <a:ea typeface="Times New Roman"/>
                <a:cs typeface="Times New Roman"/>
                <a:sym typeface="Times New Roman"/>
              </a:rPr>
              <a:t>n</a:t>
            </a:r>
            <a:r>
              <a:rPr b="0" i="1" lang="en-US" sz="2400" u="none">
                <a:solidFill>
                  <a:schemeClr val="dk1"/>
                </a:solidFill>
                <a:latin typeface="Times New Roman"/>
                <a:ea typeface="Times New Roman"/>
                <a:cs typeface="Times New Roman"/>
                <a:sym typeface="Times New Roman"/>
              </a:rPr>
              <a:t> that is not in </a:t>
            </a:r>
            <a:r>
              <a:rPr b="0" i="0" lang="en-US" sz="2400" u="none">
                <a:solidFill>
                  <a:schemeClr val="dk1"/>
                </a:solidFill>
                <a:latin typeface="Times New Roman"/>
                <a:ea typeface="Times New Roman"/>
                <a:cs typeface="Times New Roman"/>
                <a:sym typeface="Times New Roman"/>
              </a:rPr>
              <a:t>the cache. This request results in a miss, and the word X</a:t>
            </a:r>
            <a:r>
              <a:rPr b="0" baseline="-25000" i="1" lang="en-US" sz="2400" u="none">
                <a:solidFill>
                  <a:schemeClr val="dk1"/>
                </a:solidFill>
                <a:latin typeface="Times New Roman"/>
                <a:ea typeface="Times New Roman"/>
                <a:cs typeface="Times New Roman"/>
                <a:sym typeface="Times New Roman"/>
              </a:rPr>
              <a:t>n</a:t>
            </a:r>
            <a:r>
              <a:rPr b="0" i="1" lang="en-US" sz="2400" u="none">
                <a:solidFill>
                  <a:schemeClr val="dk1"/>
                </a:solidFill>
                <a:latin typeface="Times New Roman"/>
                <a:ea typeface="Times New Roman"/>
                <a:cs typeface="Times New Roman"/>
                <a:sym typeface="Times New Roman"/>
              </a:rPr>
              <a:t> is brought from memory </a:t>
            </a:r>
            <a:r>
              <a:rPr b="0" i="0" lang="en-US" sz="2400" u="none">
                <a:solidFill>
                  <a:schemeClr val="dk1"/>
                </a:solidFill>
                <a:latin typeface="Times New Roman"/>
                <a:ea typeface="Times New Roman"/>
                <a:cs typeface="Times New Roman"/>
                <a:sym typeface="Times New Roman"/>
              </a:rPr>
              <a:t>into the cache.</a:t>
            </a:r>
            <a:endParaRPr/>
          </a:p>
        </p:txBody>
      </p:sp>
      <p:pic>
        <p:nvPicPr>
          <p:cNvPr id="187" name="Google Shape;187;p12"/>
          <p:cNvPicPr preferRelativeResize="0"/>
          <p:nvPr/>
        </p:nvPicPr>
        <p:blipFill rotWithShape="1">
          <a:blip r:embed="rId3">
            <a:alphaModFix/>
          </a:blip>
          <a:srcRect b="0" l="0" r="0" t="0"/>
          <a:stretch/>
        </p:blipFill>
        <p:spPr>
          <a:xfrm>
            <a:off x="2209800" y="3322637"/>
            <a:ext cx="4495800" cy="32877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3"/>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Direct Mapped cache  </a:t>
            </a:r>
            <a:endParaRPr/>
          </a:p>
        </p:txBody>
      </p:sp>
      <p:sp>
        <p:nvSpPr>
          <p:cNvPr id="193" name="Google Shape;193;p13"/>
          <p:cNvSpPr txBox="1"/>
          <p:nvPr/>
        </p:nvSpPr>
        <p:spPr>
          <a:xfrm>
            <a:off x="0" y="914400"/>
            <a:ext cx="9144000" cy="3046412"/>
          </a:xfrm>
          <a:prstGeom prst="rect">
            <a:avLst/>
          </a:prstGeom>
          <a:noFill/>
          <a:ln>
            <a:noFill/>
          </a:ln>
        </p:spPr>
        <p:txBody>
          <a:bodyPr anchorCtr="0" anchor="t" bIns="45700" lIns="91425" spcFirstLastPara="1" rIns="91425" wrap="square" tIns="45700">
            <a:spAutoFit/>
          </a:bodyPr>
          <a:lstStyle/>
          <a:p>
            <a:pPr indent="-152400" lvl="0" marL="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How do we know if a data item is in the cache? </a:t>
            </a:r>
            <a:endParaRPr/>
          </a:p>
          <a:p>
            <a:pPr indent="0" lvl="0" marL="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Moreover, if it is, how do we find it?</a:t>
            </a:r>
            <a:endParaRPr/>
          </a:p>
          <a:p>
            <a:pPr indent="0" lvl="0" marL="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cache structure in which each memory location is mapped to exactly one location in the cache is called direct mapped cache.</a:t>
            </a:r>
            <a:endParaRPr/>
          </a:p>
          <a:p>
            <a:pPr indent="0" lvl="0" marL="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Almost all direct-mapped caches use this mapping to find a block:</a:t>
            </a:r>
            <a:endParaRPr/>
          </a:p>
        </p:txBody>
      </p:sp>
      <p:sp>
        <p:nvSpPr>
          <p:cNvPr id="194" name="Google Shape;194;p13"/>
          <p:cNvSpPr txBox="1"/>
          <p:nvPr/>
        </p:nvSpPr>
        <p:spPr>
          <a:xfrm>
            <a:off x="762000" y="4495800"/>
            <a:ext cx="75438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400"/>
              <a:buFont typeface="Times New Roman"/>
              <a:buNone/>
            </a:pPr>
            <a:r>
              <a:rPr b="0" i="0" lang="en-US" sz="2400" u="none">
                <a:solidFill>
                  <a:srgbClr val="0070C0"/>
                </a:solidFill>
                <a:latin typeface="Times New Roman"/>
                <a:ea typeface="Times New Roman"/>
                <a:cs typeface="Times New Roman"/>
                <a:sym typeface="Times New Roman"/>
              </a:rPr>
              <a:t>(Block address) modulo (Number of blocks in the cache)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4"/>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Continue</a:t>
            </a:r>
            <a:endParaRPr/>
          </a:p>
        </p:txBody>
      </p:sp>
      <p:sp>
        <p:nvSpPr>
          <p:cNvPr id="200" name="Google Shape;200;p14"/>
          <p:cNvSpPr txBox="1"/>
          <p:nvPr/>
        </p:nvSpPr>
        <p:spPr>
          <a:xfrm>
            <a:off x="0" y="1143000"/>
            <a:ext cx="9144000" cy="2308225"/>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If the number of entries in the cache is a power of 2, then modulo can be computed simply by using the low-order log</a:t>
            </a:r>
            <a:r>
              <a:rPr b="0" baseline="-25000" i="0" lang="en-US" sz="2400" u="none">
                <a:solidFill>
                  <a:schemeClr val="dk1"/>
                </a:solidFill>
                <a:latin typeface="Times New Roman"/>
                <a:ea typeface="Times New Roman"/>
                <a:cs typeface="Times New Roman"/>
                <a:sym typeface="Times New Roman"/>
              </a:rPr>
              <a:t>2</a:t>
            </a:r>
            <a:r>
              <a:rPr b="0" i="0" lang="en-US" sz="2400" u="none">
                <a:solidFill>
                  <a:schemeClr val="dk1"/>
                </a:solidFill>
                <a:latin typeface="Times New Roman"/>
                <a:ea typeface="Times New Roman"/>
                <a:cs typeface="Times New Roman"/>
                <a:sym typeface="Times New Roman"/>
              </a:rPr>
              <a:t> (cache size in blocks) bits of the address.</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Thus, an 8-block cache uses the three lowest bits (8 = 2</a:t>
            </a:r>
            <a:r>
              <a:rPr b="0" baseline="30000" i="0" lang="en-US" sz="2400" u="none">
                <a:solidFill>
                  <a:schemeClr val="dk1"/>
                </a:solidFill>
                <a:latin typeface="Times New Roman"/>
                <a:ea typeface="Times New Roman"/>
                <a:cs typeface="Times New Roman"/>
                <a:sym typeface="Times New Roman"/>
              </a:rPr>
              <a:t>3</a:t>
            </a:r>
            <a:r>
              <a:rPr b="0" i="0" lang="en-US" sz="2400" u="none">
                <a:solidFill>
                  <a:schemeClr val="dk1"/>
                </a:solidFill>
                <a:latin typeface="Times New Roman"/>
                <a:ea typeface="Times New Roman"/>
                <a:cs typeface="Times New Roman"/>
                <a:sym typeface="Times New Roman"/>
              </a:rPr>
              <a:t>) of the block address.</a:t>
            </a:r>
            <a:endParaRPr/>
          </a:p>
        </p:txBody>
      </p:sp>
      <p:sp>
        <p:nvSpPr>
          <p:cNvPr id="201" name="Google Shape;201;p14"/>
          <p:cNvSpPr txBox="1"/>
          <p:nvPr/>
        </p:nvSpPr>
        <p:spPr>
          <a:xfrm>
            <a:off x="990600" y="609600"/>
            <a:ext cx="75438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400"/>
              <a:buFont typeface="Times New Roman"/>
              <a:buNone/>
            </a:pPr>
            <a:r>
              <a:rPr b="0" i="0" lang="en-US" sz="2400" u="none">
                <a:solidFill>
                  <a:srgbClr val="0070C0"/>
                </a:solidFill>
                <a:latin typeface="Times New Roman"/>
                <a:ea typeface="Times New Roman"/>
                <a:cs typeface="Times New Roman"/>
                <a:sym typeface="Times New Roman"/>
              </a:rPr>
              <a:t>(Block address) modulo (Number of blocks in the cache)</a:t>
            </a:r>
            <a:endParaRPr/>
          </a:p>
        </p:txBody>
      </p:sp>
      <p:pic>
        <p:nvPicPr>
          <p:cNvPr id="202" name="Google Shape;202;p14"/>
          <p:cNvPicPr preferRelativeResize="0"/>
          <p:nvPr/>
        </p:nvPicPr>
        <p:blipFill rotWithShape="1">
          <a:blip r:embed="rId3">
            <a:alphaModFix/>
          </a:blip>
          <a:srcRect b="0" l="0" r="0" t="0"/>
          <a:stretch/>
        </p:blipFill>
        <p:spPr>
          <a:xfrm>
            <a:off x="1905000" y="3124200"/>
            <a:ext cx="5189537" cy="3733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5"/>
          <p:cNvSpPr txBox="1"/>
          <p:nvPr/>
        </p:nvSpPr>
        <p:spPr>
          <a:xfrm>
            <a:off x="0" y="0"/>
            <a:ext cx="7467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Comic Sans MS"/>
              <a:buNone/>
            </a:pPr>
            <a:r>
              <a:rPr b="0" i="0" lang="en-US" sz="3200" u="none">
                <a:solidFill>
                  <a:schemeClr val="accent2"/>
                </a:solidFill>
                <a:latin typeface="Comic Sans MS"/>
                <a:ea typeface="Comic Sans MS"/>
                <a:cs typeface="Comic Sans MS"/>
                <a:sym typeface="Comic Sans MS"/>
              </a:rPr>
              <a:t>Tag</a:t>
            </a:r>
            <a:endParaRPr/>
          </a:p>
        </p:txBody>
      </p:sp>
      <p:sp>
        <p:nvSpPr>
          <p:cNvPr id="208" name="Google Shape;208;p15"/>
          <p:cNvSpPr txBox="1"/>
          <p:nvPr/>
        </p:nvSpPr>
        <p:spPr>
          <a:xfrm>
            <a:off x="0" y="609600"/>
            <a:ext cx="9144000" cy="2678112"/>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How do we know if a data item is in the cache? </a:t>
            </a:r>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We answer this question by adding a set of tags to the cache. </a:t>
            </a:r>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tags Contain the address information required to identify whether a word in the cache corresponds to the requested word. </a:t>
            </a:r>
            <a:endParaRPr/>
          </a:p>
          <a:p>
            <a:pPr indent="-152400" lvl="0" marL="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tag needs only to contain the upper portion of the address, corresponding to the bits that are not used as an index into the cache.</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209" name="Google Shape;209;p15"/>
          <p:cNvPicPr preferRelativeResize="0"/>
          <p:nvPr/>
        </p:nvPicPr>
        <p:blipFill rotWithShape="1">
          <a:blip r:embed="rId3">
            <a:alphaModFix/>
          </a:blip>
          <a:srcRect b="0" l="0" r="0" t="0"/>
          <a:stretch/>
        </p:blipFill>
        <p:spPr>
          <a:xfrm>
            <a:off x="2133600" y="2895600"/>
            <a:ext cx="4648200" cy="2576512"/>
          </a:xfrm>
          <a:prstGeom prst="rect">
            <a:avLst/>
          </a:prstGeom>
          <a:noFill/>
          <a:ln>
            <a:noFill/>
          </a:ln>
        </p:spPr>
      </p:pic>
      <p:sp>
        <p:nvSpPr>
          <p:cNvPr id="210" name="Google Shape;210;p15"/>
          <p:cNvSpPr txBox="1"/>
          <p:nvPr/>
        </p:nvSpPr>
        <p:spPr>
          <a:xfrm>
            <a:off x="0" y="5562600"/>
            <a:ext cx="9144000" cy="830262"/>
          </a:xfrm>
          <a:prstGeom prst="rect">
            <a:avLst/>
          </a:prstGeom>
          <a:noFill/>
          <a:ln>
            <a:noFill/>
          </a:ln>
        </p:spPr>
        <p:txBody>
          <a:bodyPr anchorCtr="0" anchor="t" bIns="45700" lIns="91425" spcFirstLastPara="1" rIns="91425" wrap="square" tIns="45700">
            <a:spAutoFit/>
          </a:bodyPr>
          <a:lstStyle/>
          <a:p>
            <a:pPr indent="-152400" lvl="0" marL="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 figure we need only  the upper 2 of the 5 address bits in the tag, since the lower 3-bit index field of the address selects the block.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2008-03-23T23:58:27Z</dcterms:created>
  <dc:creator>Mrs.Nayeema Islam</dc:creator>
</cp:coreProperties>
</file>