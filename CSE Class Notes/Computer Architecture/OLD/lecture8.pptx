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1" roundtripDataSignature="AMtx7mg6aiAaC0Ia6LQuPM7BStKyg+f97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15" name="Shape 15"/>
        <p:cNvGrpSpPr/>
        <p:nvPr/>
      </p:nvGrpSpPr>
      <p:grpSpPr>
        <a:xfrm>
          <a:off x="0" y="0"/>
          <a:ext cx="0" cy="0"/>
          <a:chOff x="0" y="0"/>
          <a:chExt cx="0" cy="0"/>
        </a:xfrm>
      </p:grpSpPr>
      <p:sp>
        <p:nvSpPr>
          <p:cNvPr id="16" name="Google Shape;1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27"/>
          <p:cNvSpPr txBox="1"/>
          <p:nvPr>
            <p:ph idx="2" type="body"/>
          </p:nvPr>
        </p:nvSpPr>
        <p:spPr>
          <a:xfrm>
            <a:off x="4648200" y="1600200"/>
            <a:ext cx="4038600" cy="21859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27"/>
          <p:cNvSpPr txBox="1"/>
          <p:nvPr>
            <p:ph idx="3" type="body"/>
          </p:nvPr>
        </p:nvSpPr>
        <p:spPr>
          <a:xfrm>
            <a:off x="4648200" y="3938588"/>
            <a:ext cx="4038600" cy="21875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2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2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7" name="Shape 27"/>
        <p:cNvGrpSpPr/>
        <p:nvPr/>
      </p:nvGrpSpPr>
      <p:grpSpPr>
        <a:xfrm>
          <a:off x="0" y="0"/>
          <a:ext cx="0" cy="0"/>
          <a:chOff x="0" y="0"/>
          <a:chExt cx="0" cy="0"/>
        </a:xfrm>
      </p:grpSpPr>
      <p:sp>
        <p:nvSpPr>
          <p:cNvPr id="28" name="Google Shape;28;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2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29"/>
          <p:cNvSpPr txBox="1"/>
          <p:nvPr>
            <p:ph idx="2" type="body"/>
          </p:nvPr>
        </p:nvSpPr>
        <p:spPr>
          <a:xfrm>
            <a:off x="4648200" y="1600200"/>
            <a:ext cx="4038600" cy="21859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 name="Google Shape;31;p29"/>
          <p:cNvSpPr txBox="1"/>
          <p:nvPr>
            <p:ph idx="3" type="body"/>
          </p:nvPr>
        </p:nvSpPr>
        <p:spPr>
          <a:xfrm>
            <a:off x="4648200" y="3938588"/>
            <a:ext cx="4038600" cy="21875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2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35" name="Shape 35"/>
        <p:cNvGrpSpPr/>
        <p:nvPr/>
      </p:nvGrpSpPr>
      <p:grpSpPr>
        <a:xfrm>
          <a:off x="0" y="0"/>
          <a:ext cx="0" cy="0"/>
          <a:chOff x="0" y="0"/>
          <a:chExt cx="0" cy="0"/>
        </a:xfrm>
      </p:grpSpPr>
      <p:sp>
        <p:nvSpPr>
          <p:cNvPr id="36" name="Google Shape;36;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3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8" name="Google Shape;38;p3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 name="Google Shape;39;p3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Only">
  <p:cSld name="OBJECT_ONLY">
    <p:spTree>
      <p:nvGrpSpPr>
        <p:cNvPr id="42" name="Shape 42"/>
        <p:cNvGrpSpPr/>
        <p:nvPr/>
      </p:nvGrpSpPr>
      <p:grpSpPr>
        <a:xfrm>
          <a:off x="0" y="0"/>
          <a:ext cx="0" cy="0"/>
          <a:chOff x="0" y="0"/>
          <a:chExt cx="0" cy="0"/>
        </a:xfrm>
      </p:grpSpPr>
      <p:sp>
        <p:nvSpPr>
          <p:cNvPr id="43" name="Google Shape;43;p31"/>
          <p:cNvSpPr txBox="1"/>
          <p:nvPr>
            <p:ph idx="1" type="body"/>
          </p:nvPr>
        </p:nvSpPr>
        <p:spPr>
          <a:xfrm>
            <a:off x="457200" y="274638"/>
            <a:ext cx="8229600" cy="58515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4" name="Google Shape;44;p3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7" name="Shape 47"/>
        <p:cNvGrpSpPr/>
        <p:nvPr/>
      </p:nvGrpSpPr>
      <p:grpSpPr>
        <a:xfrm>
          <a:off x="0" y="0"/>
          <a:ext cx="0" cy="0"/>
          <a:chOff x="0" y="0"/>
          <a:chExt cx="0" cy="0"/>
        </a:xfrm>
      </p:grpSpPr>
      <p:sp>
        <p:nvSpPr>
          <p:cNvPr id="48" name="Google Shape;48;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9" name="Google Shape;49;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 name="Google Shape;50;p3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3" name="Shape 53"/>
        <p:cNvGrpSpPr/>
        <p:nvPr/>
      </p:nvGrpSpPr>
      <p:grpSpPr>
        <a:xfrm>
          <a:off x="0" y="0"/>
          <a:ext cx="0" cy="0"/>
          <a:chOff x="0" y="0"/>
          <a:chExt cx="0" cy="0"/>
        </a:xfrm>
      </p:grpSpPr>
      <p:sp>
        <p:nvSpPr>
          <p:cNvPr id="54" name="Google Shape;54;p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33"/>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6" name="Google Shape;56;p3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 name="Shape 59"/>
        <p:cNvGrpSpPr/>
        <p:nvPr/>
      </p:nvGrpSpPr>
      <p:grpSpPr>
        <a:xfrm>
          <a:off x="0" y="0"/>
          <a:ext cx="0" cy="0"/>
          <a:chOff x="0" y="0"/>
          <a:chExt cx="0" cy="0"/>
        </a:xfrm>
      </p:grpSpPr>
      <p:sp>
        <p:nvSpPr>
          <p:cNvPr id="60" name="Google Shape;60;p3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1" name="Google Shape;61;p34"/>
          <p:cNvSpPr/>
          <p:nvPr>
            <p:ph idx="2" type="pic"/>
          </p:nvPr>
        </p:nvSpPr>
        <p:spPr>
          <a:xfrm>
            <a:off x="1792288" y="612775"/>
            <a:ext cx="5486400" cy="4114800"/>
          </a:xfrm>
          <a:prstGeom prst="rect">
            <a:avLst/>
          </a:prstGeom>
          <a:noFill/>
          <a:ln>
            <a:noFill/>
          </a:ln>
        </p:spPr>
      </p:sp>
      <p:sp>
        <p:nvSpPr>
          <p:cNvPr id="62" name="Google Shape;62;p3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63" name="Google Shape;63;p3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3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3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3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69" name="Google Shape;69;p3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70" name="Google Shape;70;p3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3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 name="Google Shape;75;p3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8" name="Shape 78"/>
        <p:cNvGrpSpPr/>
        <p:nvPr/>
      </p:nvGrpSpPr>
      <p:grpSpPr>
        <a:xfrm>
          <a:off x="0" y="0"/>
          <a:ext cx="0" cy="0"/>
          <a:chOff x="0" y="0"/>
          <a:chExt cx="0" cy="0"/>
        </a:xfrm>
      </p:grpSpPr>
      <p:sp>
        <p:nvSpPr>
          <p:cNvPr id="79" name="Google Shape;79;p3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3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81" name="Google Shape;81;p3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82" name="Google Shape;82;p3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83" name="Google Shape;83;p3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84" name="Google Shape;84;p3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3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7" name="Shape 87"/>
        <p:cNvGrpSpPr/>
        <p:nvPr/>
      </p:nvGrpSpPr>
      <p:grpSpPr>
        <a:xfrm>
          <a:off x="0" y="0"/>
          <a:ext cx="0" cy="0"/>
          <a:chOff x="0" y="0"/>
          <a:chExt cx="0" cy="0"/>
        </a:xfrm>
      </p:grpSpPr>
      <p:sp>
        <p:nvSpPr>
          <p:cNvPr id="88" name="Google Shape;88;p3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9" name="Google Shape;89;p3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90" name="Google Shape;90;p3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91" name="Google Shape;91;p3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3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3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3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6" name="Google Shape;96;p3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97" name="Google Shape;97;p3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3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0" name="Shape 100"/>
        <p:cNvGrpSpPr/>
        <p:nvPr/>
      </p:nvGrpSpPr>
      <p:grpSpPr>
        <a:xfrm>
          <a:off x="0" y="0"/>
          <a:ext cx="0" cy="0"/>
          <a:chOff x="0" y="0"/>
          <a:chExt cx="0" cy="0"/>
        </a:xfrm>
      </p:grpSpPr>
      <p:sp>
        <p:nvSpPr>
          <p:cNvPr id="101" name="Google Shape;101;p4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2" name="Google Shape;102;p4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3" name="Google Shape;103;p4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4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4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6" name="Shape 106"/>
        <p:cNvGrpSpPr/>
        <p:nvPr/>
      </p:nvGrpSpPr>
      <p:grpSpPr>
        <a:xfrm>
          <a:off x="0" y="0"/>
          <a:ext cx="0" cy="0"/>
          <a:chOff x="0" y="0"/>
          <a:chExt cx="0" cy="0"/>
        </a:xfrm>
      </p:grpSpPr>
      <p:sp>
        <p:nvSpPr>
          <p:cNvPr id="107" name="Google Shape;107;p4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8" name="Google Shape;108;p4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109" name="Google Shape;109;p4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4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4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 name="Google Shape;11;p2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3" name="Google Shape;13;p2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4" name="Google Shape;14;p2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
          <p:cNvSpPr txBox="1"/>
          <p:nvPr/>
        </p:nvSpPr>
        <p:spPr>
          <a:xfrm>
            <a:off x="685800" y="2133600"/>
            <a:ext cx="7467600" cy="1754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Comic Sans MS"/>
              <a:buNone/>
            </a:pPr>
            <a:r>
              <a:rPr b="0" i="0" lang="en-US" sz="3600" u="none" cap="none" strike="noStrike">
                <a:solidFill>
                  <a:schemeClr val="dk1"/>
                </a:solidFill>
                <a:latin typeface="Comic Sans MS"/>
                <a:ea typeface="Comic Sans MS"/>
                <a:cs typeface="Comic Sans MS"/>
                <a:sym typeface="Comic Sans MS"/>
              </a:rPr>
              <a:t>Computer Architecture</a:t>
            </a:r>
            <a:br>
              <a:rPr b="0" i="0" lang="en-US" sz="3600" u="none" cap="none" strike="noStrike">
                <a:solidFill>
                  <a:schemeClr val="dk1"/>
                </a:solidFill>
                <a:latin typeface="Comic Sans MS"/>
                <a:ea typeface="Comic Sans MS"/>
                <a:cs typeface="Comic Sans MS"/>
                <a:sym typeface="Comic Sans MS"/>
              </a:rPr>
            </a:br>
            <a:r>
              <a:rPr b="0" i="0" lang="en-US" sz="3600" u="none" cap="none" strike="noStrike">
                <a:solidFill>
                  <a:schemeClr val="dk1"/>
                </a:solidFill>
                <a:latin typeface="Comic Sans MS"/>
                <a:ea typeface="Comic Sans MS"/>
                <a:cs typeface="Comic Sans MS"/>
                <a:sym typeface="Comic Sans MS"/>
              </a:rPr>
              <a:t>Lecture </a:t>
            </a:r>
            <a:r>
              <a:rPr lang="en-US" sz="3600">
                <a:solidFill>
                  <a:schemeClr val="dk1"/>
                </a:solidFill>
                <a:latin typeface="Comic Sans MS"/>
                <a:ea typeface="Comic Sans MS"/>
                <a:cs typeface="Comic Sans MS"/>
                <a:sym typeface="Comic Sans MS"/>
              </a:rPr>
              <a:t>8</a:t>
            </a:r>
            <a:endParaRPr sz="3600">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t/>
            </a:r>
            <a:endParaRPr b="0" i="0" sz="3600" u="none">
              <a:solidFill>
                <a:schemeClr val="dk1"/>
              </a:solidFill>
              <a:latin typeface="Comic Sans MS"/>
              <a:ea typeface="Comic Sans MS"/>
              <a:cs typeface="Comic Sans MS"/>
              <a:sym typeface="Comic Sans MS"/>
            </a:endParaRPr>
          </a:p>
        </p:txBody>
      </p:sp>
      <p:sp>
        <p:nvSpPr>
          <p:cNvPr id="117" name="Google Shape;117;p1"/>
          <p:cNvSpPr txBox="1"/>
          <p:nvPr>
            <p:ph type="title"/>
          </p:nvPr>
        </p:nvSpPr>
        <p:spPr>
          <a:xfrm>
            <a:off x="152400" y="44196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Comic Sans MS"/>
              <a:buNone/>
            </a:pPr>
            <a:r>
              <a:rPr b="0" i="0" lang="en-US" sz="4400" u="none">
                <a:solidFill>
                  <a:srgbClr val="C00000"/>
                </a:solidFill>
                <a:latin typeface="Comic Sans MS"/>
                <a:ea typeface="Comic Sans MS"/>
                <a:cs typeface="Comic Sans MS"/>
                <a:sym typeface="Comic Sans MS"/>
              </a:rPr>
              <a:t>Addressing Mode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
          <p:cNvSpPr txBox="1"/>
          <p:nvPr/>
        </p:nvSpPr>
        <p:spPr>
          <a:xfrm>
            <a:off x="0" y="0"/>
            <a:ext cx="7467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omic Sans MS"/>
              <a:buNone/>
            </a:pPr>
            <a:r>
              <a:rPr b="0" i="0" lang="en-US" sz="3200" u="none">
                <a:solidFill>
                  <a:srgbClr val="000099"/>
                </a:solidFill>
                <a:latin typeface="Comic Sans MS"/>
                <a:ea typeface="Comic Sans MS"/>
                <a:cs typeface="Comic Sans MS"/>
                <a:sym typeface="Comic Sans MS"/>
              </a:rPr>
              <a:t>Addressing Modes</a:t>
            </a:r>
            <a:endParaRPr/>
          </a:p>
        </p:txBody>
      </p:sp>
      <p:sp>
        <p:nvSpPr>
          <p:cNvPr id="123" name="Google Shape;123;p2"/>
          <p:cNvSpPr txBox="1"/>
          <p:nvPr>
            <p:ph idx="1" type="body"/>
          </p:nvPr>
        </p:nvSpPr>
        <p:spPr>
          <a:xfrm>
            <a:off x="0" y="838200"/>
            <a:ext cx="9144000" cy="5029200"/>
          </a:xfrm>
          <a:prstGeom prst="rect">
            <a:avLst/>
          </a:prstGeom>
          <a:noFill/>
          <a:ln>
            <a:noFill/>
          </a:ln>
        </p:spPr>
        <p:txBody>
          <a:bodyPr anchorCtr="0" anchor="t" bIns="45700" lIns="91425" spcFirstLastPara="1" rIns="91425" wrap="square" tIns="45700">
            <a:noAutofit/>
          </a:bodyPr>
          <a:lstStyle/>
          <a:p>
            <a:pPr indent="-342900" lvl="0" marL="342900" rtl="0" algn="just">
              <a:lnSpc>
                <a:spcPct val="80000"/>
              </a:lnSpc>
              <a:spcBef>
                <a:spcPts val="0"/>
              </a:spcBef>
              <a:spcAft>
                <a:spcPts val="0"/>
              </a:spcAft>
              <a:buClr>
                <a:srgbClr val="000099"/>
              </a:buClr>
              <a:buSzPts val="3000"/>
              <a:buFont typeface="Noto Sans Symbols"/>
              <a:buChar char="▪"/>
            </a:pPr>
            <a:r>
              <a:rPr b="0" i="0" lang="en-US" sz="2400" u="none">
                <a:solidFill>
                  <a:schemeClr val="dk1"/>
                </a:solidFill>
                <a:latin typeface="Times New Roman"/>
                <a:ea typeface="Times New Roman"/>
                <a:cs typeface="Times New Roman"/>
                <a:sym typeface="Times New Roman"/>
              </a:rPr>
              <a:t>The CPU can access data in various ways. The data could be in a register, or in memory, or be provided as an immediate value. These various ways of accessing data are called </a:t>
            </a:r>
            <a:r>
              <a:rPr b="0" i="1" lang="en-US" sz="2400" u="none">
                <a:solidFill>
                  <a:schemeClr val="dk1"/>
                </a:solidFill>
                <a:latin typeface="Times New Roman"/>
                <a:ea typeface="Times New Roman"/>
                <a:cs typeface="Times New Roman"/>
                <a:sym typeface="Times New Roman"/>
              </a:rPr>
              <a:t>addressing modes</a:t>
            </a:r>
            <a:r>
              <a:rPr b="0" i="1" lang="en-US" sz="2400" u="none">
                <a:solidFill>
                  <a:schemeClr val="dk1"/>
                </a:solidFill>
                <a:latin typeface="Arial"/>
                <a:ea typeface="Arial"/>
                <a:cs typeface="Arial"/>
                <a:sym typeface="Arial"/>
              </a:rPr>
              <a:t>.</a:t>
            </a:r>
            <a:endParaRPr/>
          </a:p>
          <a:p>
            <a:pPr indent="-152400" lvl="0" marL="342900" rtl="0" algn="just">
              <a:lnSpc>
                <a:spcPct val="80000"/>
              </a:lnSpc>
              <a:spcBef>
                <a:spcPts val="480"/>
              </a:spcBef>
              <a:spcAft>
                <a:spcPts val="0"/>
              </a:spcAft>
              <a:buClr>
                <a:srgbClr val="000099"/>
              </a:buClr>
              <a:buSzPts val="3000"/>
              <a:buFont typeface="Noto Sans Symbols"/>
              <a:buNone/>
            </a:pPr>
            <a:r>
              <a:t/>
            </a:r>
            <a:endParaRPr b="0" i="1" sz="2400" u="none">
              <a:solidFill>
                <a:schemeClr val="dk1"/>
              </a:solidFill>
              <a:latin typeface="Arial"/>
              <a:ea typeface="Arial"/>
              <a:cs typeface="Arial"/>
              <a:sym typeface="Arial"/>
            </a:endParaRPr>
          </a:p>
          <a:p>
            <a:pPr indent="-342900" lvl="0" marL="342900" rtl="0" algn="just">
              <a:lnSpc>
                <a:spcPct val="80000"/>
              </a:lnSpc>
              <a:spcBef>
                <a:spcPts val="480"/>
              </a:spcBef>
              <a:spcAft>
                <a:spcPts val="0"/>
              </a:spcAft>
              <a:buClr>
                <a:srgbClr val="000099"/>
              </a:buClr>
              <a:buSzPts val="3000"/>
              <a:buFont typeface="Noto Sans Symbols"/>
              <a:buChar char="▪"/>
            </a:pPr>
            <a:r>
              <a:rPr b="0" i="0" lang="en-US" sz="2400" u="none">
                <a:solidFill>
                  <a:schemeClr val="dk1"/>
                </a:solidFill>
                <a:latin typeface="Times New Roman"/>
                <a:ea typeface="Times New Roman"/>
                <a:cs typeface="Times New Roman"/>
                <a:sym typeface="Times New Roman"/>
              </a:rPr>
              <a:t>The purpose of the address field is to point to the current value V(X) of some operand X used by the instruction. </a:t>
            </a:r>
            <a:endParaRPr/>
          </a:p>
          <a:p>
            <a:pPr indent="-152400" lvl="0" marL="342900" rtl="0" algn="just">
              <a:lnSpc>
                <a:spcPct val="80000"/>
              </a:lnSpc>
              <a:spcBef>
                <a:spcPts val="480"/>
              </a:spcBef>
              <a:spcAft>
                <a:spcPts val="0"/>
              </a:spcAft>
              <a:buClr>
                <a:srgbClr val="000099"/>
              </a:buClr>
              <a:buSzPts val="3000"/>
              <a:buFont typeface="Noto Sans Symbols"/>
              <a:buNone/>
            </a:pPr>
            <a:r>
              <a:t/>
            </a:r>
            <a:endParaRPr b="0" i="0" sz="2400" u="none">
              <a:solidFill>
                <a:schemeClr val="dk1"/>
              </a:solidFill>
              <a:latin typeface="Times New Roman"/>
              <a:ea typeface="Times New Roman"/>
              <a:cs typeface="Times New Roman"/>
              <a:sym typeface="Times New Roman"/>
            </a:endParaRPr>
          </a:p>
          <a:p>
            <a:pPr indent="-342900" lvl="0" marL="342900" rtl="0" algn="just">
              <a:lnSpc>
                <a:spcPct val="80000"/>
              </a:lnSpc>
              <a:spcBef>
                <a:spcPts val="480"/>
              </a:spcBef>
              <a:spcAft>
                <a:spcPts val="0"/>
              </a:spcAft>
              <a:buClr>
                <a:srgbClr val="000099"/>
              </a:buClr>
              <a:buSzPts val="3000"/>
              <a:buFont typeface="Noto Sans Symbols"/>
              <a:buChar char="▪"/>
            </a:pPr>
            <a:r>
              <a:rPr b="0" i="0" lang="en-US" sz="2400" u="none">
                <a:solidFill>
                  <a:schemeClr val="dk1"/>
                </a:solidFill>
                <a:latin typeface="Times New Roman"/>
                <a:ea typeface="Times New Roman"/>
                <a:cs typeface="Times New Roman"/>
                <a:sym typeface="Times New Roman"/>
              </a:rPr>
              <a:t>The addressing mode of X affects the following issues:</a:t>
            </a:r>
            <a:endParaRPr/>
          </a:p>
          <a:p>
            <a:pPr indent="-342900" lvl="0" marL="342900" rtl="0" algn="just">
              <a:lnSpc>
                <a:spcPct val="8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The speed with which V(X) can be accessed by the</a:t>
            </a:r>
            <a:endParaRPr/>
          </a:p>
          <a:p>
            <a:pPr indent="-342900" lvl="0" marL="342900" rtl="0" algn="just">
              <a:lnSpc>
                <a:spcPct val="8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CPU.</a:t>
            </a:r>
            <a:endParaRPr/>
          </a:p>
          <a:p>
            <a:pPr indent="-342900" lvl="0" marL="342900" rtl="0" algn="just">
              <a:lnSpc>
                <a:spcPct val="8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2. The ease with which V(X) can be specified and altered.</a:t>
            </a:r>
            <a:endParaRPr/>
          </a:p>
          <a:p>
            <a:pPr indent="-190500" lvl="0" marL="342900" rtl="0" algn="l">
              <a:spcBef>
                <a:spcPts val="48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3"/>
          <p:cNvSpPr txBox="1"/>
          <p:nvPr/>
        </p:nvSpPr>
        <p:spPr>
          <a:xfrm>
            <a:off x="0" y="0"/>
            <a:ext cx="7467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omic Sans MS"/>
              <a:buNone/>
            </a:pPr>
            <a:r>
              <a:rPr b="0" i="0" lang="en-US" sz="3200" u="none">
                <a:solidFill>
                  <a:srgbClr val="000099"/>
                </a:solidFill>
                <a:latin typeface="Comic Sans MS"/>
                <a:ea typeface="Comic Sans MS"/>
                <a:cs typeface="Comic Sans MS"/>
                <a:sym typeface="Comic Sans MS"/>
              </a:rPr>
              <a:t>Different Addressing Modes</a:t>
            </a:r>
            <a:endParaRPr/>
          </a:p>
        </p:txBody>
      </p:sp>
      <p:sp>
        <p:nvSpPr>
          <p:cNvPr id="129" name="Google Shape;129;p3"/>
          <p:cNvSpPr txBox="1"/>
          <p:nvPr>
            <p:ph idx="1" type="body"/>
          </p:nvPr>
        </p:nvSpPr>
        <p:spPr>
          <a:xfrm>
            <a:off x="457200" y="1066800"/>
            <a:ext cx="8178800" cy="5638800"/>
          </a:xfrm>
          <a:prstGeom prst="rect">
            <a:avLst/>
          </a:prstGeom>
          <a:noFill/>
          <a:ln>
            <a:noFill/>
          </a:ln>
        </p:spPr>
        <p:txBody>
          <a:bodyPr anchorCtr="0" anchor="t" bIns="44450" lIns="90475" spcFirstLastPara="1" rIns="90475" wrap="square" tIns="44450">
            <a:noAutofit/>
          </a:bodyPr>
          <a:lstStyle/>
          <a:p>
            <a:pPr indent="-342900" lvl="0" marL="342900" rtl="0" algn="l">
              <a:lnSpc>
                <a:spcPct val="100000"/>
              </a:lnSpc>
              <a:spcBef>
                <a:spcPts val="0"/>
              </a:spcBef>
              <a:spcAft>
                <a:spcPts val="0"/>
              </a:spcAft>
              <a:buClr>
                <a:schemeClr val="dk2"/>
              </a:buClr>
              <a:buSzPts val="2800"/>
              <a:buFont typeface="Times New Roman"/>
              <a:buChar char="•"/>
            </a:pPr>
            <a:r>
              <a:rPr b="0" i="0" lang="en-US" sz="2800" u="none">
                <a:solidFill>
                  <a:schemeClr val="dk2"/>
                </a:solidFill>
                <a:latin typeface="Times New Roman"/>
                <a:ea typeface="Times New Roman"/>
                <a:cs typeface="Times New Roman"/>
                <a:sym typeface="Times New Roman"/>
              </a:rPr>
              <a:t>Immediate</a:t>
            </a:r>
            <a:endParaRPr/>
          </a:p>
          <a:p>
            <a:pPr indent="-342900" lvl="0" marL="342900" rtl="0" algn="l">
              <a:lnSpc>
                <a:spcPct val="100000"/>
              </a:lnSpc>
              <a:spcBef>
                <a:spcPts val="560"/>
              </a:spcBef>
              <a:spcAft>
                <a:spcPts val="0"/>
              </a:spcAft>
              <a:buClr>
                <a:schemeClr val="dk2"/>
              </a:buClr>
              <a:buSzPts val="2800"/>
              <a:buFont typeface="Times New Roman"/>
              <a:buChar char="•"/>
            </a:pPr>
            <a:r>
              <a:rPr b="0" i="0" lang="en-US" sz="2800" u="none">
                <a:solidFill>
                  <a:schemeClr val="dk2"/>
                </a:solidFill>
                <a:latin typeface="Times New Roman"/>
                <a:ea typeface="Times New Roman"/>
                <a:cs typeface="Times New Roman"/>
                <a:sym typeface="Times New Roman"/>
              </a:rPr>
              <a:t>Direct</a:t>
            </a:r>
            <a:endParaRPr/>
          </a:p>
          <a:p>
            <a:pPr indent="-342900" lvl="0" marL="342900" rtl="0" algn="l">
              <a:lnSpc>
                <a:spcPct val="100000"/>
              </a:lnSpc>
              <a:spcBef>
                <a:spcPts val="560"/>
              </a:spcBef>
              <a:spcAft>
                <a:spcPts val="0"/>
              </a:spcAft>
              <a:buClr>
                <a:schemeClr val="dk2"/>
              </a:buClr>
              <a:buSzPts val="2800"/>
              <a:buFont typeface="Times New Roman"/>
              <a:buChar char="•"/>
            </a:pPr>
            <a:r>
              <a:rPr b="0" i="0" lang="en-US" sz="2800" u="none">
                <a:solidFill>
                  <a:schemeClr val="dk2"/>
                </a:solidFill>
                <a:latin typeface="Times New Roman"/>
                <a:ea typeface="Times New Roman"/>
                <a:cs typeface="Times New Roman"/>
                <a:sym typeface="Times New Roman"/>
              </a:rPr>
              <a:t>Indirect</a:t>
            </a:r>
            <a:endParaRPr/>
          </a:p>
          <a:p>
            <a:pPr indent="-342900" lvl="0" marL="342900" rtl="0" algn="l">
              <a:lnSpc>
                <a:spcPct val="100000"/>
              </a:lnSpc>
              <a:spcBef>
                <a:spcPts val="560"/>
              </a:spcBef>
              <a:spcAft>
                <a:spcPts val="0"/>
              </a:spcAft>
              <a:buClr>
                <a:schemeClr val="dk2"/>
              </a:buClr>
              <a:buSzPts val="2800"/>
              <a:buFont typeface="Times New Roman"/>
              <a:buChar char="•"/>
            </a:pPr>
            <a:r>
              <a:rPr b="0" i="0" lang="en-US" sz="2800" u="none">
                <a:solidFill>
                  <a:schemeClr val="dk2"/>
                </a:solidFill>
                <a:latin typeface="Times New Roman"/>
                <a:ea typeface="Times New Roman"/>
                <a:cs typeface="Times New Roman"/>
                <a:sym typeface="Times New Roman"/>
              </a:rPr>
              <a:t>Register</a:t>
            </a:r>
            <a:endParaRPr/>
          </a:p>
          <a:p>
            <a:pPr indent="-342900" lvl="0" marL="342900" rtl="0" algn="l">
              <a:lnSpc>
                <a:spcPct val="100000"/>
              </a:lnSpc>
              <a:spcBef>
                <a:spcPts val="560"/>
              </a:spcBef>
              <a:spcAft>
                <a:spcPts val="0"/>
              </a:spcAft>
              <a:buClr>
                <a:schemeClr val="dk2"/>
              </a:buClr>
              <a:buSzPts val="2800"/>
              <a:buFont typeface="Times New Roman"/>
              <a:buChar char="•"/>
            </a:pPr>
            <a:r>
              <a:rPr b="0" i="0" lang="en-US" sz="2800" u="none">
                <a:solidFill>
                  <a:schemeClr val="dk2"/>
                </a:solidFill>
                <a:latin typeface="Times New Roman"/>
                <a:ea typeface="Times New Roman"/>
                <a:cs typeface="Times New Roman"/>
                <a:sym typeface="Times New Roman"/>
              </a:rPr>
              <a:t>Register Indirect</a:t>
            </a:r>
            <a:endParaRPr/>
          </a:p>
          <a:p>
            <a:pPr indent="-342900" lvl="0" marL="342900" rtl="0" algn="l">
              <a:lnSpc>
                <a:spcPct val="100000"/>
              </a:lnSpc>
              <a:spcBef>
                <a:spcPts val="560"/>
              </a:spcBef>
              <a:spcAft>
                <a:spcPts val="0"/>
              </a:spcAft>
              <a:buClr>
                <a:schemeClr val="dk2"/>
              </a:buClr>
              <a:buSzPts val="2800"/>
              <a:buFont typeface="Times New Roman"/>
              <a:buChar char="•"/>
            </a:pPr>
            <a:r>
              <a:rPr b="0" i="0" lang="en-US" sz="2800" u="none">
                <a:solidFill>
                  <a:schemeClr val="dk2"/>
                </a:solidFill>
                <a:latin typeface="Times New Roman"/>
                <a:ea typeface="Times New Roman"/>
                <a:cs typeface="Times New Roman"/>
                <a:sym typeface="Times New Roman"/>
              </a:rPr>
              <a:t>Displacement (Indexed) </a:t>
            </a:r>
            <a:endParaRPr/>
          </a:p>
          <a:p>
            <a:pPr indent="-342900" lvl="0" marL="342900" rtl="0" algn="l">
              <a:lnSpc>
                <a:spcPct val="100000"/>
              </a:lnSpc>
              <a:spcBef>
                <a:spcPts val="560"/>
              </a:spcBef>
              <a:spcAft>
                <a:spcPts val="0"/>
              </a:spcAft>
              <a:buClr>
                <a:schemeClr val="dk2"/>
              </a:buClr>
              <a:buSzPts val="2800"/>
              <a:buFont typeface="Times New Roman"/>
              <a:buChar char="•"/>
            </a:pPr>
            <a:r>
              <a:rPr b="0" i="0" lang="en-US" sz="2800" u="none">
                <a:solidFill>
                  <a:schemeClr val="dk2"/>
                </a:solidFill>
                <a:latin typeface="Times New Roman"/>
                <a:ea typeface="Times New Roman"/>
                <a:cs typeface="Times New Roman"/>
                <a:sym typeface="Times New Roman"/>
              </a:rPr>
              <a:t>Stack</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
          <p:cNvSpPr txBox="1"/>
          <p:nvPr/>
        </p:nvSpPr>
        <p:spPr>
          <a:xfrm>
            <a:off x="0" y="0"/>
            <a:ext cx="7467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omic Sans MS"/>
              <a:buNone/>
            </a:pPr>
            <a:r>
              <a:rPr b="0" i="0" lang="en-US" sz="3200" u="none">
                <a:solidFill>
                  <a:srgbClr val="000099"/>
                </a:solidFill>
                <a:latin typeface="Comic Sans MS"/>
                <a:ea typeface="Comic Sans MS"/>
                <a:cs typeface="Comic Sans MS"/>
                <a:sym typeface="Comic Sans MS"/>
              </a:rPr>
              <a:t>Immediate Addressing</a:t>
            </a:r>
            <a:endParaRPr/>
          </a:p>
        </p:txBody>
      </p:sp>
      <p:sp>
        <p:nvSpPr>
          <p:cNvPr id="135" name="Google Shape;135;p4"/>
          <p:cNvSpPr txBox="1"/>
          <p:nvPr>
            <p:ph idx="1" type="body"/>
          </p:nvPr>
        </p:nvSpPr>
        <p:spPr>
          <a:xfrm>
            <a:off x="228600" y="533400"/>
            <a:ext cx="8610600" cy="46482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simplest form of addressing is immediate addressing, in which the operand value is present in the instruction</a:t>
            </a:r>
            <a:endParaRPr/>
          </a:p>
          <a:p>
            <a:pPr indent="-342900" lvl="0" marL="34290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This mode can be used to define and use constants or set initial values of variables. </a:t>
            </a:r>
            <a:endParaRPr/>
          </a:p>
          <a:p>
            <a:pPr indent="-342900" lvl="0" marL="34290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Typically, the number will be stored in twos complement form; the leftmost bit of the operand field is used as a sign bit. </a:t>
            </a:r>
            <a:endParaRPr/>
          </a:p>
          <a:p>
            <a:pPr indent="-342900" lvl="0" marL="34290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When the operand is loaded into a data register, the sign bit is extended to the left to the full data word size.</a:t>
            </a:r>
            <a:endParaRPr/>
          </a:p>
          <a:p>
            <a:pPr indent="-342900" lvl="0" marL="34290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 some cases, the immediate binary value is interpreted as an unsigned nonnegative integer</a:t>
            </a:r>
            <a:endParaRPr/>
          </a:p>
          <a:p>
            <a:pPr indent="-342900" lvl="0" marL="342900" rtl="0" algn="just">
              <a:lnSpc>
                <a:spcPct val="80000"/>
              </a:lnSpc>
              <a:spcBef>
                <a:spcPts val="480"/>
              </a:spcBef>
              <a:spcAft>
                <a:spcPts val="0"/>
              </a:spcAft>
              <a:buClr>
                <a:srgbClr val="000099"/>
              </a:buClr>
              <a:buSzPts val="3000"/>
              <a:buFont typeface="Noto Sans Symbols"/>
              <a:buChar char="▪"/>
            </a:pPr>
            <a:r>
              <a:rPr b="0" i="0" lang="en-US" sz="2400" u="none">
                <a:solidFill>
                  <a:schemeClr val="dk1"/>
                </a:solidFill>
                <a:latin typeface="Times New Roman"/>
                <a:ea typeface="Times New Roman"/>
                <a:cs typeface="Times New Roman"/>
                <a:sym typeface="Times New Roman"/>
              </a:rPr>
              <a:t>Example:</a:t>
            </a:r>
            <a:endParaRPr/>
          </a:p>
          <a:p>
            <a:pPr indent="-342900" lvl="0" marL="342900" rtl="0" algn="just">
              <a:lnSpc>
                <a:spcPct val="8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A:=99</a:t>
            </a:r>
            <a:endParaRPr/>
          </a:p>
          <a:p>
            <a:pPr indent="-342900" lvl="0" marL="342900" rtl="0" algn="just">
              <a:lnSpc>
                <a:spcPct val="8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 In Intel 8085 series it is MVI A, 99</a:t>
            </a:r>
            <a:endParaRPr/>
          </a:p>
          <a:p>
            <a:pPr indent="-342900" lvl="0" marL="342900" rtl="0" algn="just">
              <a:lnSpc>
                <a:spcPct val="8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 In Motorola 690X0 series it is MOVE #99, D1 (D1=A)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5"/>
          <p:cNvSpPr txBox="1"/>
          <p:nvPr/>
        </p:nvSpPr>
        <p:spPr>
          <a:xfrm>
            <a:off x="0" y="0"/>
            <a:ext cx="8915400" cy="1077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omic Sans MS"/>
              <a:buNone/>
            </a:pPr>
            <a:r>
              <a:rPr b="0" i="0" lang="en-US" sz="3200" u="none">
                <a:solidFill>
                  <a:srgbClr val="000099"/>
                </a:solidFill>
                <a:latin typeface="Comic Sans MS"/>
                <a:ea typeface="Comic Sans MS"/>
                <a:cs typeface="Comic Sans MS"/>
                <a:sym typeface="Comic Sans MS"/>
              </a:rPr>
              <a:t>Immediate Addressing Advantages and disadvantages</a:t>
            </a:r>
            <a:endParaRPr/>
          </a:p>
        </p:txBody>
      </p:sp>
      <p:sp>
        <p:nvSpPr>
          <p:cNvPr id="141" name="Google Shape;141;p5"/>
          <p:cNvSpPr txBox="1"/>
          <p:nvPr>
            <p:ph idx="1" type="body"/>
          </p:nvPr>
        </p:nvSpPr>
        <p:spPr>
          <a:xfrm>
            <a:off x="457200" y="1524000"/>
            <a:ext cx="7467600" cy="1524000"/>
          </a:xfrm>
          <a:prstGeom prst="rect">
            <a:avLst/>
          </a:prstGeom>
          <a:noFill/>
          <a:ln>
            <a:noFill/>
          </a:ln>
        </p:spPr>
        <p:txBody>
          <a:bodyPr anchorCtr="0" anchor="t" bIns="45700" lIns="91425" spcFirstLastPara="1" rIns="91425" wrap="square" tIns="45700">
            <a:noAutofit/>
          </a:bodyPr>
          <a:lstStyle/>
          <a:p>
            <a:pPr indent="-190500" lvl="0" marL="342900" rtl="0" algn="l">
              <a:lnSpc>
                <a:spcPct val="100000"/>
              </a:lnSpc>
              <a:spcBef>
                <a:spcPts val="0"/>
              </a:spcBef>
              <a:spcAft>
                <a:spcPts val="0"/>
              </a:spcAft>
              <a:buClr>
                <a:schemeClr val="dk1"/>
              </a:buClr>
              <a:buSzPts val="2400"/>
              <a:buFont typeface="Arial"/>
              <a:buNone/>
            </a:pPr>
            <a:r>
              <a:t/>
            </a:r>
            <a:endParaRPr b="1" i="0" sz="2400" u="none">
              <a:solidFill>
                <a:srgbClr val="FF0000"/>
              </a:solidFill>
              <a:latin typeface="Arial Rounded"/>
              <a:ea typeface="Arial Rounded"/>
              <a:cs typeface="Arial Rounded"/>
              <a:sym typeface="Arial Rounded"/>
            </a:endParaRPr>
          </a:p>
          <a:p>
            <a:pPr indent="-342900" lvl="0" marL="342900" rtl="0" algn="l">
              <a:lnSpc>
                <a:spcPct val="100000"/>
              </a:lnSpc>
              <a:spcBef>
                <a:spcPts val="560"/>
              </a:spcBef>
              <a:spcAft>
                <a:spcPts val="0"/>
              </a:spcAft>
              <a:buClr>
                <a:schemeClr val="dk2"/>
              </a:buClr>
              <a:buSzPts val="2800"/>
              <a:buFont typeface="Times New Roman"/>
              <a:buChar char="•"/>
            </a:pPr>
            <a:r>
              <a:rPr b="0" i="0" lang="en-US" sz="2800" u="none">
                <a:solidFill>
                  <a:schemeClr val="dk2"/>
                </a:solidFill>
                <a:latin typeface="Times New Roman"/>
                <a:ea typeface="Times New Roman"/>
                <a:cs typeface="Times New Roman"/>
                <a:sym typeface="Times New Roman"/>
              </a:rPr>
              <a:t>No memory reference to fetch data</a:t>
            </a:r>
            <a:endParaRPr/>
          </a:p>
          <a:p>
            <a:pPr indent="-342900" lvl="0" marL="342900" rtl="0" algn="l">
              <a:lnSpc>
                <a:spcPct val="100000"/>
              </a:lnSpc>
              <a:spcBef>
                <a:spcPts val="560"/>
              </a:spcBef>
              <a:spcAft>
                <a:spcPts val="0"/>
              </a:spcAft>
              <a:buClr>
                <a:schemeClr val="dk2"/>
              </a:buClr>
              <a:buSzPts val="2800"/>
              <a:buFont typeface="Times New Roman"/>
              <a:buChar char="•"/>
            </a:pPr>
            <a:r>
              <a:rPr b="0" i="0" lang="en-US" sz="2800" u="none">
                <a:solidFill>
                  <a:schemeClr val="dk2"/>
                </a:solidFill>
                <a:latin typeface="Times New Roman"/>
                <a:ea typeface="Times New Roman"/>
                <a:cs typeface="Times New Roman"/>
                <a:sym typeface="Times New Roman"/>
              </a:rPr>
              <a:t>Fast</a:t>
            </a:r>
            <a:endParaRPr/>
          </a:p>
          <a:p>
            <a:pPr indent="-342900" lvl="0" marL="342900" rtl="0" algn="l">
              <a:lnSpc>
                <a:spcPct val="100000"/>
              </a:lnSpc>
              <a:spcBef>
                <a:spcPts val="560"/>
              </a:spcBef>
              <a:spcAft>
                <a:spcPts val="0"/>
              </a:spcAft>
              <a:buClr>
                <a:schemeClr val="dk2"/>
              </a:buClr>
              <a:buSzPts val="2800"/>
              <a:buFont typeface="Times New Roman"/>
              <a:buChar char="•"/>
            </a:pPr>
            <a:r>
              <a:rPr b="0" i="0" lang="en-US" sz="2800" u="none">
                <a:solidFill>
                  <a:schemeClr val="dk2"/>
                </a:solidFill>
                <a:latin typeface="Times New Roman"/>
                <a:ea typeface="Times New Roman"/>
                <a:cs typeface="Times New Roman"/>
                <a:sym typeface="Times New Roman"/>
              </a:rPr>
              <a:t>Limited range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6"/>
          <p:cNvSpPr txBox="1"/>
          <p:nvPr/>
        </p:nvSpPr>
        <p:spPr>
          <a:xfrm>
            <a:off x="0" y="0"/>
            <a:ext cx="7467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omic Sans MS"/>
              <a:buNone/>
            </a:pPr>
            <a:r>
              <a:rPr b="0" i="0" lang="en-US" sz="3200" u="none">
                <a:solidFill>
                  <a:srgbClr val="000099"/>
                </a:solidFill>
                <a:latin typeface="Comic Sans MS"/>
                <a:ea typeface="Comic Sans MS"/>
                <a:cs typeface="Comic Sans MS"/>
                <a:sym typeface="Comic Sans MS"/>
              </a:rPr>
              <a:t>Direct Addressing</a:t>
            </a:r>
            <a:endParaRPr/>
          </a:p>
        </p:txBody>
      </p:sp>
      <p:sp>
        <p:nvSpPr>
          <p:cNvPr id="147" name="Google Shape;147;p6"/>
          <p:cNvSpPr txBox="1"/>
          <p:nvPr>
            <p:ph idx="1" type="body"/>
          </p:nvPr>
        </p:nvSpPr>
        <p:spPr>
          <a:xfrm>
            <a:off x="304800" y="1143000"/>
            <a:ext cx="8305800" cy="50292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very simple form of addressing is direct addressing, in which the address field contains the effective address of the operand:</a:t>
            </a:r>
            <a:endParaRPr/>
          </a:p>
          <a:p>
            <a:pPr indent="-342900" lvl="0" marL="34290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It requires only one memory reference and no special calculation. The obvious limitation is that it provides only a limited address Space.</a:t>
            </a:r>
            <a:endParaRPr/>
          </a:p>
          <a:p>
            <a:pPr indent="-342900" lvl="0" marL="34290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storage location can be memory address or register.</a:t>
            </a:r>
            <a:endParaRPr/>
          </a:p>
          <a:p>
            <a:pPr indent="-247650" lvl="0" marL="342900" rtl="0" algn="just">
              <a:lnSpc>
                <a:spcPct val="90000"/>
              </a:lnSpc>
              <a:spcBef>
                <a:spcPts val="240"/>
              </a:spcBef>
              <a:spcAft>
                <a:spcPts val="0"/>
              </a:spcAft>
              <a:buClr>
                <a:srgbClr val="000099"/>
              </a:buClr>
              <a:buSzPts val="1500"/>
              <a:buFont typeface="Noto Sans Symbols"/>
              <a:buNone/>
            </a:pPr>
            <a:r>
              <a:t/>
            </a:r>
            <a:endParaRPr b="0" i="0" sz="1200" u="none">
              <a:solidFill>
                <a:schemeClr val="dk1"/>
              </a:solidFill>
              <a:latin typeface="Times New Roman"/>
              <a:ea typeface="Times New Roman"/>
              <a:cs typeface="Times New Roman"/>
              <a:sym typeface="Times New Roman"/>
            </a:endParaRPr>
          </a:p>
          <a:p>
            <a:pPr indent="-215900" lvl="0" marL="342900" rtl="0" algn="just">
              <a:lnSpc>
                <a:spcPct val="90000"/>
              </a:lnSpc>
              <a:spcBef>
                <a:spcPts val="320"/>
              </a:spcBef>
              <a:spcAft>
                <a:spcPts val="0"/>
              </a:spcAft>
              <a:buClr>
                <a:srgbClr val="000099"/>
              </a:buClr>
              <a:buSzPts val="2000"/>
              <a:buFont typeface="Noto Sans Symbols"/>
              <a:buNone/>
            </a:pPr>
            <a:r>
              <a:t/>
            </a:r>
            <a:endParaRPr b="0" i="0" sz="1600" u="none">
              <a:solidFill>
                <a:schemeClr val="dk1"/>
              </a:solidFill>
              <a:latin typeface="Times New Roman"/>
              <a:ea typeface="Times New Roman"/>
              <a:cs typeface="Times New Roman"/>
              <a:sym typeface="Times New Roman"/>
            </a:endParaRPr>
          </a:p>
          <a:p>
            <a:pPr indent="-342900" lvl="0" marL="342900" rtl="0" algn="just">
              <a:lnSpc>
                <a:spcPct val="90000"/>
              </a:lnSpc>
              <a:spcBef>
                <a:spcPts val="480"/>
              </a:spcBef>
              <a:spcAft>
                <a:spcPts val="0"/>
              </a:spcAft>
              <a:buClr>
                <a:srgbClr val="000099"/>
              </a:buClr>
              <a:buSzPts val="3000"/>
              <a:buFont typeface="Noto Sans Symbols"/>
              <a:buChar char="▪"/>
            </a:pPr>
            <a:r>
              <a:rPr b="0" i="0" lang="en-US" sz="2400" u="none">
                <a:solidFill>
                  <a:schemeClr val="dk1"/>
                </a:solidFill>
                <a:latin typeface="Times New Roman"/>
                <a:ea typeface="Times New Roman"/>
                <a:cs typeface="Times New Roman"/>
                <a:sym typeface="Times New Roman"/>
              </a:rPr>
              <a:t>Example:</a:t>
            </a:r>
            <a:endParaRPr/>
          </a:p>
          <a:p>
            <a:pPr indent="-342900" lvl="0" marL="342900" rtl="0" algn="just">
              <a:lnSpc>
                <a:spcPct val="9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A:=B</a:t>
            </a:r>
            <a:endParaRPr/>
          </a:p>
          <a:p>
            <a:pPr indent="-342900" lvl="0" marL="342900" rtl="0" algn="just">
              <a:lnSpc>
                <a:spcPct val="9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 In Intel 8085 series it is MOV A, B</a:t>
            </a:r>
            <a:endParaRPr/>
          </a:p>
          <a:p>
            <a:pPr indent="-342900" lvl="0" marL="342900" rtl="0" algn="just">
              <a:lnSpc>
                <a:spcPct val="9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 In Motorola 690×0 series it is MOVE D2, D1 (D1=A,  D2=B)</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7"/>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omic Sans MS"/>
              <a:buNone/>
            </a:pPr>
            <a:r>
              <a:rPr b="0" i="0" lang="en-US" sz="3200" u="none">
                <a:solidFill>
                  <a:srgbClr val="000099"/>
                </a:solidFill>
                <a:latin typeface="Comic Sans MS"/>
                <a:ea typeface="Comic Sans MS"/>
                <a:cs typeface="Comic Sans MS"/>
                <a:sym typeface="Comic Sans MS"/>
              </a:rPr>
              <a:t>Immediate and Direct Addressing diagram</a:t>
            </a:r>
            <a:endParaRPr/>
          </a:p>
        </p:txBody>
      </p:sp>
      <p:pic>
        <p:nvPicPr>
          <p:cNvPr id="153" name="Google Shape;153;p7"/>
          <p:cNvPicPr preferRelativeResize="0"/>
          <p:nvPr/>
        </p:nvPicPr>
        <p:blipFill rotWithShape="1">
          <a:blip r:embed="rId3">
            <a:alphaModFix/>
          </a:blip>
          <a:srcRect b="0" l="0" r="0" t="0"/>
          <a:stretch/>
        </p:blipFill>
        <p:spPr>
          <a:xfrm>
            <a:off x="4343400" y="1524000"/>
            <a:ext cx="4276725" cy="4291012"/>
          </a:xfrm>
          <a:prstGeom prst="rect">
            <a:avLst/>
          </a:prstGeom>
          <a:noFill/>
          <a:ln>
            <a:noFill/>
          </a:ln>
        </p:spPr>
      </p:pic>
      <p:pic>
        <p:nvPicPr>
          <p:cNvPr id="154" name="Google Shape;154;p7"/>
          <p:cNvPicPr preferRelativeResize="0"/>
          <p:nvPr/>
        </p:nvPicPr>
        <p:blipFill rotWithShape="1">
          <a:blip r:embed="rId4">
            <a:alphaModFix/>
          </a:blip>
          <a:srcRect b="0" l="0" r="0" t="0"/>
          <a:stretch/>
        </p:blipFill>
        <p:spPr>
          <a:xfrm>
            <a:off x="381000" y="1828800"/>
            <a:ext cx="3581400" cy="362743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8"/>
          <p:cNvSpPr txBox="1"/>
          <p:nvPr/>
        </p:nvSpPr>
        <p:spPr>
          <a:xfrm>
            <a:off x="0" y="0"/>
            <a:ext cx="7467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omic Sans MS"/>
              <a:buNone/>
            </a:pPr>
            <a:r>
              <a:rPr b="0" i="0" lang="en-US" sz="3200" u="none">
                <a:solidFill>
                  <a:srgbClr val="000099"/>
                </a:solidFill>
                <a:latin typeface="Comic Sans MS"/>
                <a:ea typeface="Comic Sans MS"/>
                <a:cs typeface="Comic Sans MS"/>
                <a:sym typeface="Comic Sans MS"/>
              </a:rPr>
              <a:t>Indirect Addressing</a:t>
            </a:r>
            <a:endParaRPr/>
          </a:p>
        </p:txBody>
      </p:sp>
      <p:sp>
        <p:nvSpPr>
          <p:cNvPr id="160" name="Google Shape;160;p8"/>
          <p:cNvSpPr txBox="1"/>
          <p:nvPr>
            <p:ph idx="1" type="body"/>
          </p:nvPr>
        </p:nvSpPr>
        <p:spPr>
          <a:xfrm>
            <a:off x="228600" y="1295400"/>
            <a:ext cx="8915400" cy="32004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Memory cell pointed to by address field contains the address of (pointer to) the operand</a:t>
            </a:r>
            <a:endParaRPr/>
          </a:p>
          <a:p>
            <a:pPr indent="-342900" lvl="0" marL="34290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EA =(A)</a:t>
            </a:r>
            <a:endParaRPr/>
          </a:p>
          <a:p>
            <a:pPr indent="-342900" lvl="0" marL="342900" rtl="0" algn="l">
              <a:lnSpc>
                <a:spcPct val="10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Look in A, find address (A) and look there for operand.</a:t>
            </a:r>
            <a:endParaRPr/>
          </a:p>
          <a:p>
            <a:pPr indent="-342900" lvl="0" marL="34290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parentheses are to be interpreted as meaning “contents of”</a:t>
            </a:r>
            <a:endParaRPr/>
          </a:p>
          <a:p>
            <a:pPr indent="-342900" lvl="0" marL="34290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ADD AX, (A)</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Add contents of cell pointed to by contents of A to accumulator</a:t>
            </a:r>
            <a:endParaRPr/>
          </a:p>
          <a:p>
            <a:pPr indent="-133350" lvl="1" marL="742950" rtl="0" algn="just">
              <a:lnSpc>
                <a:spcPct val="100000"/>
              </a:lnSpc>
              <a:spcBef>
                <a:spcPts val="48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152400" lvl="0" marL="342900" rtl="0" algn="just">
              <a:lnSpc>
                <a:spcPct val="100000"/>
              </a:lnSpc>
              <a:spcBef>
                <a:spcPts val="480"/>
              </a:spcBef>
              <a:spcAft>
                <a:spcPts val="0"/>
              </a:spcAft>
              <a:buClr>
                <a:srgbClr val="000099"/>
              </a:buClr>
              <a:buSzPts val="3000"/>
              <a:buFont typeface="Noto Sans Symbols"/>
              <a:buNone/>
            </a:pPr>
            <a:r>
              <a:t/>
            </a:r>
            <a:endParaRPr b="0" i="0" sz="2400" u="none">
              <a:solidFill>
                <a:schemeClr val="dk1"/>
              </a:solidFill>
              <a:latin typeface="Times New Roman"/>
              <a:ea typeface="Times New Roman"/>
              <a:cs typeface="Times New Roman"/>
              <a:sym typeface="Times New Roman"/>
            </a:endParaRPr>
          </a:p>
          <a:p>
            <a:pPr indent="-190500" lvl="0" marL="342900" rtl="0" algn="l">
              <a:spcBef>
                <a:spcPts val="48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9"/>
          <p:cNvPicPr preferRelativeResize="0"/>
          <p:nvPr/>
        </p:nvPicPr>
        <p:blipFill rotWithShape="1">
          <a:blip r:embed="rId3">
            <a:alphaModFix/>
          </a:blip>
          <a:srcRect b="0" l="0" r="0" t="0"/>
          <a:stretch/>
        </p:blipFill>
        <p:spPr>
          <a:xfrm>
            <a:off x="1828800" y="1219200"/>
            <a:ext cx="4808537" cy="4824412"/>
          </a:xfrm>
          <a:prstGeom prst="rect">
            <a:avLst/>
          </a:prstGeom>
          <a:noFill/>
          <a:ln>
            <a:noFill/>
          </a:ln>
        </p:spPr>
      </p:pic>
      <p:sp>
        <p:nvSpPr>
          <p:cNvPr id="166" name="Google Shape;166;p9"/>
          <p:cNvSpPr txBox="1"/>
          <p:nvPr/>
        </p:nvSpPr>
        <p:spPr>
          <a:xfrm>
            <a:off x="0" y="0"/>
            <a:ext cx="7467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omic Sans MS"/>
              <a:buNone/>
            </a:pPr>
            <a:r>
              <a:rPr b="0" i="0" lang="en-US" sz="3200" u="none">
                <a:solidFill>
                  <a:srgbClr val="000099"/>
                </a:solidFill>
                <a:latin typeface="Comic Sans MS"/>
                <a:ea typeface="Comic Sans MS"/>
                <a:cs typeface="Comic Sans MS"/>
                <a:sym typeface="Comic Sans MS"/>
              </a:rPr>
              <a:t>Indirect Addressing Diagram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0"/>
          <p:cNvSpPr txBox="1"/>
          <p:nvPr/>
        </p:nvSpPr>
        <p:spPr>
          <a:xfrm>
            <a:off x="0" y="0"/>
            <a:ext cx="9144000" cy="1077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omic Sans MS"/>
              <a:buNone/>
            </a:pPr>
            <a:r>
              <a:rPr b="0" i="0" lang="en-US" sz="3200" u="none">
                <a:solidFill>
                  <a:srgbClr val="000099"/>
                </a:solidFill>
                <a:latin typeface="Comic Sans MS"/>
                <a:ea typeface="Comic Sans MS"/>
                <a:cs typeface="Comic Sans MS"/>
                <a:sym typeface="Comic Sans MS"/>
              </a:rPr>
              <a:t>Indirect Addressing Advantages and Disadvantages</a:t>
            </a:r>
            <a:endParaRPr/>
          </a:p>
        </p:txBody>
      </p:sp>
      <p:sp>
        <p:nvSpPr>
          <p:cNvPr id="172" name="Google Shape;172;p10"/>
          <p:cNvSpPr txBox="1"/>
          <p:nvPr>
            <p:ph idx="1" type="body"/>
          </p:nvPr>
        </p:nvSpPr>
        <p:spPr>
          <a:xfrm>
            <a:off x="381000" y="1524000"/>
            <a:ext cx="8178800" cy="2819400"/>
          </a:xfrm>
          <a:prstGeom prst="rect">
            <a:avLst/>
          </a:prstGeom>
          <a:noFill/>
          <a:ln>
            <a:noFill/>
          </a:ln>
        </p:spPr>
        <p:txBody>
          <a:bodyPr anchorCtr="0" anchor="t" bIns="44450" lIns="90475" spcFirstLastPara="1" rIns="90475" wrap="square" tIns="44450">
            <a:noAutofit/>
          </a:bodyPr>
          <a:lstStyle/>
          <a:p>
            <a:pPr indent="-342900" lvl="0" marL="34290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Large address space </a:t>
            </a:r>
            <a:endParaRPr/>
          </a:p>
          <a:p>
            <a:pPr indent="-342900" lvl="0" marL="34290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May be nested, multilevel, cascaded</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e.g. EA = (((A)))</a:t>
            </a:r>
            <a:endParaRPr/>
          </a:p>
          <a:p>
            <a:pPr indent="-228600" lvl="2" marL="114300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Draw the diagram yourself</a:t>
            </a:r>
            <a:endParaRPr/>
          </a:p>
          <a:p>
            <a:pPr indent="-342900" lvl="0" marL="34290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Multiple memory accesses to find operand</a:t>
            </a:r>
            <a:endParaRPr/>
          </a:p>
          <a:p>
            <a:pPr indent="-342900" lvl="0" marL="34290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Hence slower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1"/>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omic Sans MS"/>
              <a:buNone/>
            </a:pPr>
            <a:r>
              <a:rPr b="0" i="0" lang="en-US" sz="3200" u="none">
                <a:solidFill>
                  <a:srgbClr val="000099"/>
                </a:solidFill>
                <a:latin typeface="Comic Sans MS"/>
                <a:ea typeface="Comic Sans MS"/>
                <a:cs typeface="Comic Sans MS"/>
                <a:sym typeface="Comic Sans MS"/>
              </a:rPr>
              <a:t>Register Addressing </a:t>
            </a:r>
            <a:endParaRPr/>
          </a:p>
        </p:txBody>
      </p:sp>
      <p:sp>
        <p:nvSpPr>
          <p:cNvPr id="178" name="Google Shape;178;p11"/>
          <p:cNvSpPr txBox="1"/>
          <p:nvPr>
            <p:ph idx="1" type="body"/>
          </p:nvPr>
        </p:nvSpPr>
        <p:spPr>
          <a:xfrm>
            <a:off x="381000" y="609600"/>
            <a:ext cx="8178800" cy="2286000"/>
          </a:xfrm>
          <a:prstGeom prst="rect">
            <a:avLst/>
          </a:prstGeom>
          <a:noFill/>
          <a:ln>
            <a:noFill/>
          </a:ln>
        </p:spPr>
        <p:txBody>
          <a:bodyPr anchorCtr="0" anchor="t" bIns="44450" lIns="90475" spcFirstLastPara="1" rIns="90475" wrap="square" tIns="44450">
            <a:noAutofit/>
          </a:bodyPr>
          <a:lstStyle/>
          <a:p>
            <a:pPr indent="-342900" lvl="0" marL="34290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 register addressing mode, the instruction specifies the name of the register in which the data is available.</a:t>
            </a:r>
            <a:endParaRPr/>
          </a:p>
          <a:p>
            <a:pPr indent="-342900" lvl="0" marL="34290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EA=R</a:t>
            </a:r>
            <a:endParaRPr/>
          </a:p>
          <a:p>
            <a:pPr indent="-342900" lvl="0" marL="34290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Direct addressing  </a:t>
            </a:r>
            <a:endParaRPr/>
          </a:p>
          <a:p>
            <a:pPr indent="-342900" lvl="0" marL="34290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Example </a:t>
            </a:r>
            <a:endParaRPr b="0" i="0" sz="2400" u="none">
              <a:solidFill>
                <a:schemeClr val="dk2"/>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 </a:t>
            </a:r>
            <a:r>
              <a:rPr b="0" i="0" lang="en-US" sz="2400" u="none">
                <a:solidFill>
                  <a:schemeClr val="dk1"/>
                </a:solidFill>
                <a:latin typeface="Times New Roman"/>
                <a:ea typeface="Times New Roman"/>
                <a:cs typeface="Times New Roman"/>
                <a:sym typeface="Times New Roman"/>
              </a:rPr>
              <a:t>MOV A, B - Move the content of B register to A register</a:t>
            </a:r>
            <a:endParaRPr/>
          </a:p>
          <a:p>
            <a:pPr indent="-342900" lvl="0" marL="342900" rtl="0" algn="l">
              <a:lnSpc>
                <a:spcPct val="10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a:t>
            </a:r>
            <a:endParaRPr/>
          </a:p>
        </p:txBody>
      </p:sp>
      <p:pic>
        <p:nvPicPr>
          <p:cNvPr id="179" name="Google Shape;179;p11"/>
          <p:cNvPicPr preferRelativeResize="0"/>
          <p:nvPr/>
        </p:nvPicPr>
        <p:blipFill rotWithShape="1">
          <a:blip r:embed="rId3">
            <a:alphaModFix/>
          </a:blip>
          <a:srcRect b="0" l="0" r="0" t="0"/>
          <a:stretch/>
        </p:blipFill>
        <p:spPr>
          <a:xfrm>
            <a:off x="2057400" y="3373437"/>
            <a:ext cx="3810000" cy="325913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2"/>
          <p:cNvSpPr txBox="1"/>
          <p:nvPr/>
        </p:nvSpPr>
        <p:spPr>
          <a:xfrm>
            <a:off x="0" y="0"/>
            <a:ext cx="9144000" cy="1077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omic Sans MS"/>
              <a:buNone/>
            </a:pPr>
            <a:r>
              <a:rPr b="0" i="0" lang="en-US" sz="3200" u="none">
                <a:solidFill>
                  <a:srgbClr val="000099"/>
                </a:solidFill>
                <a:latin typeface="Comic Sans MS"/>
                <a:ea typeface="Comic Sans MS"/>
                <a:cs typeface="Comic Sans MS"/>
                <a:sym typeface="Comic Sans MS"/>
              </a:rPr>
              <a:t>Register Addressing advantages and disadvantages  </a:t>
            </a:r>
            <a:endParaRPr/>
          </a:p>
        </p:txBody>
      </p:sp>
      <p:sp>
        <p:nvSpPr>
          <p:cNvPr id="185" name="Google Shape;185;p12"/>
          <p:cNvSpPr txBox="1"/>
          <p:nvPr>
            <p:ph idx="1" type="body"/>
          </p:nvPr>
        </p:nvSpPr>
        <p:spPr>
          <a:xfrm>
            <a:off x="457200" y="1447800"/>
            <a:ext cx="8178800" cy="17526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2800"/>
              <a:buFont typeface="Times New Roman"/>
              <a:buChar char="•"/>
            </a:pPr>
            <a:r>
              <a:rPr b="0" i="0" lang="en-US" sz="2800" u="none">
                <a:solidFill>
                  <a:schemeClr val="dk2"/>
                </a:solidFill>
                <a:latin typeface="Times New Roman"/>
                <a:ea typeface="Times New Roman"/>
                <a:cs typeface="Times New Roman"/>
                <a:sym typeface="Times New Roman"/>
              </a:rPr>
              <a:t>No memory access</a:t>
            </a:r>
            <a:endParaRPr/>
          </a:p>
          <a:p>
            <a:pPr indent="-342900" lvl="0" marL="342900" rtl="0" algn="l">
              <a:lnSpc>
                <a:spcPct val="100000"/>
              </a:lnSpc>
              <a:spcBef>
                <a:spcPts val="560"/>
              </a:spcBef>
              <a:spcAft>
                <a:spcPts val="0"/>
              </a:spcAft>
              <a:buClr>
                <a:schemeClr val="dk2"/>
              </a:buClr>
              <a:buSzPts val="2800"/>
              <a:buFont typeface="Times New Roman"/>
              <a:buChar char="•"/>
            </a:pPr>
            <a:r>
              <a:rPr b="0" i="0" lang="en-US" sz="2800" u="none">
                <a:solidFill>
                  <a:schemeClr val="dk2"/>
                </a:solidFill>
                <a:latin typeface="Times New Roman"/>
                <a:ea typeface="Times New Roman"/>
                <a:cs typeface="Times New Roman"/>
                <a:sym typeface="Times New Roman"/>
              </a:rPr>
              <a:t>Very fast execution</a:t>
            </a:r>
            <a:endParaRPr/>
          </a:p>
          <a:p>
            <a:pPr indent="-342900" lvl="0" marL="342900" rtl="0" algn="l">
              <a:lnSpc>
                <a:spcPct val="100000"/>
              </a:lnSpc>
              <a:spcBef>
                <a:spcPts val="560"/>
              </a:spcBef>
              <a:spcAft>
                <a:spcPts val="0"/>
              </a:spcAft>
              <a:buClr>
                <a:schemeClr val="dk2"/>
              </a:buClr>
              <a:buSzPts val="2800"/>
              <a:buFont typeface="Times New Roman"/>
              <a:buChar char="•"/>
            </a:pPr>
            <a:r>
              <a:rPr b="0" i="0" lang="en-US" sz="2800" u="none">
                <a:solidFill>
                  <a:schemeClr val="dk2"/>
                </a:solidFill>
                <a:latin typeface="Times New Roman"/>
                <a:ea typeface="Times New Roman"/>
                <a:cs typeface="Times New Roman"/>
                <a:sym typeface="Times New Roman"/>
              </a:rPr>
              <a:t>Very limited address space</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2"/>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3"/>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omic Sans MS"/>
              <a:buNone/>
            </a:pPr>
            <a:r>
              <a:rPr b="0" i="0" lang="en-US" sz="3200" u="none">
                <a:solidFill>
                  <a:srgbClr val="000099"/>
                </a:solidFill>
                <a:latin typeface="Comic Sans MS"/>
                <a:ea typeface="Comic Sans MS"/>
                <a:cs typeface="Comic Sans MS"/>
                <a:sym typeface="Comic Sans MS"/>
              </a:rPr>
              <a:t>Register Indirect Addressing</a:t>
            </a:r>
            <a:endParaRPr/>
          </a:p>
        </p:txBody>
      </p:sp>
      <p:sp>
        <p:nvSpPr>
          <p:cNvPr id="191" name="Google Shape;191;p13"/>
          <p:cNvSpPr txBox="1"/>
          <p:nvPr/>
        </p:nvSpPr>
        <p:spPr>
          <a:xfrm>
            <a:off x="0" y="609600"/>
            <a:ext cx="9144000" cy="554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t/>
            </a:r>
            <a:endParaRPr b="0" i="0" sz="18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 register indirect addressing mode, the instruction specifies the name of the register in which the address of the data is available. Here the data will be in memory and the address will be in the register pair. </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EA = (R)</a:t>
            </a:r>
            <a:endParaRPr/>
          </a:p>
          <a:p>
            <a:pPr indent="0" lvl="0" marL="0" marR="0" rtl="0" algn="l">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Operand is in memory cell pointed to by contents of register R</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Example: </a:t>
            </a:r>
            <a:endParaRPr/>
          </a:p>
          <a:p>
            <a:pPr indent="0" lvl="0" marL="0" marR="0" rtl="0" algn="l">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MOV A, M </a:t>
            </a:r>
            <a:endParaRPr/>
          </a:p>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 Move data from memory location specified by H-L pair to accumulator.</a:t>
            </a:r>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14"/>
          <p:cNvPicPr preferRelativeResize="0"/>
          <p:nvPr/>
        </p:nvPicPr>
        <p:blipFill rotWithShape="1">
          <a:blip r:embed="rId3">
            <a:alphaModFix/>
          </a:blip>
          <a:srcRect b="0" l="0" r="0" t="0"/>
          <a:stretch/>
        </p:blipFill>
        <p:spPr>
          <a:xfrm>
            <a:off x="2057400" y="1143000"/>
            <a:ext cx="4949825" cy="4979987"/>
          </a:xfrm>
          <a:prstGeom prst="rect">
            <a:avLst/>
          </a:prstGeom>
          <a:noFill/>
          <a:ln>
            <a:noFill/>
          </a:ln>
        </p:spPr>
      </p:pic>
      <p:sp>
        <p:nvSpPr>
          <p:cNvPr id="197" name="Google Shape;197;p14"/>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omic Sans MS"/>
              <a:buNone/>
            </a:pPr>
            <a:r>
              <a:rPr b="0" i="0" lang="en-US" sz="3200" u="none">
                <a:solidFill>
                  <a:srgbClr val="000099"/>
                </a:solidFill>
                <a:latin typeface="Comic Sans MS"/>
                <a:ea typeface="Comic Sans MS"/>
                <a:cs typeface="Comic Sans MS"/>
                <a:sym typeface="Comic Sans MS"/>
              </a:rPr>
              <a:t>Register Indirect Addressing Diagram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5"/>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omic Sans MS"/>
              <a:buNone/>
            </a:pPr>
            <a:r>
              <a:rPr b="0" i="0" lang="en-US" sz="3200" u="none">
                <a:solidFill>
                  <a:srgbClr val="000099"/>
                </a:solidFill>
                <a:latin typeface="Comic Sans MS"/>
                <a:ea typeface="Comic Sans MS"/>
                <a:cs typeface="Comic Sans MS"/>
                <a:sym typeface="Comic Sans MS"/>
              </a:rPr>
              <a:t>Displacement Addressing</a:t>
            </a:r>
            <a:endParaRPr/>
          </a:p>
        </p:txBody>
      </p:sp>
      <p:sp>
        <p:nvSpPr>
          <p:cNvPr id="203" name="Google Shape;203;p15"/>
          <p:cNvSpPr txBox="1"/>
          <p:nvPr/>
        </p:nvSpPr>
        <p:spPr>
          <a:xfrm>
            <a:off x="0" y="762000"/>
            <a:ext cx="9144000" cy="4894262"/>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very powerful mode of addressing combines the capabilities of direct addressing and register indirect addressing. </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It is known by a variety of names depending on the context of its use, but the basic mechanism is the same. We will refer to this as </a:t>
            </a:r>
            <a:r>
              <a:rPr b="0" i="1" lang="en-US" sz="2400" u="none">
                <a:solidFill>
                  <a:schemeClr val="dk1"/>
                </a:solidFill>
                <a:latin typeface="Times New Roman"/>
                <a:ea typeface="Times New Roman"/>
                <a:cs typeface="Times New Roman"/>
                <a:sym typeface="Times New Roman"/>
              </a:rPr>
              <a:t>displacement addressing.</a:t>
            </a:r>
            <a:endParaRPr/>
          </a:p>
          <a:p>
            <a:pPr indent="0" lvl="0" marL="0" marR="0" rtl="0" algn="just">
              <a:lnSpc>
                <a:spcPct val="100000"/>
              </a:lnSpc>
              <a:spcBef>
                <a:spcPts val="0"/>
              </a:spcBef>
              <a:spcAft>
                <a:spcPts val="0"/>
              </a:spcAft>
              <a:buClr>
                <a:schemeClr val="dk1"/>
              </a:buClr>
              <a:buSzPts val="2400"/>
              <a:buFont typeface="Times New Roman"/>
              <a:buNone/>
            </a:pPr>
            <a:r>
              <a:t/>
            </a:r>
            <a:endParaRPr b="0" i="1" sz="2400" u="non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400"/>
              <a:buFont typeface="Times New Roman"/>
              <a:buNone/>
            </a:pPr>
            <a:r>
              <a:t/>
            </a:r>
            <a:endParaRPr b="0" i="1" sz="2400" u="non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400"/>
              <a:buFont typeface="Times New Roman"/>
              <a:buNone/>
            </a:pPr>
            <a:r>
              <a:t/>
            </a:r>
            <a:endParaRPr b="0" i="1"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Effective address=start address + displacement</a:t>
            </a:r>
            <a:endParaRPr/>
          </a:p>
          <a:p>
            <a:pPr indent="0" lvl="0" marL="0" marR="0" rtl="0" algn="l">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Displacement addressing requires that the instruction have two address fields, at least one of which is explicit</a:t>
            </a:r>
            <a:endParaRPr/>
          </a:p>
        </p:txBody>
      </p:sp>
      <p:sp>
        <p:nvSpPr>
          <p:cNvPr id="204" name="Google Shape;204;p15"/>
          <p:cNvSpPr txBox="1"/>
          <p:nvPr/>
        </p:nvSpPr>
        <p:spPr>
          <a:xfrm>
            <a:off x="3124200" y="3200400"/>
            <a:ext cx="21336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EA = A + (R)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6"/>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omic Sans MS"/>
              <a:buNone/>
            </a:pPr>
            <a:r>
              <a:rPr b="0" i="0" lang="en-US" sz="3200" u="none">
                <a:solidFill>
                  <a:srgbClr val="000099"/>
                </a:solidFill>
                <a:latin typeface="Comic Sans MS"/>
                <a:ea typeface="Comic Sans MS"/>
                <a:cs typeface="Comic Sans MS"/>
                <a:sym typeface="Comic Sans MS"/>
              </a:rPr>
              <a:t>Displacement Addressing Cont.</a:t>
            </a:r>
            <a:endParaRPr/>
          </a:p>
        </p:txBody>
      </p:sp>
      <p:sp>
        <p:nvSpPr>
          <p:cNvPr id="210" name="Google Shape;210;p16"/>
          <p:cNvSpPr txBox="1"/>
          <p:nvPr/>
        </p:nvSpPr>
        <p:spPr>
          <a:xfrm>
            <a:off x="0" y="685800"/>
            <a:ext cx="9144000" cy="1938337"/>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value contained in one address field (value = A) is used directly.</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other address field, or an implicit reference based on opcode, refers to a register whose contents are added to A to produce the effective address.</a:t>
            </a:r>
            <a:endParaRPr/>
          </a:p>
        </p:txBody>
      </p:sp>
      <p:pic>
        <p:nvPicPr>
          <p:cNvPr id="211" name="Google Shape;211;p16"/>
          <p:cNvPicPr preferRelativeResize="0"/>
          <p:nvPr/>
        </p:nvPicPr>
        <p:blipFill rotWithShape="1">
          <a:blip r:embed="rId3">
            <a:alphaModFix/>
          </a:blip>
          <a:srcRect b="0" l="0" r="0" t="0"/>
          <a:stretch/>
        </p:blipFill>
        <p:spPr>
          <a:xfrm>
            <a:off x="2362200" y="2514600"/>
            <a:ext cx="3721100" cy="3733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7"/>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omic Sans MS"/>
              <a:buNone/>
            </a:pPr>
            <a:r>
              <a:rPr b="0" i="0" lang="en-US" sz="3200" u="none">
                <a:solidFill>
                  <a:srgbClr val="000099"/>
                </a:solidFill>
                <a:latin typeface="Comic Sans MS"/>
                <a:ea typeface="Comic Sans MS"/>
                <a:cs typeface="Comic Sans MS"/>
                <a:sym typeface="Comic Sans MS"/>
              </a:rPr>
              <a:t>Displacement Addressing Diagram </a:t>
            </a:r>
            <a:endParaRPr/>
          </a:p>
        </p:txBody>
      </p:sp>
      <p:pic>
        <p:nvPicPr>
          <p:cNvPr id="217" name="Google Shape;217;p17"/>
          <p:cNvPicPr preferRelativeResize="0"/>
          <p:nvPr/>
        </p:nvPicPr>
        <p:blipFill rotWithShape="1">
          <a:blip r:embed="rId3">
            <a:alphaModFix/>
          </a:blip>
          <a:srcRect b="0" l="0" r="0" t="0"/>
          <a:stretch/>
        </p:blipFill>
        <p:spPr>
          <a:xfrm>
            <a:off x="1981200" y="1295400"/>
            <a:ext cx="4449762" cy="44640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8"/>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omic Sans MS"/>
              <a:buNone/>
            </a:pPr>
            <a:r>
              <a:rPr b="0" i="0" lang="en-US" sz="3200" u="none">
                <a:solidFill>
                  <a:srgbClr val="000099"/>
                </a:solidFill>
                <a:latin typeface="Comic Sans MS"/>
                <a:ea typeface="Comic Sans MS"/>
                <a:cs typeface="Comic Sans MS"/>
                <a:sym typeface="Comic Sans MS"/>
              </a:rPr>
              <a:t>Types of Displacement Addressing  </a:t>
            </a:r>
            <a:endParaRPr/>
          </a:p>
        </p:txBody>
      </p:sp>
      <p:sp>
        <p:nvSpPr>
          <p:cNvPr id="223" name="Google Shape;223;p18"/>
          <p:cNvSpPr txBox="1"/>
          <p:nvPr/>
        </p:nvSpPr>
        <p:spPr>
          <a:xfrm>
            <a:off x="228600" y="1219200"/>
            <a:ext cx="4572000" cy="2246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 </a:t>
            </a:r>
            <a:r>
              <a:rPr b="0" i="0" lang="en-US" sz="2800" u="none">
                <a:solidFill>
                  <a:schemeClr val="dk1"/>
                </a:solidFill>
                <a:latin typeface="Times New Roman"/>
                <a:ea typeface="Times New Roman"/>
                <a:cs typeface="Times New Roman"/>
                <a:sym typeface="Times New Roman"/>
              </a:rPr>
              <a:t>Relative addressing</a:t>
            </a:r>
            <a:endParaRPr/>
          </a:p>
          <a:p>
            <a:pPr indent="0" lvl="0" marL="0" marR="0" rtl="0" algn="l">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 Base-register addressing</a:t>
            </a:r>
            <a:endParaRPr/>
          </a:p>
          <a:p>
            <a:pPr indent="0" lvl="0" marL="0" marR="0" rtl="0" algn="l">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 Indexing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9"/>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omic Sans MS"/>
              <a:buNone/>
            </a:pPr>
            <a:r>
              <a:rPr b="0" i="0" lang="en-US" sz="3200" u="none">
                <a:solidFill>
                  <a:srgbClr val="000099"/>
                </a:solidFill>
                <a:latin typeface="Comic Sans MS"/>
                <a:ea typeface="Comic Sans MS"/>
                <a:cs typeface="Comic Sans MS"/>
                <a:sym typeface="Comic Sans MS"/>
              </a:rPr>
              <a:t>Relative Addressing  </a:t>
            </a:r>
            <a:endParaRPr/>
          </a:p>
        </p:txBody>
      </p:sp>
      <p:sp>
        <p:nvSpPr>
          <p:cNvPr id="229" name="Google Shape;229;p19"/>
          <p:cNvSpPr txBox="1"/>
          <p:nvPr/>
        </p:nvSpPr>
        <p:spPr>
          <a:xfrm>
            <a:off x="0" y="1219200"/>
            <a:ext cx="9144000" cy="4154487"/>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For relative addressing, also called PC-relative addressing, the implicitly referenced register is the program counter (PC). </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That is, the next instruction address is added to the address field to produce the EA. </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Typically, the address field is treated as a two’s complement number for this operation. </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Thus, the effective address is a displacement relative to the address of the instruction.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20"/>
          <p:cNvPicPr preferRelativeResize="0"/>
          <p:nvPr/>
        </p:nvPicPr>
        <p:blipFill rotWithShape="1">
          <a:blip r:embed="rId3">
            <a:alphaModFix/>
          </a:blip>
          <a:srcRect b="0" l="0" r="0" t="0"/>
          <a:stretch/>
        </p:blipFill>
        <p:spPr>
          <a:xfrm>
            <a:off x="1447800" y="1524000"/>
            <a:ext cx="6251575" cy="3733800"/>
          </a:xfrm>
          <a:prstGeom prst="rect">
            <a:avLst/>
          </a:prstGeom>
          <a:noFill/>
          <a:ln>
            <a:noFill/>
          </a:ln>
        </p:spPr>
      </p:pic>
      <p:sp>
        <p:nvSpPr>
          <p:cNvPr id="235" name="Google Shape;235;p20"/>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omic Sans MS"/>
              <a:buNone/>
            </a:pPr>
            <a:r>
              <a:rPr b="0" i="0" lang="en-US" sz="3200" u="none">
                <a:solidFill>
                  <a:srgbClr val="000099"/>
                </a:solidFill>
                <a:latin typeface="Comic Sans MS"/>
                <a:ea typeface="Comic Sans MS"/>
                <a:cs typeface="Comic Sans MS"/>
                <a:sym typeface="Comic Sans MS"/>
              </a:rPr>
              <a:t>Relative Addressing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1"/>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omic Sans MS"/>
              <a:buNone/>
            </a:pPr>
            <a:r>
              <a:rPr b="0" i="0" lang="en-US" sz="3200" u="none">
                <a:solidFill>
                  <a:srgbClr val="000099"/>
                </a:solidFill>
                <a:latin typeface="Comic Sans MS"/>
                <a:ea typeface="Comic Sans MS"/>
                <a:cs typeface="Comic Sans MS"/>
                <a:sym typeface="Comic Sans MS"/>
              </a:rPr>
              <a:t>Base Register Addressing  </a:t>
            </a:r>
            <a:endParaRPr/>
          </a:p>
        </p:txBody>
      </p:sp>
      <p:sp>
        <p:nvSpPr>
          <p:cNvPr id="241" name="Google Shape;241;p21"/>
          <p:cNvSpPr txBox="1"/>
          <p:nvPr/>
        </p:nvSpPr>
        <p:spPr>
          <a:xfrm>
            <a:off x="0" y="1066800"/>
            <a:ext cx="9144000" cy="3101975"/>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The referenced register contains a main memory address, and the address field contains a displacement (usually an unsigned integer representation) from that address.</a:t>
            </a:r>
            <a:endParaRPr/>
          </a:p>
          <a:p>
            <a:pPr indent="0" lvl="0" marL="0" marR="0" rtl="0" algn="just">
              <a:lnSpc>
                <a:spcPct val="100000"/>
              </a:lnSpc>
              <a:spcBef>
                <a:spcPts val="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152400" lvl="0" marL="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Segment registers in 80x86</a:t>
            </a:r>
            <a:endParaRPr/>
          </a:p>
          <a:p>
            <a:pPr indent="0" lvl="0" marL="0" marR="0" rtl="0" algn="l">
              <a:lnSpc>
                <a:spcPct val="100000"/>
              </a:lnSpc>
              <a:spcBef>
                <a:spcPts val="480"/>
              </a:spcBef>
              <a:spcAft>
                <a:spcPts val="0"/>
              </a:spcAft>
              <a:buClr>
                <a:schemeClr val="dk1"/>
              </a:buClr>
              <a:buSzPts val="2400"/>
              <a:buFont typeface="Times New Roman"/>
              <a:buNone/>
            </a:pPr>
            <a:r>
              <a:t/>
            </a:r>
            <a:endParaRPr b="1" i="0" sz="2400" u="none">
              <a:solidFill>
                <a:schemeClr val="dk1"/>
              </a:solidFill>
              <a:latin typeface="Arial Rounded"/>
              <a:ea typeface="Arial Rounded"/>
              <a:cs typeface="Arial Rounded"/>
              <a:sym typeface="Arial Rounded"/>
            </a:endParaRPr>
          </a:p>
          <a:p>
            <a:pPr indent="0" lvl="0" marL="0" marR="0" rtl="0" algn="just">
              <a:lnSpc>
                <a:spcPct val="100000"/>
              </a:lnSpc>
              <a:spcBef>
                <a:spcPts val="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2" name="Google Shape;242;p21"/>
          <p:cNvSpPr txBox="1"/>
          <p:nvPr/>
        </p:nvSpPr>
        <p:spPr>
          <a:xfrm>
            <a:off x="457200" y="2667000"/>
            <a:ext cx="7391400" cy="40386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None/>
            </a:pPr>
            <a:r>
              <a:t/>
            </a:r>
            <a:endParaRPr b="0" i="0" sz="1800" u="none">
              <a:solidFill>
                <a:schemeClr val="dk1"/>
              </a:solidFill>
              <a:latin typeface="Times New Roman"/>
              <a:ea typeface="Times New Roman"/>
              <a:cs typeface="Times New Roman"/>
              <a:sym typeface="Times New Roman"/>
            </a:endParaRPr>
          </a:p>
        </p:txBody>
      </p:sp>
      <p:pic>
        <p:nvPicPr>
          <p:cNvPr id="243" name="Google Shape;243;p21"/>
          <p:cNvPicPr preferRelativeResize="0"/>
          <p:nvPr/>
        </p:nvPicPr>
        <p:blipFill rotWithShape="1">
          <a:blip r:embed="rId3">
            <a:alphaModFix/>
          </a:blip>
          <a:srcRect b="0" l="0" r="0" t="0"/>
          <a:stretch/>
        </p:blipFill>
        <p:spPr>
          <a:xfrm>
            <a:off x="838200" y="3276600"/>
            <a:ext cx="7566025" cy="26384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2"/>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Comic Sans MS"/>
              <a:buNone/>
            </a:pPr>
            <a:r>
              <a:rPr b="0" i="0" lang="en-US" sz="3200" u="none">
                <a:solidFill>
                  <a:schemeClr val="accent2"/>
                </a:solidFill>
                <a:latin typeface="Comic Sans MS"/>
                <a:ea typeface="Comic Sans MS"/>
                <a:cs typeface="Comic Sans MS"/>
                <a:sym typeface="Comic Sans MS"/>
              </a:rPr>
              <a:t>Indexing</a:t>
            </a:r>
            <a:endParaRPr/>
          </a:p>
        </p:txBody>
      </p:sp>
      <p:sp>
        <p:nvSpPr>
          <p:cNvPr id="249" name="Google Shape;249;p22"/>
          <p:cNvSpPr txBox="1"/>
          <p:nvPr/>
        </p:nvSpPr>
        <p:spPr>
          <a:xfrm>
            <a:off x="0" y="914400"/>
            <a:ext cx="9144000" cy="4524375"/>
          </a:xfrm>
          <a:prstGeom prst="rect">
            <a:avLst/>
          </a:prstGeom>
          <a:noFill/>
          <a:ln>
            <a:noFill/>
          </a:ln>
        </p:spPr>
        <p:txBody>
          <a:bodyPr anchorCtr="0" anchor="t" bIns="45700" lIns="91425" spcFirstLastPara="1" rIns="91425" wrap="square" tIns="45700">
            <a:spAutoFit/>
          </a:bodyPr>
          <a:lstStyle/>
          <a:p>
            <a:pPr indent="-152400" lvl="0" marL="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address field references a main memory address, and the referenced register contains a positive displacement from that address. </a:t>
            </a:r>
            <a:endParaRPr/>
          </a:p>
          <a:p>
            <a:pPr indent="0" lvl="0" marL="0" marR="0" rtl="0" algn="l">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Note that this usage is just the opposite of the interpretation for base register addressing. </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Of course, it is more than just a matter of user interpretation. Because the address field is considered to be a memory address in indexing, it generally contains more bits than an address field in a comparable base-register instruction.</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Good for accessing arrays (Read Yourself)</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3"/>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Comic Sans MS"/>
              <a:buNone/>
            </a:pPr>
            <a:r>
              <a:rPr b="0" i="0" lang="en-US" sz="3200" u="none">
                <a:solidFill>
                  <a:schemeClr val="accent2"/>
                </a:solidFill>
                <a:latin typeface="Comic Sans MS"/>
                <a:ea typeface="Comic Sans MS"/>
                <a:cs typeface="Comic Sans MS"/>
                <a:sym typeface="Comic Sans MS"/>
              </a:rPr>
              <a:t>Stack Addressing</a:t>
            </a:r>
            <a:endParaRPr/>
          </a:p>
        </p:txBody>
      </p:sp>
      <p:sp>
        <p:nvSpPr>
          <p:cNvPr id="255" name="Google Shape;255;p23"/>
          <p:cNvSpPr txBox="1"/>
          <p:nvPr/>
        </p:nvSpPr>
        <p:spPr>
          <a:xfrm>
            <a:off x="0" y="838200"/>
            <a:ext cx="9144000" cy="5262562"/>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stack is a linear array of locations. It is sometimes referred to as a pushdown list or last-in-first-out queue. </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stack is a reserved block of locations.</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Items are appended to the top of the stack so that, at any given time, the block is partially filled. </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Associated with the stack is a pointer whose value is the address of the top of the stack. </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stack pointer is maintained in a register. Thus, references to stack locations in memory are in fact register indirect addresses.</a:t>
            </a:r>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4"/>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Comic Sans MS"/>
              <a:buNone/>
            </a:pPr>
            <a:r>
              <a:rPr b="0" i="0" lang="en-US" sz="3200" u="none">
                <a:solidFill>
                  <a:schemeClr val="accent2"/>
                </a:solidFill>
                <a:latin typeface="Comic Sans MS"/>
                <a:ea typeface="Comic Sans MS"/>
                <a:cs typeface="Comic Sans MS"/>
                <a:sym typeface="Comic Sans MS"/>
              </a:rPr>
              <a:t>Cont.</a:t>
            </a:r>
            <a:endParaRPr/>
          </a:p>
        </p:txBody>
      </p:sp>
      <p:pic>
        <p:nvPicPr>
          <p:cNvPr id="261" name="Google Shape;261;p24"/>
          <p:cNvPicPr preferRelativeResize="0"/>
          <p:nvPr/>
        </p:nvPicPr>
        <p:blipFill rotWithShape="1">
          <a:blip r:embed="rId3">
            <a:alphaModFix/>
          </a:blip>
          <a:srcRect b="0" l="0" r="0" t="0"/>
          <a:stretch/>
        </p:blipFill>
        <p:spPr>
          <a:xfrm>
            <a:off x="1219200" y="2971800"/>
            <a:ext cx="5884862" cy="3419475"/>
          </a:xfrm>
          <a:prstGeom prst="rect">
            <a:avLst/>
          </a:prstGeom>
          <a:noFill/>
          <a:ln>
            <a:noFill/>
          </a:ln>
        </p:spPr>
      </p:pic>
      <p:sp>
        <p:nvSpPr>
          <p:cNvPr id="262" name="Google Shape;262;p24"/>
          <p:cNvSpPr txBox="1"/>
          <p:nvPr/>
        </p:nvSpPr>
        <p:spPr>
          <a:xfrm>
            <a:off x="304800" y="685800"/>
            <a:ext cx="5715000" cy="1570037"/>
          </a:xfrm>
          <a:prstGeom prst="rect">
            <a:avLst/>
          </a:prstGeom>
          <a:noFill/>
          <a:ln>
            <a:noFill/>
          </a:ln>
        </p:spPr>
        <p:txBody>
          <a:bodyPr anchorCtr="0" anchor="t" bIns="45700" lIns="91425" spcFirstLastPara="1" rIns="91425" wrap="square" tIns="45700">
            <a:spAutoFit/>
          </a:bodyPr>
          <a:lstStyle/>
          <a:p>
            <a:pPr indent="-152400" lvl="0" marL="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Operand is (implicitly) on top of stack</a:t>
            </a:r>
            <a:endParaRPr/>
          </a:p>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e.g. </a:t>
            </a:r>
            <a:endParaRPr/>
          </a:p>
          <a:p>
            <a:pPr indent="0" lvl="1" marL="45720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ADD  (Pop top two items from stack and add and push)</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25"/>
          <p:cNvPicPr preferRelativeResize="0"/>
          <p:nvPr/>
        </p:nvPicPr>
        <p:blipFill rotWithShape="1">
          <a:blip r:embed="rId3">
            <a:alphaModFix/>
          </a:blip>
          <a:srcRect b="0" l="0" r="0" t="0"/>
          <a:stretch/>
        </p:blipFill>
        <p:spPr>
          <a:xfrm>
            <a:off x="381000" y="1752600"/>
            <a:ext cx="8178800" cy="3387725"/>
          </a:xfrm>
          <a:prstGeom prst="rect">
            <a:avLst/>
          </a:prstGeom>
          <a:noFill/>
          <a:ln>
            <a:noFill/>
          </a:ln>
        </p:spPr>
      </p:pic>
      <p:sp>
        <p:nvSpPr>
          <p:cNvPr id="268" name="Google Shape;268;p25"/>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Comic Sans MS"/>
              <a:buNone/>
            </a:pPr>
            <a:r>
              <a:rPr b="0" i="0" lang="en-US" sz="3200" u="none">
                <a:solidFill>
                  <a:schemeClr val="accent2"/>
                </a:solidFill>
                <a:latin typeface="Comic Sans MS"/>
                <a:ea typeface="Comic Sans MS"/>
                <a:cs typeface="Comic Sans MS"/>
                <a:sym typeface="Comic Sans MS"/>
              </a:rPr>
              <a:t>Summary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2008-03-23T23:58:27Z</dcterms:created>
  <dc:creator>Mrs.Nayeema Islam</dc:creator>
</cp:coreProperties>
</file>