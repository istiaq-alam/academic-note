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8" roundtripDataSignature="AMtx7mhceVlDLcZUR66E/6dN5nbA6l7e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customschemas.google.com/relationships/presentationmetadata" Target="meta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1D35"/>
              </a:buClr>
              <a:buSzPts val="1800"/>
              <a:buFont typeface="Arial"/>
              <a:buNone/>
            </a:pPr>
            <a:r>
              <a:rPr lang="en-US">
                <a:solidFill>
                  <a:srgbClr val="001D35"/>
                </a:solidFill>
                <a:latin typeface="Arial"/>
                <a:ea typeface="Arial"/>
                <a:cs typeface="Arial"/>
                <a:sym typeface="Arial"/>
              </a:rPr>
              <a:t>Microprocessor without Interlocked Pipeline Stages (MIPS) is </a:t>
            </a:r>
            <a:r>
              <a:rPr lang="en-US"/>
              <a:t>a type of microprocessor architecture that uses a Reduced Instruction Set Computing (RISC) approach</a:t>
            </a:r>
            <a:r>
              <a:rPr lang="en-US">
                <a:solidFill>
                  <a:srgbClr val="001D35"/>
                </a:solidFill>
                <a:latin typeface="Arial"/>
                <a:ea typeface="Arial"/>
                <a:cs typeface="Arial"/>
                <a:sym typeface="Arial"/>
              </a:rPr>
              <a:t>. MIPS was designed in 1984 by researchers at Stanford University. </a:t>
            </a:r>
            <a:endParaRPr/>
          </a:p>
        </p:txBody>
      </p:sp>
      <p:sp>
        <p:nvSpPr>
          <p:cNvPr id="147" name="Google Shape;147;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1D35"/>
              </a:buClr>
              <a:buSzPts val="1800"/>
              <a:buFont typeface="Arial"/>
              <a:buNone/>
            </a:pPr>
            <a:r>
              <a:rPr lang="en-US">
                <a:solidFill>
                  <a:srgbClr val="001D35"/>
                </a:solidFill>
                <a:latin typeface="Arial"/>
                <a:ea typeface="Arial"/>
                <a:cs typeface="Arial"/>
                <a:sym typeface="Arial"/>
              </a:rPr>
              <a:t>Packaging technology is </a:t>
            </a:r>
            <a:r>
              <a:rPr lang="en-US"/>
              <a:t>the process of using hardware, software, or procedures to package integrated circuit products into multi-chip or single-chip packages</a:t>
            </a:r>
            <a:endParaRPr/>
          </a:p>
        </p:txBody>
      </p:sp>
      <p:sp>
        <p:nvSpPr>
          <p:cNvPr id="168" name="Google Shape;168;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15" name="Shape 15"/>
        <p:cNvGrpSpPr/>
        <p:nvPr/>
      </p:nvGrpSpPr>
      <p:grpSpPr>
        <a:xfrm>
          <a:off x="0" y="0"/>
          <a:ext cx="0" cy="0"/>
          <a:chOff x="0" y="0"/>
          <a:chExt cx="0" cy="0"/>
        </a:xfrm>
      </p:grpSpPr>
      <p:sp>
        <p:nvSpPr>
          <p:cNvPr id="16" name="Google Shape;1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24"/>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24"/>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2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2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 name="Google Shape;26;p2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9" name="Shape 29"/>
        <p:cNvGrpSpPr/>
        <p:nvPr/>
      </p:nvGrpSpPr>
      <p:grpSpPr>
        <a:xfrm>
          <a:off x="0" y="0"/>
          <a:ext cx="0" cy="0"/>
          <a:chOff x="0" y="0"/>
          <a:chExt cx="0" cy="0"/>
        </a:xfrm>
      </p:grpSpPr>
      <p:sp>
        <p:nvSpPr>
          <p:cNvPr id="30" name="Google Shape;3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26"/>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26"/>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4" name="Google Shape;34;p2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7" name="Shape 37"/>
        <p:cNvGrpSpPr/>
        <p:nvPr/>
      </p:nvGrpSpPr>
      <p:grpSpPr>
        <a:xfrm>
          <a:off x="0" y="0"/>
          <a:ext cx="0" cy="0"/>
          <a:chOff x="0" y="0"/>
          <a:chExt cx="0" cy="0"/>
        </a:xfrm>
      </p:grpSpPr>
      <p:sp>
        <p:nvSpPr>
          <p:cNvPr id="38" name="Google Shape;38;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2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0" name="Google Shape;40;p2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 name="Google Shape;41;p2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44" name="Shape 44"/>
        <p:cNvGrpSpPr/>
        <p:nvPr/>
      </p:nvGrpSpPr>
      <p:grpSpPr>
        <a:xfrm>
          <a:off x="0" y="0"/>
          <a:ext cx="0" cy="0"/>
          <a:chOff x="0" y="0"/>
          <a:chExt cx="0" cy="0"/>
        </a:xfrm>
      </p:grpSpPr>
      <p:sp>
        <p:nvSpPr>
          <p:cNvPr id="45" name="Google Shape;45;p28"/>
          <p:cNvSpPr txBox="1"/>
          <p:nvPr>
            <p:ph idx="1" type="body"/>
          </p:nvPr>
        </p:nvSpPr>
        <p:spPr>
          <a:xfrm>
            <a:off x="457200" y="274638"/>
            <a:ext cx="8229600" cy="58515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 name="Google Shape;46;p2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9" name="Shape 49"/>
        <p:cNvGrpSpPr/>
        <p:nvPr/>
      </p:nvGrpSpPr>
      <p:grpSpPr>
        <a:xfrm>
          <a:off x="0" y="0"/>
          <a:ext cx="0" cy="0"/>
          <a:chOff x="0" y="0"/>
          <a:chExt cx="0" cy="0"/>
        </a:xfrm>
      </p:grpSpPr>
      <p:sp>
        <p:nvSpPr>
          <p:cNvPr id="50" name="Google Shape;50;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2" name="Google Shape;52;p2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5" name="Shape 55"/>
        <p:cNvGrpSpPr/>
        <p:nvPr/>
      </p:nvGrpSpPr>
      <p:grpSpPr>
        <a:xfrm>
          <a:off x="0" y="0"/>
          <a:ext cx="0" cy="0"/>
          <a:chOff x="0" y="0"/>
          <a:chExt cx="0" cy="0"/>
        </a:xfrm>
      </p:grpSpPr>
      <p:sp>
        <p:nvSpPr>
          <p:cNvPr id="56" name="Google Shape;56;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30"/>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8" name="Google Shape;58;p3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31"/>
          <p:cNvSpPr/>
          <p:nvPr>
            <p:ph idx="2" type="pic"/>
          </p:nvPr>
        </p:nvSpPr>
        <p:spPr>
          <a:xfrm>
            <a:off x="1792288" y="612775"/>
            <a:ext cx="5486400" cy="4114800"/>
          </a:xfrm>
          <a:prstGeom prst="rect">
            <a:avLst/>
          </a:prstGeom>
          <a:noFill/>
          <a:ln>
            <a:noFill/>
          </a:ln>
        </p:spPr>
      </p:sp>
      <p:sp>
        <p:nvSpPr>
          <p:cNvPr id="64" name="Google Shape;64;p3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5" name="Google Shape;65;p3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 name="Google Shape;70;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71" name="Google Shape;71;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72" name="Google Shape;72;p3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3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3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4" name="Shape 84"/>
        <p:cNvGrpSpPr/>
        <p:nvPr/>
      </p:nvGrpSpPr>
      <p:grpSpPr>
        <a:xfrm>
          <a:off x="0" y="0"/>
          <a:ext cx="0" cy="0"/>
          <a:chOff x="0" y="0"/>
          <a:chExt cx="0" cy="0"/>
        </a:xfrm>
      </p:grpSpPr>
      <p:sp>
        <p:nvSpPr>
          <p:cNvPr id="85" name="Google Shape;85;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6" name="Google Shape;86;p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87" name="Google Shape;87;p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88" name="Google Shape;88;p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89" name="Google Shape;89;p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90" name="Google Shape;90;p3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3" name="Shape 93"/>
        <p:cNvGrpSpPr/>
        <p:nvPr/>
      </p:nvGrpSpPr>
      <p:grpSpPr>
        <a:xfrm>
          <a:off x="0" y="0"/>
          <a:ext cx="0" cy="0"/>
          <a:chOff x="0" y="0"/>
          <a:chExt cx="0" cy="0"/>
        </a:xfrm>
      </p:grpSpPr>
      <p:sp>
        <p:nvSpPr>
          <p:cNvPr id="94" name="Google Shape;94;p3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5" name="Google Shape;95;p3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96" name="Google Shape;96;p3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97" name="Google Shape;97;p3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3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0" name="Shape 100"/>
        <p:cNvGrpSpPr/>
        <p:nvPr/>
      </p:nvGrpSpPr>
      <p:grpSpPr>
        <a:xfrm>
          <a:off x="0" y="0"/>
          <a:ext cx="0" cy="0"/>
          <a:chOff x="0" y="0"/>
          <a:chExt cx="0" cy="0"/>
        </a:xfrm>
      </p:grpSpPr>
      <p:sp>
        <p:nvSpPr>
          <p:cNvPr id="101" name="Google Shape;101;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2" name="Google Shape;102;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103" name="Google Shape;103;p3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3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6" name="Shape 106"/>
        <p:cNvGrpSpPr/>
        <p:nvPr/>
      </p:nvGrpSpPr>
      <p:grpSpPr>
        <a:xfrm>
          <a:off x="0" y="0"/>
          <a:ext cx="0" cy="0"/>
          <a:chOff x="0" y="0"/>
          <a:chExt cx="0" cy="0"/>
        </a:xfrm>
      </p:grpSpPr>
      <p:sp>
        <p:nvSpPr>
          <p:cNvPr id="107" name="Google Shape;107;p3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8" name="Google Shape;108;p3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109" name="Google Shape;109;p3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3" name="Google Shape;13;p2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2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
          <p:cNvSpPr txBox="1"/>
          <p:nvPr/>
        </p:nvSpPr>
        <p:spPr>
          <a:xfrm>
            <a:off x="762000" y="1524000"/>
            <a:ext cx="7467600" cy="12001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Comic Sans MS"/>
              <a:buNone/>
            </a:pPr>
            <a:r>
              <a:rPr b="0" i="0" lang="en-US" sz="3600" u="none" cap="none" strike="noStrike">
                <a:solidFill>
                  <a:schemeClr val="dk1"/>
                </a:solidFill>
                <a:latin typeface="Comic Sans MS"/>
                <a:ea typeface="Comic Sans MS"/>
                <a:cs typeface="Comic Sans MS"/>
                <a:sym typeface="Comic Sans MS"/>
              </a:rPr>
              <a:t>Computer Architecture</a:t>
            </a:r>
            <a:br>
              <a:rPr b="0" i="0" lang="en-US" sz="3600" u="none" cap="none" strike="noStrike">
                <a:solidFill>
                  <a:schemeClr val="dk1"/>
                </a:solidFill>
                <a:latin typeface="Comic Sans MS"/>
                <a:ea typeface="Comic Sans MS"/>
                <a:cs typeface="Comic Sans MS"/>
                <a:sym typeface="Comic Sans MS"/>
              </a:rPr>
            </a:br>
            <a:r>
              <a:rPr b="0" i="0" lang="en-US" sz="3600" u="none" cap="none" strike="noStrike">
                <a:solidFill>
                  <a:schemeClr val="dk1"/>
                </a:solidFill>
                <a:latin typeface="Comic Sans MS"/>
                <a:ea typeface="Comic Sans MS"/>
                <a:cs typeface="Comic Sans MS"/>
                <a:sym typeface="Comic Sans MS"/>
              </a:rPr>
              <a:t>Lecture 1</a:t>
            </a:r>
            <a:endParaRPr/>
          </a:p>
        </p:txBody>
      </p:sp>
      <p:sp>
        <p:nvSpPr>
          <p:cNvPr id="117" name="Google Shape;117;p1"/>
          <p:cNvSpPr txBox="1"/>
          <p:nvPr/>
        </p:nvSpPr>
        <p:spPr>
          <a:xfrm>
            <a:off x="762000" y="3810000"/>
            <a:ext cx="7467600" cy="12001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Comic Sans MS"/>
              <a:buNone/>
            </a:pPr>
            <a:r>
              <a:rPr b="0" i="0" lang="en-US" sz="3600" u="none" cap="none" strike="noStrike">
                <a:solidFill>
                  <a:schemeClr val="dk1"/>
                </a:solidFill>
                <a:latin typeface="Comic Sans MS"/>
                <a:ea typeface="Comic Sans MS"/>
                <a:cs typeface="Comic Sans MS"/>
                <a:sym typeface="Comic Sans MS"/>
              </a:rPr>
              <a:t>Introduction</a:t>
            </a:r>
            <a:br>
              <a:rPr b="0" i="0" lang="en-US" sz="3600" u="none" cap="none" strike="noStrike">
                <a:solidFill>
                  <a:schemeClr val="dk1"/>
                </a:solidFill>
                <a:latin typeface="Comic Sans MS"/>
                <a:ea typeface="Comic Sans MS"/>
                <a:cs typeface="Comic Sans MS"/>
                <a:sym typeface="Comic Sans MS"/>
              </a:rPr>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
          <p:cNvSpPr txBox="1"/>
          <p:nvPr/>
        </p:nvSpPr>
        <p:spPr>
          <a:xfrm>
            <a:off x="0" y="0"/>
            <a:ext cx="86868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1" lang="en-US" sz="3200" u="none" cap="none" strike="noStrike">
                <a:solidFill>
                  <a:srgbClr val="6B6BCF"/>
                </a:solidFill>
                <a:latin typeface="Comic Sans MS"/>
                <a:ea typeface="Comic Sans MS"/>
                <a:cs typeface="Comic Sans MS"/>
                <a:sym typeface="Comic Sans MS"/>
              </a:rPr>
              <a:t>References</a:t>
            </a:r>
            <a:endParaRPr/>
          </a:p>
        </p:txBody>
      </p:sp>
      <p:sp>
        <p:nvSpPr>
          <p:cNvPr id="123" name="Google Shape;123;p2"/>
          <p:cNvSpPr txBox="1"/>
          <p:nvPr>
            <p:ph idx="1" type="body"/>
          </p:nvPr>
        </p:nvSpPr>
        <p:spPr>
          <a:xfrm>
            <a:off x="457200" y="1143000"/>
            <a:ext cx="8229600" cy="38862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rgbClr val="2D2D8A"/>
              </a:buClr>
              <a:buSzPts val="2800"/>
              <a:buFont typeface="Comic Sans MS"/>
              <a:buChar char="•"/>
            </a:pPr>
            <a:r>
              <a:rPr b="1" i="0" lang="en-US" sz="2800" u="none">
                <a:solidFill>
                  <a:srgbClr val="2D2D8A"/>
                </a:solidFill>
                <a:latin typeface="Comic Sans MS"/>
                <a:ea typeface="Comic Sans MS"/>
                <a:cs typeface="Comic Sans MS"/>
                <a:sym typeface="Comic Sans MS"/>
              </a:rPr>
              <a:t>Google Class Code: </a:t>
            </a:r>
            <a:r>
              <a:rPr lang="en-US" sz="2400">
                <a:solidFill>
                  <a:srgbClr val="C00000"/>
                </a:solidFill>
                <a:highlight>
                  <a:srgbClr val="FFFFFF"/>
                </a:highlight>
                <a:latin typeface="Comic Sans MS"/>
                <a:ea typeface="Comic Sans MS"/>
                <a:cs typeface="Comic Sans MS"/>
                <a:sym typeface="Comic Sans MS"/>
              </a:rPr>
              <a:t>nmver2b</a:t>
            </a:r>
            <a:endParaRPr sz="2400">
              <a:solidFill>
                <a:srgbClr val="C00000"/>
              </a:solidFill>
              <a:latin typeface="Comic Sans MS"/>
              <a:ea typeface="Comic Sans MS"/>
              <a:cs typeface="Comic Sans MS"/>
              <a:sym typeface="Comic Sans MS"/>
            </a:endParaRPr>
          </a:p>
          <a:p>
            <a:pPr indent="-165100" lvl="0" marL="342900" rtl="0" algn="l">
              <a:lnSpc>
                <a:spcPct val="80000"/>
              </a:lnSpc>
              <a:spcBef>
                <a:spcPts val="560"/>
              </a:spcBef>
              <a:spcAft>
                <a:spcPts val="0"/>
              </a:spcAft>
              <a:buClr>
                <a:schemeClr val="dk1"/>
              </a:buClr>
              <a:buSzPts val="2800"/>
              <a:buFont typeface="Arial"/>
              <a:buNone/>
            </a:pPr>
            <a:r>
              <a:t/>
            </a:r>
            <a:endParaRPr b="1" i="0" sz="2800" u="none">
              <a:solidFill>
                <a:srgbClr val="2D2D8A"/>
              </a:solidFill>
              <a:latin typeface="Comic Sans MS"/>
              <a:ea typeface="Comic Sans MS"/>
              <a:cs typeface="Comic Sans MS"/>
              <a:sym typeface="Comic Sans MS"/>
            </a:endParaRPr>
          </a:p>
          <a:p>
            <a:pPr indent="-342900" lvl="0" marL="342900" rtl="0" algn="l">
              <a:lnSpc>
                <a:spcPct val="80000"/>
              </a:lnSpc>
              <a:spcBef>
                <a:spcPts val="560"/>
              </a:spcBef>
              <a:spcAft>
                <a:spcPts val="0"/>
              </a:spcAft>
              <a:buClr>
                <a:srgbClr val="2D2D8A"/>
              </a:buClr>
              <a:buSzPts val="2800"/>
              <a:buFont typeface="Comic Sans MS"/>
              <a:buChar char="•"/>
            </a:pPr>
            <a:r>
              <a:rPr b="1" i="0" lang="en-US" sz="2800" u="none">
                <a:solidFill>
                  <a:srgbClr val="2D2D8A"/>
                </a:solidFill>
                <a:latin typeface="Comic Sans MS"/>
                <a:ea typeface="Comic Sans MS"/>
                <a:cs typeface="Comic Sans MS"/>
                <a:sym typeface="Comic Sans MS"/>
              </a:rPr>
              <a:t>Computer Architecture and Organization</a:t>
            </a:r>
            <a:endParaRPr b="0" i="0" sz="2800" u="none">
              <a:solidFill>
                <a:srgbClr val="2D2D8A"/>
              </a:solidFill>
              <a:latin typeface="Comic Sans MS"/>
              <a:ea typeface="Comic Sans MS"/>
              <a:cs typeface="Comic Sans MS"/>
              <a:sym typeface="Comic Sans MS"/>
            </a:endParaRPr>
          </a:p>
          <a:p>
            <a:pPr indent="-342900" lvl="0" marL="342900" rtl="0" algn="l">
              <a:lnSpc>
                <a:spcPct val="80000"/>
              </a:lnSpc>
              <a:spcBef>
                <a:spcPts val="560"/>
              </a:spcBef>
              <a:spcAft>
                <a:spcPts val="0"/>
              </a:spcAft>
              <a:buClr>
                <a:srgbClr val="2D2D8A"/>
              </a:buClr>
              <a:buSzPts val="2800"/>
              <a:buFont typeface="Comic Sans MS"/>
              <a:buNone/>
            </a:pPr>
            <a:r>
              <a:rPr b="0" i="0" lang="en-US" sz="2800" u="none">
                <a:solidFill>
                  <a:srgbClr val="2D2D8A"/>
                </a:solidFill>
                <a:latin typeface="Comic Sans MS"/>
                <a:ea typeface="Comic Sans MS"/>
                <a:cs typeface="Comic Sans MS"/>
                <a:sym typeface="Comic Sans MS"/>
              </a:rPr>
              <a:t>             Hayes J.P., McGraw-Hill.</a:t>
            </a:r>
            <a:endParaRPr/>
          </a:p>
          <a:p>
            <a:pPr indent="-342900" lvl="0" marL="342900" rtl="0" algn="l">
              <a:lnSpc>
                <a:spcPct val="80000"/>
              </a:lnSpc>
              <a:spcBef>
                <a:spcPts val="0"/>
              </a:spcBef>
              <a:spcAft>
                <a:spcPts val="0"/>
              </a:spcAft>
              <a:buClr>
                <a:schemeClr val="dk1"/>
              </a:buClr>
              <a:buSzPts val="2800"/>
              <a:buFont typeface="Arial"/>
              <a:buNone/>
            </a:pPr>
            <a:r>
              <a:t/>
            </a:r>
            <a:endParaRPr b="0" i="0" sz="2800" u="none">
              <a:solidFill>
                <a:srgbClr val="2D2D8A"/>
              </a:solidFill>
              <a:latin typeface="Comic Sans MS"/>
              <a:ea typeface="Comic Sans MS"/>
              <a:cs typeface="Comic Sans MS"/>
              <a:sym typeface="Comic Sans MS"/>
            </a:endParaRPr>
          </a:p>
          <a:p>
            <a:pPr indent="-342900" lvl="0" marL="342900" rtl="0" algn="l">
              <a:lnSpc>
                <a:spcPct val="80000"/>
              </a:lnSpc>
              <a:spcBef>
                <a:spcPts val="560"/>
              </a:spcBef>
              <a:spcAft>
                <a:spcPts val="0"/>
              </a:spcAft>
              <a:buClr>
                <a:srgbClr val="2D2D8A"/>
              </a:buClr>
              <a:buSzPts val="2800"/>
              <a:buFont typeface="Comic Sans MS"/>
              <a:buChar char="•"/>
            </a:pPr>
            <a:r>
              <a:rPr b="1" i="0" lang="en-US" sz="2800" u="none">
                <a:solidFill>
                  <a:srgbClr val="2D2D8A"/>
                </a:solidFill>
                <a:latin typeface="Comic Sans MS"/>
                <a:ea typeface="Comic Sans MS"/>
                <a:cs typeface="Comic Sans MS"/>
                <a:sym typeface="Comic Sans MS"/>
              </a:rPr>
              <a:t>Computer organization and design: The hardware/software interface</a:t>
            </a:r>
            <a:endParaRPr b="0" i="0" sz="2800" u="none">
              <a:solidFill>
                <a:srgbClr val="2D2D8A"/>
              </a:solidFill>
              <a:latin typeface="Comic Sans MS"/>
              <a:ea typeface="Comic Sans MS"/>
              <a:cs typeface="Comic Sans MS"/>
              <a:sym typeface="Comic Sans MS"/>
            </a:endParaRPr>
          </a:p>
          <a:p>
            <a:pPr indent="-342900" lvl="0" marL="342900" rtl="0" algn="l">
              <a:lnSpc>
                <a:spcPct val="80000"/>
              </a:lnSpc>
              <a:spcBef>
                <a:spcPts val="560"/>
              </a:spcBef>
              <a:spcAft>
                <a:spcPts val="0"/>
              </a:spcAft>
              <a:buClr>
                <a:srgbClr val="2D2D8A"/>
              </a:buClr>
              <a:buSzPts val="2800"/>
              <a:buFont typeface="Comic Sans MS"/>
              <a:buNone/>
            </a:pPr>
            <a:r>
              <a:rPr b="0" i="0" lang="en-US" sz="2800" u="none">
                <a:solidFill>
                  <a:srgbClr val="2D2D8A"/>
                </a:solidFill>
                <a:latin typeface="Comic Sans MS"/>
                <a:ea typeface="Comic Sans MS"/>
                <a:cs typeface="Comic Sans MS"/>
                <a:sym typeface="Comic Sans MS"/>
              </a:rPr>
              <a:t>             Patterson D.A., Hennessy J.L., Morgan 		Kaufmann.</a:t>
            </a:r>
            <a:endParaRPr/>
          </a:p>
          <a:p>
            <a:pPr indent="-165100" lvl="0" marL="342900" rtl="0" algn="l">
              <a:spcBef>
                <a:spcPts val="560"/>
              </a:spcBef>
              <a:spcAft>
                <a:spcPts val="0"/>
              </a:spcAft>
              <a:buClr>
                <a:schemeClr val="dk1"/>
              </a:buClr>
              <a:buSzPts val="2800"/>
              <a:buFont typeface="Arial"/>
              <a:buNone/>
            </a:pPr>
            <a:r>
              <a:t/>
            </a:r>
            <a:endParaRPr b="0" i="0" sz="2800" u="none">
              <a:solidFill>
                <a:srgbClr val="2D2D8A"/>
              </a:solidFill>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3"/>
          <p:cNvSpPr txBox="1"/>
          <p:nvPr/>
        </p:nvSpPr>
        <p:spPr>
          <a:xfrm>
            <a:off x="0" y="0"/>
            <a:ext cx="86868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0" lang="en-US" sz="3200" u="none" cap="none" strike="noStrike">
                <a:solidFill>
                  <a:srgbClr val="6B6BCF"/>
                </a:solidFill>
                <a:latin typeface="Comic Sans MS"/>
                <a:ea typeface="Comic Sans MS"/>
                <a:cs typeface="Comic Sans MS"/>
                <a:sym typeface="Comic Sans MS"/>
              </a:rPr>
              <a:t>What is Computer Architecture?</a:t>
            </a:r>
            <a:endParaRPr/>
          </a:p>
        </p:txBody>
      </p:sp>
      <p:sp>
        <p:nvSpPr>
          <p:cNvPr id="129" name="Google Shape;129;p3"/>
          <p:cNvSpPr txBox="1"/>
          <p:nvPr/>
        </p:nvSpPr>
        <p:spPr>
          <a:xfrm>
            <a:off x="0" y="914400"/>
            <a:ext cx="8991600" cy="5334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Comic Sans MS"/>
              <a:buChar char="•"/>
            </a:pPr>
            <a:r>
              <a:rPr b="0" i="0" lang="en-US" sz="2800" u="none" cap="none" strike="noStrike">
                <a:solidFill>
                  <a:schemeClr val="dk1"/>
                </a:solidFill>
                <a:latin typeface="Comic Sans MS"/>
                <a:ea typeface="Comic Sans MS"/>
                <a:cs typeface="Comic Sans MS"/>
                <a:sym typeface="Comic Sans MS"/>
              </a:rPr>
              <a:t>Programmer’s view: a pleasant environment</a:t>
            </a:r>
            <a:endParaRPr/>
          </a:p>
          <a:p>
            <a:pPr indent="-342900" lvl="0" marL="342900" marR="0" rtl="0" algn="just">
              <a:lnSpc>
                <a:spcPct val="100000"/>
              </a:lnSpc>
              <a:spcBef>
                <a:spcPts val="560"/>
              </a:spcBef>
              <a:spcAft>
                <a:spcPts val="0"/>
              </a:spcAft>
              <a:buClr>
                <a:schemeClr val="dk1"/>
              </a:buClr>
              <a:buSzPts val="2800"/>
              <a:buFont typeface="Comic Sans MS"/>
              <a:buChar char="•"/>
            </a:pPr>
            <a:r>
              <a:rPr b="0" i="0" lang="en-US" sz="2800" u="none" cap="none" strike="noStrike">
                <a:solidFill>
                  <a:schemeClr val="dk1"/>
                </a:solidFill>
                <a:latin typeface="Comic Sans MS"/>
                <a:ea typeface="Comic Sans MS"/>
                <a:cs typeface="Comic Sans MS"/>
                <a:sym typeface="Comic Sans MS"/>
              </a:rPr>
              <a:t>Operating system’s view: a set of resources (hardware &amp; software)</a:t>
            </a:r>
            <a:endParaRPr/>
          </a:p>
          <a:p>
            <a:pPr indent="-342900" lvl="0" marL="342900" marR="0" rtl="0" algn="just">
              <a:lnSpc>
                <a:spcPct val="100000"/>
              </a:lnSpc>
              <a:spcBef>
                <a:spcPts val="560"/>
              </a:spcBef>
              <a:spcAft>
                <a:spcPts val="0"/>
              </a:spcAft>
              <a:buClr>
                <a:schemeClr val="dk1"/>
              </a:buClr>
              <a:buSzPts val="2800"/>
              <a:buFont typeface="Comic Sans MS"/>
              <a:buChar char="•"/>
            </a:pPr>
            <a:r>
              <a:rPr b="0" i="0" lang="en-US" sz="2800" u="none" cap="none" strike="noStrike">
                <a:solidFill>
                  <a:schemeClr val="dk1"/>
                </a:solidFill>
                <a:latin typeface="Comic Sans MS"/>
                <a:ea typeface="Comic Sans MS"/>
                <a:cs typeface="Comic Sans MS"/>
                <a:sym typeface="Comic Sans MS"/>
              </a:rPr>
              <a:t>System architecture view: a set of components</a:t>
            </a:r>
            <a:endParaRPr/>
          </a:p>
          <a:p>
            <a:pPr indent="-342900" lvl="0" marL="342900" marR="0" rtl="0" algn="just">
              <a:lnSpc>
                <a:spcPct val="100000"/>
              </a:lnSpc>
              <a:spcBef>
                <a:spcPts val="560"/>
              </a:spcBef>
              <a:spcAft>
                <a:spcPts val="0"/>
              </a:spcAft>
              <a:buClr>
                <a:schemeClr val="dk1"/>
              </a:buClr>
              <a:buSzPts val="2800"/>
              <a:buFont typeface="Comic Sans MS"/>
              <a:buChar char="•"/>
            </a:pPr>
            <a:r>
              <a:rPr b="0" i="0" lang="en-US" sz="2800" u="none" cap="none" strike="noStrike">
                <a:solidFill>
                  <a:schemeClr val="dk1"/>
                </a:solidFill>
                <a:latin typeface="Comic Sans MS"/>
                <a:ea typeface="Comic Sans MS"/>
                <a:cs typeface="Comic Sans MS"/>
                <a:sym typeface="Comic Sans MS"/>
              </a:rPr>
              <a:t>Compiler’s view: an instruction set architecture with OS help</a:t>
            </a:r>
            <a:endParaRPr/>
          </a:p>
          <a:p>
            <a:pPr indent="-342900" lvl="0" marL="342900" marR="0" rtl="0" algn="just">
              <a:lnSpc>
                <a:spcPct val="100000"/>
              </a:lnSpc>
              <a:spcBef>
                <a:spcPts val="560"/>
              </a:spcBef>
              <a:spcAft>
                <a:spcPts val="0"/>
              </a:spcAft>
              <a:buClr>
                <a:schemeClr val="dk1"/>
              </a:buClr>
              <a:buSzPts val="2800"/>
              <a:buFont typeface="Comic Sans MS"/>
              <a:buChar char="•"/>
            </a:pPr>
            <a:r>
              <a:rPr b="0" i="0" lang="en-US" sz="2800" u="none" cap="none" strike="noStrike">
                <a:solidFill>
                  <a:schemeClr val="dk1"/>
                </a:solidFill>
                <a:latin typeface="Comic Sans MS"/>
                <a:ea typeface="Comic Sans MS"/>
                <a:cs typeface="Comic Sans MS"/>
                <a:sym typeface="Comic Sans MS"/>
              </a:rPr>
              <a:t>Microprocessor architecture view: a set of functional units</a:t>
            </a:r>
            <a:endParaRPr/>
          </a:p>
          <a:p>
            <a:pPr indent="-342900" lvl="0" marL="342900" marR="0" rtl="0" algn="just">
              <a:lnSpc>
                <a:spcPct val="100000"/>
              </a:lnSpc>
              <a:spcBef>
                <a:spcPts val="560"/>
              </a:spcBef>
              <a:spcAft>
                <a:spcPts val="0"/>
              </a:spcAft>
              <a:buClr>
                <a:schemeClr val="dk1"/>
              </a:buClr>
              <a:buSzPts val="2800"/>
              <a:buFont typeface="Comic Sans MS"/>
              <a:buChar char="•"/>
            </a:pPr>
            <a:r>
              <a:rPr b="0" i="0" lang="en-US" sz="2800" u="none" cap="none" strike="noStrike">
                <a:solidFill>
                  <a:schemeClr val="dk1"/>
                </a:solidFill>
                <a:latin typeface="Comic Sans MS"/>
                <a:ea typeface="Comic Sans MS"/>
                <a:cs typeface="Comic Sans MS"/>
                <a:sym typeface="Comic Sans MS"/>
              </a:rPr>
              <a:t>VLSI designer’s view: a set of transistors implementing logic</a:t>
            </a:r>
            <a:endParaRPr/>
          </a:p>
          <a:p>
            <a:pPr indent="-342900" lvl="0" marL="342900" marR="0" rtl="0" algn="just">
              <a:lnSpc>
                <a:spcPct val="100000"/>
              </a:lnSpc>
              <a:spcBef>
                <a:spcPts val="560"/>
              </a:spcBef>
              <a:spcAft>
                <a:spcPts val="0"/>
              </a:spcAft>
              <a:buClr>
                <a:schemeClr val="dk1"/>
              </a:buClr>
              <a:buSzPts val="2800"/>
              <a:buFont typeface="Comic Sans MS"/>
              <a:buChar char="•"/>
            </a:pPr>
            <a:r>
              <a:rPr b="0" i="0" lang="en-US" sz="2800" u="none" cap="none" strike="noStrike">
                <a:solidFill>
                  <a:schemeClr val="dk1"/>
                </a:solidFill>
                <a:latin typeface="Comic Sans MS"/>
                <a:ea typeface="Comic Sans MS"/>
                <a:cs typeface="Comic Sans MS"/>
                <a:sym typeface="Comic Sans MS"/>
              </a:rPr>
              <a:t>Mechanical engineer’s view: a heater!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nvSpPr>
        <p:spPr>
          <a:xfrm>
            <a:off x="0" y="0"/>
            <a:ext cx="86868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1" lang="en-US" sz="3200" u="none" cap="none" strike="noStrike">
                <a:solidFill>
                  <a:srgbClr val="6B6BCF"/>
                </a:solidFill>
                <a:latin typeface="Comic Sans MS"/>
                <a:ea typeface="Comic Sans MS"/>
                <a:cs typeface="Comic Sans MS"/>
                <a:sym typeface="Comic Sans MS"/>
              </a:rPr>
              <a:t>Definition of computer Architecture</a:t>
            </a:r>
            <a:endParaRPr/>
          </a:p>
        </p:txBody>
      </p:sp>
      <p:sp>
        <p:nvSpPr>
          <p:cNvPr id="135" name="Google Shape;135;p4"/>
          <p:cNvSpPr txBox="1"/>
          <p:nvPr/>
        </p:nvSpPr>
        <p:spPr>
          <a:xfrm>
            <a:off x="0" y="533400"/>
            <a:ext cx="9144000" cy="52625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Comic Sans MS"/>
              <a:buNone/>
            </a:pPr>
            <a:r>
              <a:rPr b="0" i="0" lang="en-US" sz="2800" u="none" cap="none" strike="noStrike">
                <a:solidFill>
                  <a:schemeClr val="dk1"/>
                </a:solidFill>
                <a:latin typeface="Comic Sans MS"/>
                <a:ea typeface="Comic Sans MS"/>
                <a:cs typeface="Comic Sans MS"/>
                <a:sym typeface="Comic Sans MS"/>
              </a:rPr>
              <a:t>In computer engineering, </a:t>
            </a:r>
            <a:r>
              <a:rPr b="1" i="0" lang="en-US" sz="2800" u="none" cap="none" strike="noStrike">
                <a:solidFill>
                  <a:schemeClr val="dk1"/>
                </a:solidFill>
                <a:latin typeface="Comic Sans MS"/>
                <a:ea typeface="Comic Sans MS"/>
                <a:cs typeface="Comic Sans MS"/>
                <a:sym typeface="Comic Sans MS"/>
              </a:rPr>
              <a:t>computer architecture</a:t>
            </a:r>
            <a:r>
              <a:rPr b="0" i="0" lang="en-US" sz="2800" u="none" cap="none" strike="noStrike">
                <a:solidFill>
                  <a:schemeClr val="dk1"/>
                </a:solidFill>
                <a:latin typeface="Comic Sans MS"/>
                <a:ea typeface="Comic Sans MS"/>
                <a:cs typeface="Comic Sans MS"/>
                <a:sym typeface="Comic Sans MS"/>
              </a:rPr>
              <a:t> is a set of rules and methods that describe the functionality, organization, and implementation of computer systems. Some definitions of architecture define it as describing the capabilities and programming model of a computer but not a particular implementation. In other descriptions computer architecture involves instruction set architecture design, microarchitecture design, logic design, and implementation.</a:t>
            </a:r>
            <a:endParaRPr/>
          </a:p>
          <a:p>
            <a:pPr indent="0" lvl="0" marL="0" marR="0" rtl="0" algn="just">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t/>
            </a:r>
            <a:endParaRPr b="0" i="0" sz="2800" u="none">
              <a:solidFill>
                <a:schemeClr val="dk1"/>
              </a:solidFill>
              <a:latin typeface="Comic Sans MS"/>
              <a:ea typeface="Comic Sans MS"/>
              <a:cs typeface="Comic Sans MS"/>
              <a:sym typeface="Comic Sans MS"/>
            </a:endParaRPr>
          </a:p>
        </p:txBody>
      </p:sp>
      <p:sp>
        <p:nvSpPr>
          <p:cNvPr id="136" name="Google Shape;136;p4"/>
          <p:cNvSpPr txBox="1"/>
          <p:nvPr/>
        </p:nvSpPr>
        <p:spPr>
          <a:xfrm>
            <a:off x="0" y="5029200"/>
            <a:ext cx="9144000" cy="9540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C00000"/>
              </a:buClr>
              <a:buSzPts val="2800"/>
              <a:buFont typeface="Comic Sans MS"/>
              <a:buNone/>
            </a:pPr>
            <a:r>
              <a:rPr b="0" i="0" lang="en-US" sz="2800" u="none">
                <a:solidFill>
                  <a:srgbClr val="C00000"/>
                </a:solidFill>
                <a:latin typeface="Comic Sans MS"/>
                <a:ea typeface="Comic Sans MS"/>
                <a:cs typeface="Comic Sans MS"/>
                <a:sym typeface="Comic Sans MS"/>
              </a:rPr>
              <a:t>Computer architecture = Instruction set architecture + Machine organization + Hardware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
          <p:cNvSpPr txBox="1"/>
          <p:nvPr/>
        </p:nvSpPr>
        <p:spPr>
          <a:xfrm>
            <a:off x="0" y="0"/>
            <a:ext cx="86868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1" lang="en-US" sz="3200" u="none">
                <a:solidFill>
                  <a:srgbClr val="6B6BCF"/>
                </a:solidFill>
                <a:latin typeface="Comic Sans MS"/>
                <a:ea typeface="Comic Sans MS"/>
                <a:cs typeface="Comic Sans MS"/>
                <a:sym typeface="Comic Sans MS"/>
              </a:rPr>
              <a:t>Instruction Set Architecture (ISA)</a:t>
            </a:r>
            <a:endParaRPr/>
          </a:p>
        </p:txBody>
      </p:sp>
      <p:sp>
        <p:nvSpPr>
          <p:cNvPr id="142" name="Google Shape;142;p5"/>
          <p:cNvSpPr txBox="1"/>
          <p:nvPr/>
        </p:nvSpPr>
        <p:spPr>
          <a:xfrm>
            <a:off x="0" y="990600"/>
            <a:ext cx="9144000" cy="35401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The </a:t>
            </a:r>
            <a:r>
              <a:rPr b="0" i="1" lang="en-US" sz="2800" u="none">
                <a:solidFill>
                  <a:schemeClr val="dk1"/>
                </a:solidFill>
                <a:latin typeface="Comic Sans MS"/>
                <a:ea typeface="Comic Sans MS"/>
                <a:cs typeface="Comic Sans MS"/>
                <a:sym typeface="Comic Sans MS"/>
              </a:rPr>
              <a:t>Instruction Set Architecture</a:t>
            </a:r>
            <a:r>
              <a:rPr b="0" i="0" lang="en-US" sz="2800" u="none">
                <a:solidFill>
                  <a:schemeClr val="dk1"/>
                </a:solidFill>
                <a:latin typeface="Comic Sans MS"/>
                <a:ea typeface="Comic Sans MS"/>
                <a:cs typeface="Comic Sans MS"/>
                <a:sym typeface="Comic Sans MS"/>
              </a:rPr>
              <a:t> (ISA) is the part of the processor that is visible to the programmer or compiler writer. </a:t>
            </a:r>
            <a:endParaRPr/>
          </a:p>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The ISA serves as the boundary between software and hardware.</a:t>
            </a:r>
            <a:r>
              <a:rPr b="0" i="0" lang="en-US" sz="1800" u="none">
                <a:solidFill>
                  <a:schemeClr val="dk1"/>
                </a:solidFill>
                <a:latin typeface="Times New Roman"/>
                <a:ea typeface="Times New Roman"/>
                <a:cs typeface="Times New Roman"/>
                <a:sym typeface="Times New Roman"/>
              </a:rPr>
              <a:t> </a:t>
            </a:r>
            <a:endParaRPr/>
          </a:p>
          <a:p>
            <a:pPr indent="0" lvl="0" marL="0" marR="0" rtl="0" algn="just">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0" lvl="0" marL="0" marR="0" rtl="0" algn="just">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t/>
            </a:r>
            <a:endParaRPr b="0" i="0" sz="2800" u="none">
              <a:solidFill>
                <a:schemeClr val="dk1"/>
              </a:solidFill>
              <a:latin typeface="Comic Sans MS"/>
              <a:ea typeface="Comic Sans MS"/>
              <a:cs typeface="Comic Sans MS"/>
              <a:sym typeface="Comic Sans MS"/>
            </a:endParaRPr>
          </a:p>
        </p:txBody>
      </p:sp>
      <p:pic>
        <p:nvPicPr>
          <p:cNvPr id="143" name="Google Shape;143;p5"/>
          <p:cNvPicPr preferRelativeResize="0"/>
          <p:nvPr/>
        </p:nvPicPr>
        <p:blipFill rotWithShape="1">
          <a:blip r:embed="rId3">
            <a:alphaModFix/>
          </a:blip>
          <a:srcRect b="0" l="0" r="0" t="0"/>
          <a:stretch/>
        </p:blipFill>
        <p:spPr>
          <a:xfrm>
            <a:off x="1295400" y="3505200"/>
            <a:ext cx="6094412" cy="2657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6"/>
          <p:cNvSpPr txBox="1"/>
          <p:nvPr/>
        </p:nvSpPr>
        <p:spPr>
          <a:xfrm>
            <a:off x="0" y="0"/>
            <a:ext cx="86868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1" lang="en-US" sz="3200" u="none">
                <a:solidFill>
                  <a:srgbClr val="6B6BCF"/>
                </a:solidFill>
                <a:latin typeface="Comic Sans MS"/>
                <a:ea typeface="Comic Sans MS"/>
                <a:cs typeface="Comic Sans MS"/>
                <a:sym typeface="Comic Sans MS"/>
              </a:rPr>
              <a:t>Cont.</a:t>
            </a:r>
            <a:endParaRPr/>
          </a:p>
        </p:txBody>
      </p:sp>
      <p:sp>
        <p:nvSpPr>
          <p:cNvPr id="150" name="Google Shape;150;p6"/>
          <p:cNvSpPr txBox="1"/>
          <p:nvPr/>
        </p:nvSpPr>
        <p:spPr>
          <a:xfrm>
            <a:off x="0" y="3962400"/>
            <a:ext cx="9144000" cy="2455862"/>
          </a:xfrm>
          <a:prstGeom prst="rect">
            <a:avLst/>
          </a:prstGeom>
          <a:noFill/>
          <a:ln>
            <a:noFill/>
          </a:ln>
        </p:spPr>
        <p:txBody>
          <a:bodyPr anchorCtr="0" anchor="t" bIns="45700" lIns="91425" spcFirstLastPara="1" rIns="91425" wrap="square" tIns="45700">
            <a:spAutoFit/>
          </a:bodyPr>
          <a:lstStyle/>
          <a:p>
            <a:pPr indent="-203200" lvl="0" marL="0" marR="0" rtl="0" algn="just">
              <a:lnSpc>
                <a:spcPct val="100000"/>
              </a:lnSpc>
              <a:spcBef>
                <a:spcPts val="0"/>
              </a:spcBef>
              <a:spcAft>
                <a:spcPts val="0"/>
              </a:spcAft>
              <a:buClr>
                <a:schemeClr val="dk1"/>
              </a:buClr>
              <a:buSzPts val="3200"/>
              <a:buFont typeface="Comic Sans MS"/>
              <a:buChar char="•"/>
            </a:pPr>
            <a:r>
              <a:rPr b="0" i="0" lang="en-US" sz="3200" u="none">
                <a:solidFill>
                  <a:schemeClr val="dk1"/>
                </a:solidFill>
                <a:latin typeface="Comic Sans MS"/>
                <a:ea typeface="Comic Sans MS"/>
                <a:cs typeface="Comic Sans MS"/>
                <a:sym typeface="Comic Sans MS"/>
              </a:rPr>
              <a:t>Example: MIPS</a:t>
            </a:r>
            <a:endParaRPr/>
          </a:p>
          <a:p>
            <a:pPr indent="0" lvl="0" marL="0" marR="0" rtl="0" algn="just">
              <a:lnSpc>
                <a:spcPct val="100000"/>
              </a:lnSpc>
              <a:spcBef>
                <a:spcPts val="0"/>
              </a:spcBef>
              <a:spcAft>
                <a:spcPts val="0"/>
              </a:spcAft>
              <a:buClr>
                <a:schemeClr val="dk1"/>
              </a:buClr>
              <a:buSzPts val="3200"/>
              <a:buFont typeface="Times New Roman"/>
              <a:buNone/>
            </a:pPr>
            <a:r>
              <a:t/>
            </a:r>
            <a:endParaRPr b="0" i="0" sz="3200" u="none">
              <a:solidFill>
                <a:schemeClr val="dk1"/>
              </a:solidFill>
              <a:latin typeface="Comic Sans MS"/>
              <a:ea typeface="Comic Sans MS"/>
              <a:cs typeface="Comic Sans MS"/>
              <a:sym typeface="Comic Sans MS"/>
            </a:endParaRPr>
          </a:p>
          <a:p>
            <a:pPr indent="-203200" lvl="0" marL="0" marR="0" rtl="0" algn="just">
              <a:lnSpc>
                <a:spcPct val="100000"/>
              </a:lnSpc>
              <a:spcBef>
                <a:spcPts val="0"/>
              </a:spcBef>
              <a:spcAft>
                <a:spcPts val="0"/>
              </a:spcAft>
              <a:buClr>
                <a:schemeClr val="dk1"/>
              </a:buClr>
              <a:buSzPts val="3200"/>
              <a:buFont typeface="Comic Sans MS"/>
              <a:buChar char="•"/>
            </a:pPr>
            <a:r>
              <a:rPr b="0" i="0" lang="en-US" sz="3200" u="none">
                <a:solidFill>
                  <a:schemeClr val="dk1"/>
                </a:solidFill>
                <a:latin typeface="Comic Sans MS"/>
                <a:ea typeface="Comic Sans MS"/>
                <a:cs typeface="Comic Sans MS"/>
                <a:sym typeface="Comic Sans MS"/>
              </a:rPr>
              <a:t>Desired properties</a:t>
            </a:r>
            <a:endParaRPr/>
          </a:p>
          <a:p>
            <a:pPr indent="-203200" lvl="2" marL="914400" marR="0" rtl="0" algn="l">
              <a:lnSpc>
                <a:spcPct val="90000"/>
              </a:lnSpc>
              <a:spcBef>
                <a:spcPts val="0"/>
              </a:spcBef>
              <a:spcAft>
                <a:spcPts val="0"/>
              </a:spcAft>
              <a:buClr>
                <a:schemeClr val="dk1"/>
              </a:buClr>
              <a:buSzPts val="3200"/>
              <a:buFont typeface="Comic Sans MS"/>
              <a:buChar char="•"/>
            </a:pPr>
            <a:r>
              <a:rPr b="0" i="0" lang="en-US" sz="3200" u="none" cap="none" strike="noStrike">
                <a:solidFill>
                  <a:schemeClr val="dk1"/>
                </a:solidFill>
                <a:latin typeface="Comic Sans MS"/>
                <a:ea typeface="Comic Sans MS"/>
                <a:cs typeface="Comic Sans MS"/>
                <a:sym typeface="Comic Sans MS"/>
              </a:rPr>
              <a:t>Convenience  (from software side)</a:t>
            </a:r>
            <a:endParaRPr/>
          </a:p>
          <a:p>
            <a:pPr indent="-203200" lvl="2" marL="914400" marR="0" rtl="0" algn="l">
              <a:lnSpc>
                <a:spcPct val="90000"/>
              </a:lnSpc>
              <a:spcBef>
                <a:spcPts val="0"/>
              </a:spcBef>
              <a:spcAft>
                <a:spcPts val="0"/>
              </a:spcAft>
              <a:buClr>
                <a:schemeClr val="dk1"/>
              </a:buClr>
              <a:buSzPts val="3200"/>
              <a:buFont typeface="Comic Sans MS"/>
              <a:buChar char="•"/>
            </a:pPr>
            <a:r>
              <a:rPr b="0" i="0" lang="en-US" sz="3200" u="none" cap="none" strike="noStrike">
                <a:solidFill>
                  <a:schemeClr val="dk1"/>
                </a:solidFill>
                <a:latin typeface="Comic Sans MS"/>
                <a:ea typeface="Comic Sans MS"/>
                <a:cs typeface="Comic Sans MS"/>
                <a:sym typeface="Comic Sans MS"/>
              </a:rPr>
              <a:t>Efficiency (from hardware side)</a:t>
            </a:r>
            <a:endParaRPr/>
          </a:p>
        </p:txBody>
      </p:sp>
      <p:pic>
        <p:nvPicPr>
          <p:cNvPr id="151" name="Google Shape;151;p6"/>
          <p:cNvPicPr preferRelativeResize="0"/>
          <p:nvPr/>
        </p:nvPicPr>
        <p:blipFill rotWithShape="1">
          <a:blip r:embed="rId3">
            <a:alphaModFix/>
          </a:blip>
          <a:srcRect b="0" l="0" r="0" t="0"/>
          <a:stretch/>
        </p:blipFill>
        <p:spPr>
          <a:xfrm>
            <a:off x="1752600" y="457200"/>
            <a:ext cx="6088062" cy="3200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7"/>
          <p:cNvSpPr txBox="1"/>
          <p:nvPr/>
        </p:nvSpPr>
        <p:spPr>
          <a:xfrm>
            <a:off x="0" y="0"/>
            <a:ext cx="86868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1" lang="en-US" sz="3200" u="none">
                <a:solidFill>
                  <a:srgbClr val="6B6BCF"/>
                </a:solidFill>
                <a:latin typeface="Comic Sans MS"/>
                <a:ea typeface="Comic Sans MS"/>
                <a:cs typeface="Comic Sans MS"/>
                <a:sym typeface="Comic Sans MS"/>
              </a:rPr>
              <a:t>Cont.</a:t>
            </a:r>
            <a:endParaRPr/>
          </a:p>
        </p:txBody>
      </p:sp>
      <p:sp>
        <p:nvSpPr>
          <p:cNvPr id="157" name="Google Shape;157;p7"/>
          <p:cNvSpPr txBox="1"/>
          <p:nvPr/>
        </p:nvSpPr>
        <p:spPr>
          <a:xfrm>
            <a:off x="0" y="533400"/>
            <a:ext cx="9144000" cy="5694362"/>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Part of computer architecture related to programming</a:t>
            </a:r>
            <a:endParaRPr/>
          </a:p>
          <a:p>
            <a:pPr indent="0" lvl="0" marL="0" marR="0" rtl="0" algn="just">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177800" lvl="0" marL="0" marR="0" rtl="0" algn="just">
              <a:lnSpc>
                <a:spcPct val="100000"/>
              </a:lnSpc>
              <a:spcBef>
                <a:spcPts val="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Define registers </a:t>
            </a:r>
            <a:endParaRPr/>
          </a:p>
          <a:p>
            <a:pPr indent="-177800" lvl="1" marL="457200" marR="0" rtl="0" algn="just">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Comic Sans MS"/>
                <a:ea typeface="Comic Sans MS"/>
                <a:cs typeface="Comic Sans MS"/>
                <a:sym typeface="Comic Sans MS"/>
              </a:rPr>
              <a:t>R1, R2,...</a:t>
            </a:r>
            <a:endParaRPr/>
          </a:p>
          <a:p>
            <a:pPr indent="-177800" lvl="0" marL="0" marR="0" rtl="0" algn="just">
              <a:lnSpc>
                <a:spcPct val="100000"/>
              </a:lnSpc>
              <a:spcBef>
                <a:spcPts val="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Define data transfer modes (instructions) between registers, memory and I/O</a:t>
            </a:r>
            <a:endParaRPr/>
          </a:p>
          <a:p>
            <a:pPr indent="-177800" lvl="2" marL="457200" marR="0" rtl="0" algn="just">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Comic Sans MS"/>
                <a:ea typeface="Comic Sans MS"/>
                <a:cs typeface="Comic Sans MS"/>
                <a:sym typeface="Comic Sans MS"/>
              </a:rPr>
              <a:t>e.g. MOV, ADD, INC</a:t>
            </a:r>
            <a:endParaRPr/>
          </a:p>
          <a:p>
            <a:pPr indent="0" lvl="2" marL="457200" marR="0" rtl="0" algn="just">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Comic Sans MS"/>
              <a:ea typeface="Comic Sans MS"/>
              <a:cs typeface="Comic Sans MS"/>
              <a:sym typeface="Comic Sans MS"/>
            </a:endParaRPr>
          </a:p>
          <a:p>
            <a:pPr indent="-177800" lvl="0" marL="0" marR="0" rtl="0" algn="just">
              <a:lnSpc>
                <a:spcPct val="100000"/>
              </a:lnSpc>
              <a:spcBef>
                <a:spcPts val="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There should be sufficient instructions to efficiently translate any program</a:t>
            </a:r>
            <a:endParaRPr/>
          </a:p>
          <a:p>
            <a:pPr indent="-177800" lvl="1" marL="457200" marR="0" rtl="0" algn="just">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Comic Sans MS"/>
                <a:ea typeface="Comic Sans MS"/>
                <a:cs typeface="Comic Sans MS"/>
                <a:sym typeface="Comic Sans MS"/>
              </a:rPr>
              <a:t>e.g. MOV, ADD, INC</a:t>
            </a:r>
            <a:endParaRPr/>
          </a:p>
          <a:p>
            <a:pPr indent="0" lvl="0" marL="0" marR="0" rtl="0" algn="l">
              <a:lnSpc>
                <a:spcPct val="100000"/>
              </a:lnSpc>
              <a:spcBef>
                <a:spcPts val="0"/>
              </a:spcBef>
              <a:spcAft>
                <a:spcPts val="0"/>
              </a:spcAft>
              <a:buNone/>
            </a:pPr>
            <a:r>
              <a:t/>
            </a:r>
            <a:endParaRPr b="0" i="0" sz="28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txBox="1"/>
          <p:nvPr/>
        </p:nvSpPr>
        <p:spPr>
          <a:xfrm>
            <a:off x="0" y="0"/>
            <a:ext cx="86868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1" lang="en-US" sz="3200" u="none">
                <a:solidFill>
                  <a:srgbClr val="6B6BCF"/>
                </a:solidFill>
                <a:latin typeface="Comic Sans MS"/>
                <a:ea typeface="Comic Sans MS"/>
                <a:cs typeface="Comic Sans MS"/>
                <a:sym typeface="Comic Sans MS"/>
              </a:rPr>
              <a:t>Machine Organization</a:t>
            </a:r>
            <a:endParaRPr/>
          </a:p>
        </p:txBody>
      </p:sp>
      <p:sp>
        <p:nvSpPr>
          <p:cNvPr id="164" name="Google Shape;164;p8"/>
          <p:cNvSpPr txBox="1"/>
          <p:nvPr/>
        </p:nvSpPr>
        <p:spPr>
          <a:xfrm>
            <a:off x="457200" y="990600"/>
            <a:ext cx="8305800" cy="5334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Comic Sans MS"/>
              <a:buNone/>
            </a:pPr>
            <a:r>
              <a:rPr b="0" i="0" lang="en-US" sz="3200" u="none">
                <a:solidFill>
                  <a:schemeClr val="dk1"/>
                </a:solidFill>
                <a:latin typeface="Comic Sans MS"/>
                <a:ea typeface="Comic Sans MS"/>
                <a:cs typeface="Comic Sans MS"/>
                <a:sym typeface="Comic Sans MS"/>
              </a:rPr>
              <a:t>High-level aspects of a computer’s design</a:t>
            </a:r>
            <a:endParaRPr/>
          </a:p>
          <a:p>
            <a:pPr indent="-285750" lvl="1" marL="742950" marR="0" rtl="0" algn="just">
              <a:lnSpc>
                <a:spcPct val="100000"/>
              </a:lnSpc>
              <a:spcBef>
                <a:spcPts val="640"/>
              </a:spcBef>
              <a:spcAft>
                <a:spcPts val="0"/>
              </a:spcAft>
              <a:buClr>
                <a:schemeClr val="dk1"/>
              </a:buClr>
              <a:buSzPts val="3200"/>
              <a:buFont typeface="Comic Sans MS"/>
              <a:buChar char="–"/>
            </a:pPr>
            <a:r>
              <a:rPr b="0" i="0" lang="en-US" sz="3200" u="none" cap="none" strike="noStrike">
                <a:solidFill>
                  <a:schemeClr val="dk1"/>
                </a:solidFill>
                <a:latin typeface="Comic Sans MS"/>
                <a:ea typeface="Comic Sans MS"/>
                <a:cs typeface="Comic Sans MS"/>
                <a:sym typeface="Comic Sans MS"/>
              </a:rPr>
              <a:t>Principal components: memory, CPU, I/O, …</a:t>
            </a:r>
            <a:endParaRPr/>
          </a:p>
          <a:p>
            <a:pPr indent="-285750" lvl="1" marL="742950" marR="0" rtl="0" algn="just">
              <a:lnSpc>
                <a:spcPct val="100000"/>
              </a:lnSpc>
              <a:spcBef>
                <a:spcPts val="640"/>
              </a:spcBef>
              <a:spcAft>
                <a:spcPts val="0"/>
              </a:spcAft>
              <a:buClr>
                <a:schemeClr val="dk1"/>
              </a:buClr>
              <a:buSzPts val="3200"/>
              <a:buFont typeface="Comic Sans MS"/>
              <a:buChar char="–"/>
            </a:pPr>
            <a:r>
              <a:rPr b="0" i="0" lang="en-US" sz="3200" u="none" cap="none" strike="noStrike">
                <a:solidFill>
                  <a:schemeClr val="dk1"/>
                </a:solidFill>
                <a:latin typeface="Comic Sans MS"/>
                <a:ea typeface="Comic Sans MS"/>
                <a:cs typeface="Comic Sans MS"/>
                <a:sym typeface="Comic Sans MS"/>
              </a:rPr>
              <a:t>How components are interconnected</a:t>
            </a:r>
            <a:endParaRPr/>
          </a:p>
          <a:p>
            <a:pPr indent="-285750" lvl="1" marL="742950" marR="0" rtl="0" algn="just">
              <a:lnSpc>
                <a:spcPct val="100000"/>
              </a:lnSpc>
              <a:spcBef>
                <a:spcPts val="640"/>
              </a:spcBef>
              <a:spcAft>
                <a:spcPts val="0"/>
              </a:spcAft>
              <a:buClr>
                <a:schemeClr val="dk1"/>
              </a:buClr>
              <a:buSzPts val="3200"/>
              <a:buFont typeface="Comic Sans MS"/>
              <a:buChar char="–"/>
            </a:pPr>
            <a:r>
              <a:rPr b="0" i="0" lang="en-US" sz="3200" u="none" cap="none" strike="noStrike">
                <a:solidFill>
                  <a:schemeClr val="dk1"/>
                </a:solidFill>
                <a:latin typeface="Comic Sans MS"/>
                <a:ea typeface="Comic Sans MS"/>
                <a:cs typeface="Comic Sans MS"/>
                <a:sym typeface="Comic Sans MS"/>
              </a:rPr>
              <a:t>How information flows between components</a:t>
            </a:r>
            <a:endParaRPr/>
          </a:p>
          <a:p>
            <a:pPr indent="-285750" lvl="1" marL="742950" marR="0" rtl="0" algn="just">
              <a:lnSpc>
                <a:spcPct val="100000"/>
              </a:lnSpc>
              <a:spcBef>
                <a:spcPts val="640"/>
              </a:spcBef>
              <a:spcAft>
                <a:spcPts val="0"/>
              </a:spcAft>
              <a:buClr>
                <a:schemeClr val="dk1"/>
              </a:buClr>
              <a:buSzPts val="3200"/>
              <a:buFont typeface="Comic Sans MS"/>
              <a:buChar char="–"/>
            </a:pPr>
            <a:r>
              <a:rPr b="0" i="0" lang="en-US" sz="3200" u="none" cap="none" strike="noStrike">
                <a:solidFill>
                  <a:schemeClr val="dk1"/>
                </a:solidFill>
                <a:latin typeface="Comic Sans MS"/>
                <a:ea typeface="Comic Sans MS"/>
                <a:cs typeface="Comic Sans MS"/>
                <a:sym typeface="Comic Sans MS"/>
              </a:rPr>
              <a:t>e.g. AMD Opteron 64 and Intel Pentium 4: same ISA but different organizations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9"/>
          <p:cNvSpPr txBox="1"/>
          <p:nvPr/>
        </p:nvSpPr>
        <p:spPr>
          <a:xfrm>
            <a:off x="0" y="0"/>
            <a:ext cx="86868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1" lang="en-US" sz="3200" u="none">
                <a:solidFill>
                  <a:srgbClr val="6B6BCF"/>
                </a:solidFill>
                <a:latin typeface="Comic Sans MS"/>
                <a:ea typeface="Comic Sans MS"/>
                <a:cs typeface="Comic Sans MS"/>
                <a:sym typeface="Comic Sans MS"/>
              </a:rPr>
              <a:t>Hardware </a:t>
            </a:r>
            <a:endParaRPr/>
          </a:p>
        </p:txBody>
      </p:sp>
      <p:sp>
        <p:nvSpPr>
          <p:cNvPr id="171" name="Google Shape;171;p9"/>
          <p:cNvSpPr txBox="1"/>
          <p:nvPr/>
        </p:nvSpPr>
        <p:spPr>
          <a:xfrm>
            <a:off x="457200" y="990600"/>
            <a:ext cx="8305800" cy="5334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Detailed logic design and the packaging technology of a computer</a:t>
            </a:r>
            <a:endParaRPr/>
          </a:p>
          <a:p>
            <a:pPr indent="-3429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285750" lvl="1" marL="742950" marR="0" rtl="0" algn="l">
              <a:lnSpc>
                <a:spcPct val="100000"/>
              </a:lnSpc>
              <a:spcBef>
                <a:spcPts val="560"/>
              </a:spcBef>
              <a:spcAft>
                <a:spcPts val="0"/>
              </a:spcAft>
              <a:buClr>
                <a:schemeClr val="dk1"/>
              </a:buClr>
              <a:buSzPts val="2800"/>
              <a:buFont typeface="Comic Sans MS"/>
              <a:buChar char="–"/>
            </a:pPr>
            <a:r>
              <a:rPr b="0" i="0" lang="en-US" sz="2800" u="none" cap="none" strike="noStrike">
                <a:solidFill>
                  <a:schemeClr val="dk1"/>
                </a:solidFill>
                <a:latin typeface="Comic Sans MS"/>
                <a:ea typeface="Comic Sans MS"/>
                <a:cs typeface="Comic Sans MS"/>
                <a:sym typeface="Comic Sans MS"/>
              </a:rPr>
              <a:t>E.g. Pentium 4 and Mobile Pentium 4: nearly identical organizations but different hardware details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ph type="title"/>
          </p:nvPr>
        </p:nvSpPr>
        <p:spPr>
          <a:xfrm>
            <a:off x="0" y="0"/>
            <a:ext cx="9144000" cy="7620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rgbClr val="6B6BCF"/>
              </a:buClr>
              <a:buSzPts val="3600"/>
              <a:buFont typeface="Comic Sans MS"/>
              <a:buNone/>
            </a:pPr>
            <a:r>
              <a:rPr b="0" i="0" lang="en-US" sz="3600" u="none">
                <a:solidFill>
                  <a:srgbClr val="6B6BCF"/>
                </a:solidFill>
                <a:latin typeface="Comic Sans MS"/>
                <a:ea typeface="Comic Sans MS"/>
                <a:cs typeface="Comic Sans MS"/>
                <a:sym typeface="Comic Sans MS"/>
              </a:rPr>
              <a:t>Types of computers and their applications</a:t>
            </a:r>
            <a:endParaRPr/>
          </a:p>
        </p:txBody>
      </p:sp>
      <p:sp>
        <p:nvSpPr>
          <p:cNvPr id="177" name="Google Shape;177;p10"/>
          <p:cNvSpPr txBox="1"/>
          <p:nvPr/>
        </p:nvSpPr>
        <p:spPr>
          <a:xfrm>
            <a:off x="0" y="914400"/>
            <a:ext cx="9144000" cy="61595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Desktop</a:t>
            </a:r>
            <a:endParaRPr/>
          </a:p>
          <a:p>
            <a:pPr indent="-285750" lvl="1" marL="742950" marR="0" rtl="0" algn="l">
              <a:lnSpc>
                <a:spcPct val="75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Run third-party software</a:t>
            </a:r>
            <a:endParaRPr/>
          </a:p>
          <a:p>
            <a:pPr indent="-285750" lvl="1" marL="742950" marR="0" rtl="0" algn="l">
              <a:lnSpc>
                <a:spcPct val="75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Office to home applications</a:t>
            </a:r>
            <a:endParaRPr/>
          </a:p>
          <a:p>
            <a:pPr indent="-342900" lvl="0" marL="342900" marR="0" rtl="0" algn="l">
              <a:lnSpc>
                <a:spcPct val="80000"/>
              </a:lnSpc>
              <a:spcBef>
                <a:spcPts val="48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Servers</a:t>
            </a:r>
            <a:endParaRPr/>
          </a:p>
          <a:p>
            <a:pPr indent="-285750" lvl="1" marL="742950" marR="0" rtl="0" algn="l">
              <a:lnSpc>
                <a:spcPct val="75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Modern version of what used to be called mainframes, minicomputers and supercomputers</a:t>
            </a:r>
            <a:endParaRPr/>
          </a:p>
          <a:p>
            <a:pPr indent="-285750" lvl="1" marL="742950" marR="0" rtl="0" algn="l">
              <a:lnSpc>
                <a:spcPct val="75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Large workloads</a:t>
            </a:r>
            <a:endParaRPr/>
          </a:p>
          <a:p>
            <a:pPr indent="-285750" lvl="1" marL="742950" marR="0" rtl="0" algn="l">
              <a:lnSpc>
                <a:spcPct val="75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Built using the same technology in desktops but higher capacity</a:t>
            </a:r>
            <a:endParaRPr/>
          </a:p>
          <a:p>
            <a:pPr indent="-228600" lvl="2" marL="1143000" marR="0" rtl="0" algn="l">
              <a:lnSpc>
                <a:spcPct val="75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Expandable</a:t>
            </a:r>
            <a:endParaRPr/>
          </a:p>
          <a:p>
            <a:pPr indent="-228600" lvl="2" marL="1143000" marR="0" rtl="0" algn="l">
              <a:lnSpc>
                <a:spcPct val="75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Scalable</a:t>
            </a:r>
            <a:endParaRPr/>
          </a:p>
          <a:p>
            <a:pPr indent="-228600" lvl="2" marL="1143000" marR="0" rtl="0" algn="l">
              <a:lnSpc>
                <a:spcPct val="75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Reliable</a:t>
            </a:r>
            <a:endParaRPr/>
          </a:p>
          <a:p>
            <a:pPr indent="-285750" lvl="1" marL="742950" marR="0" rtl="0" algn="l">
              <a:lnSpc>
                <a:spcPct val="75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Large spectrum: from low-end (file storage, small businesses) to supercomputers (high end scientific and engineering applications)</a:t>
            </a:r>
            <a:endParaRPr/>
          </a:p>
          <a:p>
            <a:pPr indent="-228600" lvl="2" marL="1143000" marR="0" rtl="0" algn="l">
              <a:lnSpc>
                <a:spcPct val="75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Gigabytes to Terabytes to Petabytes of storage</a:t>
            </a:r>
            <a:endParaRPr/>
          </a:p>
          <a:p>
            <a:pPr indent="-285750" lvl="1" marL="742950" marR="0" rtl="0" algn="l">
              <a:lnSpc>
                <a:spcPct val="75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Examples: file servers, web servers, database servers</a:t>
            </a:r>
            <a:endParaRPr/>
          </a:p>
          <a:p>
            <a:pPr indent="0" lvl="0" marL="0" marR="0" rtl="0" algn="l">
              <a:lnSpc>
                <a:spcPct val="100000"/>
              </a:lnSpc>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1"/>
          <p:cNvSpPr txBox="1"/>
          <p:nvPr>
            <p:ph type="title"/>
          </p:nvPr>
        </p:nvSpPr>
        <p:spPr>
          <a:xfrm>
            <a:off x="0" y="0"/>
            <a:ext cx="9144000" cy="7620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rgbClr val="6B6BCF"/>
              </a:buClr>
              <a:buSzPts val="3600"/>
              <a:buFont typeface="Comic Sans MS"/>
              <a:buNone/>
            </a:pPr>
            <a:r>
              <a:rPr b="0" i="0" lang="en-US" sz="3600" u="none">
                <a:solidFill>
                  <a:srgbClr val="6B6BCF"/>
                </a:solidFill>
                <a:latin typeface="Comic Sans MS"/>
                <a:ea typeface="Comic Sans MS"/>
                <a:cs typeface="Comic Sans MS"/>
                <a:sym typeface="Comic Sans MS"/>
              </a:rPr>
              <a:t>Cont.</a:t>
            </a:r>
            <a:endParaRPr/>
          </a:p>
        </p:txBody>
      </p:sp>
      <p:sp>
        <p:nvSpPr>
          <p:cNvPr id="183" name="Google Shape;183;p11"/>
          <p:cNvSpPr txBox="1"/>
          <p:nvPr/>
        </p:nvSpPr>
        <p:spPr>
          <a:xfrm>
            <a:off x="152400" y="609600"/>
            <a:ext cx="8153400" cy="4651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Embedded </a:t>
            </a:r>
            <a:endParaRPr/>
          </a:p>
          <a:p>
            <a:pPr indent="-285750" lvl="1" marL="742950" marR="0" rtl="0" algn="l">
              <a:lnSpc>
                <a:spcPct val="100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Microprocessors everywhere! (washing machines, cell phones, automobiles, video games)</a:t>
            </a:r>
            <a:endParaRPr/>
          </a:p>
          <a:p>
            <a:pPr indent="-285750" lvl="1" marL="742950" marR="0" rtl="0" algn="l">
              <a:lnSpc>
                <a:spcPct val="100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Run one or a few applications</a:t>
            </a:r>
            <a:endParaRPr/>
          </a:p>
          <a:p>
            <a:pPr indent="-285750" lvl="1" marL="742950" marR="0" rtl="0" algn="l">
              <a:lnSpc>
                <a:spcPct val="100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Specialized hardware integrated with the application </a:t>
            </a:r>
            <a:endParaRPr/>
          </a:p>
          <a:p>
            <a:pPr indent="-285750" lvl="1" marL="742950" marR="0" rtl="0" algn="l">
              <a:lnSpc>
                <a:spcPct val="100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Usually stringent limitations (battery power)</a:t>
            </a:r>
            <a:endParaRPr/>
          </a:p>
          <a:p>
            <a:pPr indent="-285750" lvl="1" marL="742950" marR="0" rtl="0" algn="l">
              <a:lnSpc>
                <a:spcPct val="100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High tolerance for failure</a:t>
            </a:r>
            <a:endParaRPr/>
          </a:p>
          <a:p>
            <a:pPr indent="-285750" lvl="1" marL="742950" marR="0" rtl="0" algn="l">
              <a:lnSpc>
                <a:spcPct val="100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Becoming ubiquitous</a:t>
            </a:r>
            <a:endParaRPr/>
          </a:p>
          <a:p>
            <a:pPr indent="-285750" lvl="1" marL="742950" marR="0" rtl="0" algn="l">
              <a:lnSpc>
                <a:spcPct val="100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Engineered using </a:t>
            </a:r>
            <a:r>
              <a:rPr b="0" i="1" lang="en-US" sz="2400" u="none" cap="none" strike="noStrike">
                <a:solidFill>
                  <a:schemeClr val="dk1"/>
                </a:solidFill>
                <a:latin typeface="Comic Sans MS"/>
                <a:ea typeface="Comic Sans MS"/>
                <a:cs typeface="Comic Sans MS"/>
                <a:sym typeface="Comic Sans MS"/>
              </a:rPr>
              <a:t>processor cores</a:t>
            </a:r>
            <a:endParaRPr b="0" i="0" sz="2400" u="none" cap="none" strike="noStrike">
              <a:solidFill>
                <a:schemeClr val="dk1"/>
              </a:solidFill>
              <a:latin typeface="Comic Sans MS"/>
              <a:ea typeface="Comic Sans MS"/>
              <a:cs typeface="Comic Sans MS"/>
              <a:sym typeface="Comic Sans MS"/>
            </a:endParaRPr>
          </a:p>
          <a:p>
            <a:pPr indent="-228600" lvl="2" marL="1143000" marR="0" rtl="0" algn="l">
              <a:lnSpc>
                <a:spcPct val="100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The core allows the engineer to integrate other functions into the processor for fabrication on the same chip</a:t>
            </a:r>
            <a:endParaRPr/>
          </a:p>
          <a:p>
            <a:pPr indent="-228600" lvl="2" marL="1143000" marR="0" rtl="0" algn="l">
              <a:lnSpc>
                <a:spcPct val="100000"/>
              </a:lnSpc>
              <a:spcBef>
                <a:spcPts val="480"/>
              </a:spcBef>
              <a:spcAft>
                <a:spcPts val="0"/>
              </a:spcAft>
              <a:buClr>
                <a:schemeClr val="dk1"/>
              </a:buClr>
              <a:buSzPts val="2400"/>
              <a:buFont typeface="Comic Sans MS"/>
              <a:buChar char="•"/>
            </a:pPr>
            <a:r>
              <a:rPr b="0" i="0" lang="en-US" sz="2400" u="none" cap="none" strike="noStrike">
                <a:solidFill>
                  <a:schemeClr val="dk1"/>
                </a:solidFill>
                <a:latin typeface="Comic Sans MS"/>
                <a:ea typeface="Comic Sans MS"/>
                <a:cs typeface="Comic Sans MS"/>
                <a:sym typeface="Comic Sans MS"/>
              </a:rPr>
              <a:t>Using hardware description languages: Verilog, VHDL</a:t>
            </a:r>
            <a:endParaRPr/>
          </a:p>
          <a:p>
            <a:pPr indent="0" lvl="0" marL="0" marR="0" rtl="0" algn="l">
              <a:lnSpc>
                <a:spcPct val="100000"/>
              </a:lnSpc>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2"/>
          <p:cNvSpPr txBox="1"/>
          <p:nvPr>
            <p:ph type="title"/>
          </p:nvPr>
        </p:nvSpPr>
        <p:spPr>
          <a:xfrm>
            <a:off x="0" y="0"/>
            <a:ext cx="9144000" cy="7620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rgbClr val="6B6BCF"/>
              </a:buClr>
              <a:buSzPts val="3600"/>
              <a:buFont typeface="Comic Sans MS"/>
              <a:buNone/>
            </a:pPr>
            <a:r>
              <a:rPr b="0" i="0" lang="en-US" sz="3600" u="none">
                <a:solidFill>
                  <a:srgbClr val="6B6BCF"/>
                </a:solidFill>
                <a:latin typeface="Comic Sans MS"/>
                <a:ea typeface="Comic Sans MS"/>
                <a:cs typeface="Comic Sans MS"/>
                <a:sym typeface="Comic Sans MS"/>
              </a:rPr>
              <a:t>What is the Market ?</a:t>
            </a:r>
            <a:endParaRPr/>
          </a:p>
        </p:txBody>
      </p:sp>
      <p:pic>
        <p:nvPicPr>
          <p:cNvPr id="189" name="Google Shape;189;p12"/>
          <p:cNvPicPr preferRelativeResize="0"/>
          <p:nvPr/>
        </p:nvPicPr>
        <p:blipFill rotWithShape="1">
          <a:blip r:embed="rId3">
            <a:alphaModFix/>
          </a:blip>
          <a:srcRect b="0" l="0" r="0" t="0"/>
          <a:stretch/>
        </p:blipFill>
        <p:spPr>
          <a:xfrm>
            <a:off x="838200" y="1143000"/>
            <a:ext cx="7386637" cy="4495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3"/>
          <p:cNvSpPr txBox="1"/>
          <p:nvPr/>
        </p:nvSpPr>
        <p:spPr>
          <a:xfrm>
            <a:off x="0" y="228600"/>
            <a:ext cx="91440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0" lang="en-US" sz="3200" u="none">
                <a:solidFill>
                  <a:srgbClr val="6B6BCF"/>
                </a:solidFill>
                <a:latin typeface="Comic Sans MS"/>
                <a:ea typeface="Comic Sans MS"/>
                <a:cs typeface="Comic Sans MS"/>
                <a:sym typeface="Comic Sans MS"/>
              </a:rPr>
              <a:t>From a High-Level Language to the Language of Hardware </a:t>
            </a:r>
            <a:endParaRPr/>
          </a:p>
        </p:txBody>
      </p:sp>
      <p:pic>
        <p:nvPicPr>
          <p:cNvPr id="195" name="Google Shape;195;p13"/>
          <p:cNvPicPr preferRelativeResize="0"/>
          <p:nvPr/>
        </p:nvPicPr>
        <p:blipFill rotWithShape="1">
          <a:blip r:embed="rId3">
            <a:alphaModFix/>
          </a:blip>
          <a:srcRect b="0" l="0" r="0" t="0"/>
          <a:stretch/>
        </p:blipFill>
        <p:spPr>
          <a:xfrm>
            <a:off x="2819400" y="762000"/>
            <a:ext cx="4876800" cy="60436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4"/>
          <p:cNvSpPr txBox="1"/>
          <p:nvPr/>
        </p:nvSpPr>
        <p:spPr>
          <a:xfrm>
            <a:off x="0" y="228600"/>
            <a:ext cx="91440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1" lang="en-US" sz="3200" u="none">
                <a:solidFill>
                  <a:srgbClr val="6B6BCF"/>
                </a:solidFill>
                <a:latin typeface="Comic Sans MS"/>
                <a:ea typeface="Comic Sans MS"/>
                <a:cs typeface="Comic Sans MS"/>
                <a:sym typeface="Comic Sans MS"/>
              </a:rPr>
              <a:t>Evolution…</a:t>
            </a:r>
            <a:endParaRPr/>
          </a:p>
          <a:p>
            <a:pPr indent="0" lvl="0" marL="0" marR="0" rtl="0" algn="l">
              <a:lnSpc>
                <a:spcPct val="100000"/>
              </a:lnSpc>
              <a:spcBef>
                <a:spcPts val="0"/>
              </a:spcBef>
              <a:spcAft>
                <a:spcPts val="0"/>
              </a:spcAft>
              <a:buNone/>
            </a:pPr>
            <a:r>
              <a:t/>
            </a:r>
            <a:endParaRPr b="0" i="1" sz="3200" u="none">
              <a:solidFill>
                <a:srgbClr val="6B6BCF"/>
              </a:solidFill>
              <a:latin typeface="Comic Sans MS"/>
              <a:ea typeface="Comic Sans MS"/>
              <a:cs typeface="Comic Sans MS"/>
              <a:sym typeface="Comic Sans MS"/>
            </a:endParaRPr>
          </a:p>
        </p:txBody>
      </p:sp>
      <p:sp>
        <p:nvSpPr>
          <p:cNvPr id="201" name="Google Shape;201;p14"/>
          <p:cNvSpPr txBox="1"/>
          <p:nvPr/>
        </p:nvSpPr>
        <p:spPr>
          <a:xfrm>
            <a:off x="0" y="533400"/>
            <a:ext cx="9144000" cy="4953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In the beginning there were only bits… and people spent countless hours trying to program in machine language</a:t>
            </a:r>
            <a:endParaRPr/>
          </a:p>
          <a:p>
            <a:pPr indent="-3429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342900" lvl="0" marL="342900" marR="0" rtl="0" algn="just">
              <a:lnSpc>
                <a:spcPct val="100000"/>
              </a:lnSpc>
              <a:spcBef>
                <a:spcPts val="56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 		01100011001 011001110100</a:t>
            </a:r>
            <a:endParaRPr/>
          </a:p>
          <a:p>
            <a:pPr indent="-3429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342900" lvl="0" marL="342900" marR="0" rtl="0" algn="just">
              <a:lnSpc>
                <a:spcPct val="100000"/>
              </a:lnSpc>
              <a:spcBef>
                <a:spcPts val="56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Finally before everybody went insane, the </a:t>
            </a:r>
            <a:r>
              <a:rPr b="1" i="0" lang="en-US" sz="2800" u="none">
                <a:solidFill>
                  <a:schemeClr val="dk1"/>
                </a:solidFill>
                <a:latin typeface="Comic Sans MS"/>
                <a:ea typeface="Comic Sans MS"/>
                <a:cs typeface="Comic Sans MS"/>
                <a:sym typeface="Comic Sans MS"/>
              </a:rPr>
              <a:t>assembler </a:t>
            </a:r>
            <a:r>
              <a:rPr b="0" i="0" lang="en-US" sz="2800" u="none">
                <a:solidFill>
                  <a:schemeClr val="dk1"/>
                </a:solidFill>
                <a:latin typeface="Comic Sans MS"/>
                <a:ea typeface="Comic Sans MS"/>
                <a:cs typeface="Comic Sans MS"/>
                <a:sym typeface="Comic Sans MS"/>
              </a:rPr>
              <a:t>was invented: write in mnemonics called assembly language and let the assembler translate (a one to one translation)</a:t>
            </a:r>
            <a:endParaRPr/>
          </a:p>
          <a:p>
            <a:pPr indent="-342900" lvl="0" marL="342900" marR="0" rtl="0" algn="just">
              <a:lnSpc>
                <a:spcPct val="100000"/>
              </a:lnSpc>
              <a:spcBef>
                <a:spcPts val="56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	Add A,B</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5"/>
          <p:cNvSpPr txBox="1"/>
          <p:nvPr/>
        </p:nvSpPr>
        <p:spPr>
          <a:xfrm>
            <a:off x="0" y="228600"/>
            <a:ext cx="91440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1" lang="en-US" sz="3200" u="none">
                <a:solidFill>
                  <a:srgbClr val="6B6BCF"/>
                </a:solidFill>
                <a:latin typeface="Comic Sans MS"/>
                <a:ea typeface="Comic Sans MS"/>
                <a:cs typeface="Comic Sans MS"/>
                <a:sym typeface="Comic Sans MS"/>
              </a:rPr>
              <a:t>Evolution…Cont.</a:t>
            </a:r>
            <a:endParaRPr/>
          </a:p>
          <a:p>
            <a:pPr indent="0" lvl="0" marL="0" marR="0" rtl="0" algn="l">
              <a:lnSpc>
                <a:spcPct val="100000"/>
              </a:lnSpc>
              <a:spcBef>
                <a:spcPts val="0"/>
              </a:spcBef>
              <a:spcAft>
                <a:spcPts val="0"/>
              </a:spcAft>
              <a:buNone/>
            </a:pPr>
            <a:r>
              <a:t/>
            </a:r>
            <a:endParaRPr b="0" i="1" sz="3200" u="none">
              <a:solidFill>
                <a:srgbClr val="6B6BCF"/>
              </a:solidFill>
              <a:latin typeface="Comic Sans MS"/>
              <a:ea typeface="Comic Sans MS"/>
              <a:cs typeface="Comic Sans MS"/>
              <a:sym typeface="Comic Sans MS"/>
            </a:endParaRPr>
          </a:p>
        </p:txBody>
      </p:sp>
      <p:sp>
        <p:nvSpPr>
          <p:cNvPr id="207" name="Google Shape;207;p15"/>
          <p:cNvSpPr txBox="1"/>
          <p:nvPr/>
        </p:nvSpPr>
        <p:spPr>
          <a:xfrm>
            <a:off x="0" y="533400"/>
            <a:ext cx="9144000" cy="4953000"/>
          </a:xfrm>
          <a:prstGeom prst="rect">
            <a:avLst/>
          </a:prstGeom>
          <a:noFill/>
          <a:ln>
            <a:noFill/>
          </a:ln>
        </p:spPr>
        <p:txBody>
          <a:bodyPr anchorCtr="0" anchor="t" bIns="45700" lIns="91425" spcFirstLastPara="1" rIns="91425" wrap="square" tIns="45700">
            <a:noAutofit/>
          </a:bodyPr>
          <a:lstStyle/>
          <a:p>
            <a:pPr indent="-177800" lvl="0" marL="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omic Sans MS"/>
                <a:ea typeface="Comic Sans MS"/>
                <a:cs typeface="Comic Sans MS"/>
                <a:sym typeface="Comic Sans MS"/>
              </a:rPr>
              <a:t>Assembler is a program that translates a symbolic version of instructions into the binary version.</a:t>
            </a:r>
            <a:endParaRPr/>
          </a:p>
          <a:p>
            <a:pPr indent="-177800" lvl="0" marL="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omic Sans MS"/>
                <a:ea typeface="Comic Sans MS"/>
                <a:cs typeface="Comic Sans MS"/>
                <a:sym typeface="Comic Sans MS"/>
              </a:rPr>
              <a:t>This program translates a symbolic version of an instruction into the binary version. For example, the programmer would write</a:t>
            </a:r>
            <a:endParaRPr/>
          </a:p>
          <a:p>
            <a:pPr indent="0" lvl="0" marL="0" marR="0" rtl="0" algn="just">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		</a:t>
            </a:r>
            <a:r>
              <a:rPr b="0" i="0" lang="en-US" sz="2800" u="none">
                <a:solidFill>
                  <a:srgbClr val="6B6BCF"/>
                </a:solidFill>
                <a:latin typeface="Comic Sans MS"/>
                <a:ea typeface="Comic Sans MS"/>
                <a:cs typeface="Comic Sans MS"/>
                <a:sym typeface="Comic Sans MS"/>
              </a:rPr>
              <a:t>add A, B</a:t>
            </a:r>
            <a:endParaRPr/>
          </a:p>
          <a:p>
            <a:pPr indent="0" lvl="0" marL="0" marR="0" rtl="0" algn="just">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and the assembler would translate this notation into</a:t>
            </a:r>
            <a:endParaRPr/>
          </a:p>
          <a:p>
            <a:pPr indent="0" lvl="0" marL="0" marR="0" rtl="0" algn="l">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		</a:t>
            </a:r>
            <a:r>
              <a:rPr b="0" i="0" lang="en-US" sz="2800" u="none">
                <a:solidFill>
                  <a:srgbClr val="6B6BCF"/>
                </a:solidFill>
                <a:latin typeface="Comic Sans MS"/>
                <a:ea typeface="Comic Sans MS"/>
                <a:cs typeface="Comic Sans MS"/>
                <a:sym typeface="Comic Sans MS"/>
              </a:rPr>
              <a:t>1000110010100000 </a:t>
            </a:r>
            <a:endParaRPr/>
          </a:p>
          <a:p>
            <a:pPr indent="0" lvl="0" marL="0" marR="0" rtl="0" algn="just">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0" lvl="0" marL="0" marR="0" rtl="0" algn="just">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This instruction tells the computer to add the two numbers A and B. </a:t>
            </a:r>
            <a:endParaRPr/>
          </a:p>
          <a:p>
            <a:pPr indent="0" lvl="0" marL="0" marR="0" rtl="0" algn="ctr">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t/>
            </a:r>
            <a:endParaRPr b="0" i="0" sz="2800" u="none">
              <a:solidFill>
                <a:schemeClr val="dk1"/>
              </a:solidFill>
              <a:latin typeface="Comic Sans MS"/>
              <a:ea typeface="Comic Sans MS"/>
              <a:cs typeface="Comic Sans MS"/>
              <a:sym typeface="Comic Sans M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6"/>
          <p:cNvSpPr txBox="1"/>
          <p:nvPr/>
        </p:nvSpPr>
        <p:spPr>
          <a:xfrm>
            <a:off x="0" y="228600"/>
            <a:ext cx="91440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1" lang="en-US" sz="3200" u="none">
                <a:solidFill>
                  <a:srgbClr val="6B6BCF"/>
                </a:solidFill>
                <a:latin typeface="Comic Sans MS"/>
                <a:ea typeface="Comic Sans MS"/>
                <a:cs typeface="Comic Sans MS"/>
                <a:sym typeface="Comic Sans MS"/>
              </a:rPr>
              <a:t>Evolution…Cont.</a:t>
            </a:r>
            <a:endParaRPr/>
          </a:p>
          <a:p>
            <a:pPr indent="0" lvl="0" marL="0" marR="0" rtl="0" algn="l">
              <a:lnSpc>
                <a:spcPct val="100000"/>
              </a:lnSpc>
              <a:spcBef>
                <a:spcPts val="0"/>
              </a:spcBef>
              <a:spcAft>
                <a:spcPts val="0"/>
              </a:spcAft>
              <a:buNone/>
            </a:pPr>
            <a:r>
              <a:t/>
            </a:r>
            <a:endParaRPr b="0" i="1" sz="3200" u="none">
              <a:solidFill>
                <a:srgbClr val="6B6BCF"/>
              </a:solidFill>
              <a:latin typeface="Comic Sans MS"/>
              <a:ea typeface="Comic Sans MS"/>
              <a:cs typeface="Comic Sans MS"/>
              <a:sym typeface="Comic Sans MS"/>
            </a:endParaRPr>
          </a:p>
        </p:txBody>
      </p:sp>
      <p:sp>
        <p:nvSpPr>
          <p:cNvPr id="213" name="Google Shape;213;p16"/>
          <p:cNvSpPr txBox="1"/>
          <p:nvPr/>
        </p:nvSpPr>
        <p:spPr>
          <a:xfrm>
            <a:off x="0" y="533400"/>
            <a:ext cx="9144000" cy="4953000"/>
          </a:xfrm>
          <a:prstGeom prst="rect">
            <a:avLst/>
          </a:prstGeom>
          <a:noFill/>
          <a:ln>
            <a:noFill/>
          </a:ln>
        </p:spPr>
        <p:txBody>
          <a:bodyPr anchorCtr="0" anchor="t" bIns="45700" lIns="91425" spcFirstLastPara="1" rIns="91425" wrap="square" tIns="45700">
            <a:noAutofit/>
          </a:bodyPr>
          <a:lstStyle/>
          <a:p>
            <a:pPr indent="-177800" lvl="0" marL="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omic Sans MS"/>
                <a:ea typeface="Comic Sans MS"/>
                <a:cs typeface="Comic Sans MS"/>
                <a:sym typeface="Comic Sans MS"/>
              </a:rPr>
              <a:t>The name coined for this symbolic language, still used today, is assembly language. In contrast, the binary language that the machine understands is the machine language.</a:t>
            </a:r>
            <a:endParaRPr/>
          </a:p>
          <a:p>
            <a:pPr indent="-177800" lvl="0" marL="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omic Sans MS"/>
                <a:ea typeface="Comic Sans MS"/>
                <a:cs typeface="Comic Sans MS"/>
                <a:sym typeface="Comic Sans MS"/>
              </a:rPr>
              <a:t>Assembly language requires the programmer to write one line for every instruction that the computer will follow, forcing the programmer to think like the computer.</a:t>
            </a:r>
            <a:endParaRPr/>
          </a:p>
          <a:p>
            <a:pPr indent="-177800" lvl="0" marL="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omic Sans MS"/>
                <a:ea typeface="Comic Sans MS"/>
                <a:cs typeface="Comic Sans MS"/>
                <a:sym typeface="Comic Sans MS"/>
              </a:rPr>
              <a:t>This wasn’t for everybody, obviously… (imagine how modern applications would have been possible in assembly), so high-level language were born (and with them compilers to translate to assembly, a many-to-one translation</a:t>
            </a:r>
            <a:r>
              <a:rPr b="0" i="0" lang="en-US" sz="2800" u="none">
                <a:solidFill>
                  <a:schemeClr val="dk1"/>
                </a:solidFill>
                <a:latin typeface="Times New Roman"/>
                <a:ea typeface="Times New Roman"/>
                <a:cs typeface="Times New Roman"/>
                <a:sym typeface="Times New Roman"/>
              </a:rPr>
              <a:t>)</a:t>
            </a:r>
            <a:endParaRPr/>
          </a:p>
          <a:p>
            <a:pPr indent="0" lvl="0" marL="0" marR="0" rtl="0" algn="just">
              <a:lnSpc>
                <a:spcPct val="100000"/>
              </a:lnSpc>
              <a:spcBef>
                <a:spcPts val="0"/>
              </a:spcBef>
              <a:spcAft>
                <a:spcPts val="0"/>
              </a:spcAft>
              <a:buClr>
                <a:schemeClr val="dk1"/>
              </a:buClr>
              <a:buSzPts val="2800"/>
              <a:buFont typeface="Arial"/>
              <a:buNone/>
            </a:pPr>
            <a:r>
              <a:t/>
            </a:r>
            <a:endParaRPr b="0" i="0" sz="2800" u="none">
              <a:solidFill>
                <a:schemeClr val="dk1"/>
              </a:solidFill>
              <a:latin typeface="Comic Sans MS"/>
              <a:ea typeface="Comic Sans MS"/>
              <a:cs typeface="Comic Sans MS"/>
              <a:sym typeface="Comic Sans MS"/>
            </a:endParaRPr>
          </a:p>
          <a:p>
            <a:pPr indent="0" lvl="0" marL="0" marR="0" rtl="0" algn="ctr">
              <a:lnSpc>
                <a:spcPct val="100000"/>
              </a:lnSpc>
              <a:spcBef>
                <a:spcPts val="0"/>
              </a:spcBef>
              <a:spcAft>
                <a:spcPts val="0"/>
              </a:spcAft>
              <a:buClr>
                <a:schemeClr val="dk1"/>
              </a:buClr>
              <a:buSzPts val="2800"/>
              <a:buFont typeface="Arial"/>
              <a:buNone/>
            </a:pPr>
            <a:r>
              <a:t/>
            </a:r>
            <a:endParaRPr b="0" i="0" sz="2800" u="non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t/>
            </a:r>
            <a:endParaRPr b="0" i="0" sz="2800" u="none">
              <a:solidFill>
                <a:schemeClr val="dk1"/>
              </a:solidFill>
              <a:latin typeface="Comic Sans MS"/>
              <a:ea typeface="Comic Sans MS"/>
              <a:cs typeface="Comic Sans MS"/>
              <a:sym typeface="Comic Sans M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7"/>
          <p:cNvSpPr txBox="1"/>
          <p:nvPr/>
        </p:nvSpPr>
        <p:spPr>
          <a:xfrm>
            <a:off x="0" y="228600"/>
            <a:ext cx="91440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1" lang="en-US" sz="3200" u="none">
                <a:solidFill>
                  <a:srgbClr val="6B6BCF"/>
                </a:solidFill>
                <a:latin typeface="Comic Sans MS"/>
                <a:ea typeface="Comic Sans MS"/>
                <a:cs typeface="Comic Sans MS"/>
                <a:sym typeface="Comic Sans MS"/>
              </a:rPr>
              <a:t>Evolution…Cont.</a:t>
            </a:r>
            <a:endParaRPr/>
          </a:p>
          <a:p>
            <a:pPr indent="0" lvl="0" marL="0" marR="0" rtl="0" algn="l">
              <a:lnSpc>
                <a:spcPct val="100000"/>
              </a:lnSpc>
              <a:spcBef>
                <a:spcPts val="0"/>
              </a:spcBef>
              <a:spcAft>
                <a:spcPts val="0"/>
              </a:spcAft>
              <a:buNone/>
            </a:pPr>
            <a:r>
              <a:t/>
            </a:r>
            <a:endParaRPr b="0" i="1" sz="3200" u="none">
              <a:solidFill>
                <a:srgbClr val="6B6BCF"/>
              </a:solidFill>
              <a:latin typeface="Comic Sans MS"/>
              <a:ea typeface="Comic Sans MS"/>
              <a:cs typeface="Comic Sans MS"/>
              <a:sym typeface="Comic Sans MS"/>
            </a:endParaRPr>
          </a:p>
        </p:txBody>
      </p:sp>
      <p:sp>
        <p:nvSpPr>
          <p:cNvPr id="219" name="Google Shape;219;p17"/>
          <p:cNvSpPr txBox="1"/>
          <p:nvPr/>
        </p:nvSpPr>
        <p:spPr>
          <a:xfrm>
            <a:off x="0" y="685800"/>
            <a:ext cx="9144000" cy="5262562"/>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A compiler enables a programmer to write this high-level language expression:</a:t>
            </a:r>
            <a:endParaRPr/>
          </a:p>
          <a:p>
            <a:pPr indent="0" lvl="0" marL="0" marR="0" rtl="0" algn="ctr">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A+B</a:t>
            </a:r>
            <a:endParaRPr/>
          </a:p>
          <a:p>
            <a:pPr indent="0" lvl="0" marL="0" marR="0" rtl="0" algn="just">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77800" lvl="0" marL="0" marR="0" rtl="0" algn="just">
              <a:lnSpc>
                <a:spcPct val="100000"/>
              </a:lnSpc>
              <a:spcBef>
                <a:spcPts val="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The compiler would compile it into this assembly language statement:</a:t>
            </a:r>
            <a:endParaRPr/>
          </a:p>
          <a:p>
            <a:pPr indent="0" lvl="0" marL="0" marR="0" rtl="0" algn="ctr">
              <a:lnSpc>
                <a:spcPct val="100000"/>
              </a:lnSpc>
              <a:spcBef>
                <a:spcPts val="0"/>
              </a:spcBef>
              <a:spcAft>
                <a:spcPts val="0"/>
              </a:spcAft>
              <a:buClr>
                <a:schemeClr val="dk1"/>
              </a:buClr>
              <a:buSzPts val="2800"/>
              <a:buFont typeface="Comic Sans MS"/>
              <a:buNone/>
            </a:pPr>
            <a:r>
              <a:rPr b="0" i="0" lang="en-US" sz="2800" u="none">
                <a:solidFill>
                  <a:schemeClr val="dk1"/>
                </a:solidFill>
                <a:latin typeface="Comic Sans MS"/>
                <a:ea typeface="Comic Sans MS"/>
                <a:cs typeface="Comic Sans MS"/>
                <a:sym typeface="Comic Sans MS"/>
              </a:rPr>
              <a:t>add A,B </a:t>
            </a:r>
            <a:endParaRPr/>
          </a:p>
          <a:p>
            <a:pPr indent="0" lvl="0" marL="0" marR="0" rtl="0" algn="l">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177800" lvl="0" marL="0" marR="0" rtl="0" algn="just">
              <a:lnSpc>
                <a:spcPct val="100000"/>
              </a:lnSpc>
              <a:spcBef>
                <a:spcPts val="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The assembler would translate this statement into the binary instructions that tell the computer to add the two numbers A and B.</a:t>
            </a:r>
            <a:endParaRPr/>
          </a:p>
          <a:p>
            <a:pPr indent="0" lvl="0" marL="0" marR="0" rtl="0" algn="l">
              <a:lnSpc>
                <a:spcPct val="100000"/>
              </a:lnSpc>
              <a:spcBef>
                <a:spcPts val="0"/>
              </a:spcBef>
              <a:spcAft>
                <a:spcPts val="0"/>
              </a:spcAft>
              <a:buNone/>
            </a:pPr>
            <a:r>
              <a:t/>
            </a:r>
            <a:endParaRPr b="0" i="0" sz="2800" u="none">
              <a:solidFill>
                <a:schemeClr val="dk1"/>
              </a:solidFill>
              <a:latin typeface="Comic Sans MS"/>
              <a:ea typeface="Comic Sans MS"/>
              <a:cs typeface="Comic Sans MS"/>
              <a:sym typeface="Comic Sans M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8"/>
          <p:cNvSpPr txBox="1"/>
          <p:nvPr/>
        </p:nvSpPr>
        <p:spPr>
          <a:xfrm>
            <a:off x="0" y="0"/>
            <a:ext cx="91440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1" lang="en-US" sz="3200" u="none">
                <a:solidFill>
                  <a:srgbClr val="6B6BCF"/>
                </a:solidFill>
                <a:latin typeface="Comic Sans MS"/>
                <a:ea typeface="Comic Sans MS"/>
                <a:cs typeface="Comic Sans MS"/>
                <a:sym typeface="Comic Sans MS"/>
              </a:rPr>
              <a:t>Benefits of High Level Programming Language </a:t>
            </a:r>
            <a:endParaRPr/>
          </a:p>
        </p:txBody>
      </p:sp>
      <p:sp>
        <p:nvSpPr>
          <p:cNvPr id="225" name="Google Shape;225;p18"/>
          <p:cNvSpPr txBox="1"/>
          <p:nvPr/>
        </p:nvSpPr>
        <p:spPr>
          <a:xfrm>
            <a:off x="0" y="533400"/>
            <a:ext cx="9144000" cy="6124575"/>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First, they allow the programmer to think in a more natural language, using English words and algebraic notation, resulting in programs that look much more like text.</a:t>
            </a:r>
            <a:endParaRPr/>
          </a:p>
          <a:p>
            <a:pPr indent="0" lvl="0" marL="0" marR="0" rtl="0" algn="just">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177800" lvl="0" marL="0" marR="0" rtl="0" algn="just">
              <a:lnSpc>
                <a:spcPct val="100000"/>
              </a:lnSpc>
              <a:spcBef>
                <a:spcPts val="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Moreover, they allow languages to be designed according to their intended use. Hence, Fortran was designed for scientific computation, Cobol for business data processing, Lisp for symbol manipulation, and so on. </a:t>
            </a:r>
            <a:endParaRPr/>
          </a:p>
          <a:p>
            <a:pPr indent="0" lvl="0" marL="0" marR="0" rtl="0" algn="just">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177800" lvl="0" marL="0" marR="0" rtl="0" algn="just">
              <a:lnSpc>
                <a:spcPct val="100000"/>
              </a:lnSpc>
              <a:spcBef>
                <a:spcPts val="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There are also domain-specific languages for even narrower groups of users, such as those interested in simulation of fluids, for example.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9"/>
          <p:cNvSpPr txBox="1"/>
          <p:nvPr/>
        </p:nvSpPr>
        <p:spPr>
          <a:xfrm>
            <a:off x="0" y="0"/>
            <a:ext cx="91440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1" lang="en-US" sz="3200" u="none">
                <a:solidFill>
                  <a:srgbClr val="6B6BCF"/>
                </a:solidFill>
                <a:latin typeface="Comic Sans MS"/>
                <a:ea typeface="Comic Sans MS"/>
                <a:cs typeface="Comic Sans MS"/>
                <a:sym typeface="Comic Sans MS"/>
              </a:rPr>
              <a:t>Cont.</a:t>
            </a:r>
            <a:endParaRPr/>
          </a:p>
        </p:txBody>
      </p:sp>
      <p:sp>
        <p:nvSpPr>
          <p:cNvPr id="231" name="Google Shape;231;p19"/>
          <p:cNvSpPr txBox="1"/>
          <p:nvPr/>
        </p:nvSpPr>
        <p:spPr>
          <a:xfrm>
            <a:off x="0" y="1219200"/>
            <a:ext cx="9144000" cy="3108325"/>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The second advantage of programming languages is improved programmer productivity. </a:t>
            </a:r>
            <a:endParaRPr/>
          </a:p>
          <a:p>
            <a:pPr indent="0" lvl="0" marL="0" marR="0" rtl="0" algn="just">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177800" lvl="0" marL="0" marR="0" rtl="0" algn="just">
              <a:lnSpc>
                <a:spcPct val="100000"/>
              </a:lnSpc>
              <a:spcBef>
                <a:spcPts val="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One of the few areas of widespread agreement in software development is that it takes less time to develop programs when they are written in languages that require fewer lines to express an idea.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0"/>
          <p:cNvSpPr txBox="1"/>
          <p:nvPr/>
        </p:nvSpPr>
        <p:spPr>
          <a:xfrm>
            <a:off x="0" y="1524000"/>
            <a:ext cx="9144000" cy="3540125"/>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The final advantage is that programming languages allow programs to be independent of the computer on which they were developed, since compilers and assemblers can translate high-level language programs to the binary instructions of any computer. </a:t>
            </a:r>
            <a:endParaRPr/>
          </a:p>
          <a:p>
            <a:pPr indent="0" lvl="0" marL="0" marR="0" rtl="0" algn="just">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Comic Sans MS"/>
              <a:ea typeface="Comic Sans MS"/>
              <a:cs typeface="Comic Sans MS"/>
              <a:sym typeface="Comic Sans MS"/>
            </a:endParaRPr>
          </a:p>
          <a:p>
            <a:pPr indent="-177800" lvl="0" marL="0" marR="0" rtl="0" algn="just">
              <a:lnSpc>
                <a:spcPct val="100000"/>
              </a:lnSpc>
              <a:spcBef>
                <a:spcPts val="0"/>
              </a:spcBef>
              <a:spcAft>
                <a:spcPts val="0"/>
              </a:spcAft>
              <a:buClr>
                <a:schemeClr val="dk1"/>
              </a:buClr>
              <a:buSzPts val="2800"/>
              <a:buFont typeface="Comic Sans MS"/>
              <a:buChar char="•"/>
            </a:pPr>
            <a:r>
              <a:rPr b="0" i="0" lang="en-US" sz="2800" u="none">
                <a:solidFill>
                  <a:schemeClr val="dk1"/>
                </a:solidFill>
                <a:latin typeface="Comic Sans MS"/>
                <a:ea typeface="Comic Sans MS"/>
                <a:cs typeface="Comic Sans MS"/>
                <a:sym typeface="Comic Sans MS"/>
              </a:rPr>
              <a:t>These three advantages are so strong that today little programming is done in assembly language</a:t>
            </a:r>
            <a:r>
              <a:rPr b="0" i="0" lang="en-US" sz="1800" u="none">
                <a:solidFill>
                  <a:schemeClr val="dk1"/>
                </a:solidFill>
                <a:latin typeface="Times New Roman"/>
                <a:ea typeface="Times New Roman"/>
                <a:cs typeface="Times New Roman"/>
                <a:sym typeface="Times New Roman"/>
              </a:rPr>
              <a:t>.</a:t>
            </a:r>
            <a:endParaRPr/>
          </a:p>
        </p:txBody>
      </p:sp>
      <p:sp>
        <p:nvSpPr>
          <p:cNvPr id="237" name="Google Shape;237;p20"/>
          <p:cNvSpPr txBox="1"/>
          <p:nvPr/>
        </p:nvSpPr>
        <p:spPr>
          <a:xfrm>
            <a:off x="0" y="0"/>
            <a:ext cx="91440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1" lang="en-US" sz="3200" u="none">
                <a:solidFill>
                  <a:srgbClr val="6B6BCF"/>
                </a:solidFill>
                <a:latin typeface="Comic Sans MS"/>
                <a:ea typeface="Comic Sans MS"/>
                <a:cs typeface="Comic Sans MS"/>
                <a:sym typeface="Comic Sans MS"/>
              </a:rPr>
              <a:t>Cont.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1"/>
          <p:cNvSpPr txBox="1"/>
          <p:nvPr/>
        </p:nvSpPr>
        <p:spPr>
          <a:xfrm>
            <a:off x="0" y="0"/>
            <a:ext cx="91440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0" lang="en-US" sz="3200" u="none">
                <a:solidFill>
                  <a:srgbClr val="6B6BCF"/>
                </a:solidFill>
                <a:latin typeface="Comic Sans MS"/>
                <a:ea typeface="Comic Sans MS"/>
                <a:cs typeface="Comic Sans MS"/>
                <a:sym typeface="Comic Sans MS"/>
              </a:rPr>
              <a:t>Organization of a Computer</a:t>
            </a:r>
            <a:endParaRPr/>
          </a:p>
        </p:txBody>
      </p:sp>
      <p:pic>
        <p:nvPicPr>
          <p:cNvPr descr="05~Figure_1" id="243" name="Google Shape;243;p21"/>
          <p:cNvPicPr preferRelativeResize="0"/>
          <p:nvPr/>
        </p:nvPicPr>
        <p:blipFill rotWithShape="1">
          <a:blip r:embed="rId3">
            <a:alphaModFix/>
          </a:blip>
          <a:srcRect b="0" l="0" r="0" t="0"/>
          <a:stretch/>
        </p:blipFill>
        <p:spPr>
          <a:xfrm>
            <a:off x="990600" y="1206500"/>
            <a:ext cx="7620000" cy="472916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22"/>
          <p:cNvPicPr preferRelativeResize="0"/>
          <p:nvPr/>
        </p:nvPicPr>
        <p:blipFill rotWithShape="1">
          <a:blip r:embed="rId3">
            <a:alphaModFix/>
          </a:blip>
          <a:srcRect b="0" l="0" r="0" t="0"/>
          <a:stretch/>
        </p:blipFill>
        <p:spPr>
          <a:xfrm>
            <a:off x="609600" y="1066800"/>
            <a:ext cx="8247062" cy="5638800"/>
          </a:xfrm>
          <a:prstGeom prst="rect">
            <a:avLst/>
          </a:prstGeom>
          <a:noFill/>
          <a:ln>
            <a:noFill/>
          </a:ln>
        </p:spPr>
      </p:pic>
      <p:sp>
        <p:nvSpPr>
          <p:cNvPr id="249" name="Google Shape;249;p22"/>
          <p:cNvSpPr txBox="1"/>
          <p:nvPr/>
        </p:nvSpPr>
        <p:spPr>
          <a:xfrm>
            <a:off x="0" y="0"/>
            <a:ext cx="91440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6BCF"/>
              </a:buClr>
              <a:buSzPts val="3200"/>
              <a:buFont typeface="Comic Sans MS"/>
              <a:buNone/>
            </a:pPr>
            <a:r>
              <a:rPr b="0" i="0" lang="en-US" sz="3200" u="none">
                <a:solidFill>
                  <a:srgbClr val="6B6BCF"/>
                </a:solidFill>
                <a:latin typeface="Comic Sans MS"/>
                <a:ea typeface="Comic Sans MS"/>
                <a:cs typeface="Comic Sans MS"/>
                <a:sym typeface="Comic Sans MS"/>
              </a:rPr>
              <a:t>Anatomy of a Computer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2008-03-23T23:58:27Z</dcterms:created>
  <dc:creator>Mrs.Nayeema Islam</dc:creator>
</cp:coreProperties>
</file>