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gXWt4Wp8gZ6HffgFZka87/zd6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solidFill>
                  <a:srgbClr val="202124"/>
                </a:solidFill>
                <a:highlight>
                  <a:srgbClr val="FFFFFF"/>
                </a:highlight>
              </a:rPr>
              <a:t>In computer science, overhead is </a:t>
            </a:r>
            <a:r>
              <a:rPr lang="en-US" sz="1400">
                <a:solidFill>
                  <a:srgbClr val="040C28"/>
                </a:solidFill>
              </a:rPr>
              <a:t>any combination of excess or indirect computation time, memory, bandwidth, or other resources that are required to perform a specific task</a:t>
            </a:r>
            <a:r>
              <a:rPr lang="en-US" sz="1400">
                <a:solidFill>
                  <a:srgbClr val="202124"/>
                </a:solidFill>
                <a:highlight>
                  <a:srgbClr val="FFFFFF"/>
                </a:highlight>
              </a:rPr>
              <a:t>.</a:t>
            </a:r>
            <a:endParaRPr sz="1400">
              <a:solidFill>
                <a:schemeClr val="dk1"/>
              </a:solidFill>
            </a:endParaRPr>
          </a:p>
          <a:p>
            <a:pPr indent="0" lvl="0" marL="0" rtl="0" algn="l">
              <a:spcBef>
                <a:spcPts val="0"/>
              </a:spcBef>
              <a:spcAft>
                <a:spcPts val="0"/>
              </a:spcAft>
              <a:buNone/>
            </a:pPr>
            <a:r>
              <a:t/>
            </a:r>
            <a:endParaRPr sz="1400">
              <a:solidFill>
                <a:srgbClr val="202124"/>
              </a:solidFill>
              <a:highlight>
                <a:srgbClr val="FFFFFF"/>
              </a:highlight>
            </a:endParaRPr>
          </a:p>
          <a:p>
            <a:pPr indent="0" lvl="0" marL="0" rtl="0" algn="l">
              <a:spcBef>
                <a:spcPts val="0"/>
              </a:spcBef>
              <a:spcAft>
                <a:spcPts val="0"/>
              </a:spcAft>
              <a:buNone/>
            </a:pPr>
            <a:r>
              <a:rPr lang="en-US" sz="1400">
                <a:solidFill>
                  <a:srgbClr val="202124"/>
                </a:solidFill>
                <a:highlight>
                  <a:srgbClr val="FFFFFF"/>
                </a:highlight>
              </a:rPr>
              <a:t>the amount of material or items passing through a system or process.</a:t>
            </a:r>
            <a:endParaRPr sz="1400"/>
          </a:p>
        </p:txBody>
      </p:sp>
      <p:sp>
        <p:nvSpPr>
          <p:cNvPr id="125" name="Google Shape;12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Unloaded System: few concurrent I/O transaction </a:t>
            </a:r>
            <a:endParaRPr/>
          </a:p>
          <a:p>
            <a:pPr indent="0" lvl="0" marL="0" rtl="0" algn="l">
              <a:spcBef>
                <a:spcPts val="0"/>
              </a:spcBef>
              <a:spcAft>
                <a:spcPts val="0"/>
              </a:spcAft>
              <a:buClr>
                <a:schemeClr val="dk1"/>
              </a:buClr>
              <a:buSzPts val="1100"/>
              <a:buFont typeface="Arial"/>
              <a:buNone/>
            </a:pPr>
            <a:r>
              <a:rPr lang="en-US">
                <a:solidFill>
                  <a:schemeClr val="dk1"/>
                </a:solidFill>
              </a:rPr>
              <a:t>L</a:t>
            </a:r>
            <a:r>
              <a:rPr lang="en-US">
                <a:solidFill>
                  <a:schemeClr val="dk1"/>
                </a:solidFill>
              </a:rPr>
              <a:t>oaded System: Lots of concurrent I/O transaction </a:t>
            </a:r>
            <a:endParaRPr>
              <a:solidFill>
                <a:schemeClr val="dk1"/>
              </a:solidFill>
            </a:endParaRPr>
          </a:p>
          <a:p>
            <a:pPr indent="0" lvl="0" marL="0" rtl="0" algn="l">
              <a:spcBef>
                <a:spcPts val="0"/>
              </a:spcBef>
              <a:spcAft>
                <a:spcPts val="0"/>
              </a:spcAft>
              <a:buNone/>
            </a:pPr>
            <a:r>
              <a:t/>
            </a:r>
            <a:endParaRPr/>
          </a:p>
        </p:txBody>
      </p:sp>
      <p:sp>
        <p:nvSpPr>
          <p:cNvPr id="193" name="Google Shape;19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5" name="Shape 15"/>
        <p:cNvGrpSpPr/>
        <p:nvPr/>
      </p:nvGrpSpPr>
      <p:grpSpPr>
        <a:xfrm>
          <a:off x="0" y="0"/>
          <a:ext cx="0" cy="0"/>
          <a:chOff x="0" y="0"/>
          <a:chExt cx="0" cy="0"/>
        </a:xfrm>
      </p:grpSpPr>
      <p:sp>
        <p:nvSpPr>
          <p:cNvPr id="16" name="Google Shape;16;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4"/>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34"/>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36"/>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36"/>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7" name="Shape 37"/>
        <p:cNvGrpSpPr/>
        <p:nvPr/>
      </p:nvGrpSpPr>
      <p:grpSpPr>
        <a:xfrm>
          <a:off x="0" y="0"/>
          <a:ext cx="0" cy="0"/>
          <a:chOff x="0" y="0"/>
          <a:chExt cx="0" cy="0"/>
        </a:xfrm>
      </p:grpSpPr>
      <p:sp>
        <p:nvSpPr>
          <p:cNvPr id="38" name="Google Shape;3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44" name="Shape 44"/>
        <p:cNvGrpSpPr/>
        <p:nvPr/>
      </p:nvGrpSpPr>
      <p:grpSpPr>
        <a:xfrm>
          <a:off x="0" y="0"/>
          <a:ext cx="0" cy="0"/>
          <a:chOff x="0" y="0"/>
          <a:chExt cx="0" cy="0"/>
        </a:xfrm>
      </p:grpSpPr>
      <p:sp>
        <p:nvSpPr>
          <p:cNvPr id="45" name="Google Shape;45;p38"/>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5" name="Shape 55"/>
        <p:cNvGrpSpPr/>
        <p:nvPr/>
      </p:nvGrpSpPr>
      <p:grpSpPr>
        <a:xfrm>
          <a:off x="0" y="0"/>
          <a:ext cx="0" cy="0"/>
          <a:chOff x="0" y="0"/>
          <a:chExt cx="0" cy="0"/>
        </a:xfrm>
      </p:grpSpPr>
      <p:sp>
        <p:nvSpPr>
          <p:cNvPr id="56" name="Google Shape;56;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4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41"/>
          <p:cNvSpPr/>
          <p:nvPr>
            <p:ph idx="2" type="pic"/>
          </p:nvPr>
        </p:nvSpPr>
        <p:spPr>
          <a:xfrm>
            <a:off x="1792288" y="612775"/>
            <a:ext cx="5486400" cy="4114800"/>
          </a:xfrm>
          <a:prstGeom prst="rect">
            <a:avLst/>
          </a:prstGeom>
          <a:noFill/>
          <a:ln>
            <a:noFill/>
          </a:ln>
        </p:spPr>
      </p:sp>
      <p:sp>
        <p:nvSpPr>
          <p:cNvPr id="64" name="Google Shape;64;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5" name="Google Shape;65;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71" name="Google Shape;71;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2" name="Google Shape;72;p4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4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4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4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7" name="Google Shape;87;p4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8" name="Google Shape;88;p4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9" name="Google Shape;89;p4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90" name="Google Shape;90;p4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3" name="Shape 93"/>
        <p:cNvGrpSpPr/>
        <p:nvPr/>
      </p:nvGrpSpPr>
      <p:grpSpPr>
        <a:xfrm>
          <a:off x="0" y="0"/>
          <a:ext cx="0" cy="0"/>
          <a:chOff x="0" y="0"/>
          <a:chExt cx="0" cy="0"/>
        </a:xfrm>
      </p:grpSpPr>
      <p:sp>
        <p:nvSpPr>
          <p:cNvPr id="94" name="Google Shape;94;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4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6" name="Google Shape;96;p4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7" name="Google Shape;97;p4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4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103" name="Google Shape;103;p4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p4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4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09" name="Google Shape;109;p4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4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2.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nvSpPr>
        <p:spPr>
          <a:xfrm>
            <a:off x="762000" y="1524000"/>
            <a:ext cx="7467600" cy="23082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Computer Architecture</a:t>
            </a:r>
            <a:br>
              <a:rPr b="0" i="0" lang="en-US" sz="3600" u="none" cap="none" strike="noStrike">
                <a:solidFill>
                  <a:schemeClr val="dk1"/>
                </a:solidFill>
                <a:latin typeface="Comic Sans MS"/>
                <a:ea typeface="Comic Sans MS"/>
                <a:cs typeface="Comic Sans MS"/>
                <a:sym typeface="Comic Sans MS"/>
              </a:rPr>
            </a:br>
            <a:r>
              <a:rPr b="0" i="0" lang="en-US" sz="3600" u="none" cap="none" strike="noStrike">
                <a:solidFill>
                  <a:schemeClr val="dk1"/>
                </a:solidFill>
                <a:latin typeface="Comic Sans MS"/>
                <a:ea typeface="Comic Sans MS"/>
                <a:cs typeface="Comic Sans MS"/>
                <a:sym typeface="Comic Sans MS"/>
              </a:rPr>
              <a:t>Lecture 2</a:t>
            </a:r>
            <a:endParaRPr/>
          </a:p>
          <a:p>
            <a:pPr indent="0" lvl="0" marL="0" marR="0" rtl="0" algn="ctr">
              <a:lnSpc>
                <a:spcPct val="100000"/>
              </a:lnSpc>
              <a:spcBef>
                <a:spcPts val="0"/>
              </a:spcBef>
              <a:spcAft>
                <a:spcPts val="0"/>
              </a:spcAft>
              <a:buClr>
                <a:schemeClr val="dk1"/>
              </a:buClr>
              <a:buSzPts val="3600"/>
              <a:buFont typeface="Times New Roman"/>
              <a:buNone/>
            </a:pPr>
            <a:r>
              <a:t/>
            </a:r>
            <a:endParaRPr b="0" i="0" sz="36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Performance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
          <p:cNvSpPr txBox="1"/>
          <p:nvPr/>
        </p:nvSpPr>
        <p:spPr>
          <a:xfrm>
            <a:off x="0" y="0"/>
            <a:ext cx="38354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cap="none" strike="noStrike">
                <a:solidFill>
                  <a:schemeClr val="dk1"/>
                </a:solidFill>
                <a:latin typeface="Comic Sans MS"/>
                <a:ea typeface="Comic Sans MS"/>
                <a:cs typeface="Comic Sans MS"/>
                <a:sym typeface="Comic Sans MS"/>
              </a:rPr>
              <a:t>Defining Performance</a:t>
            </a:r>
            <a:endParaRPr/>
          </a:p>
        </p:txBody>
      </p:sp>
      <p:sp>
        <p:nvSpPr>
          <p:cNvPr id="122" name="Google Shape;122;p2"/>
          <p:cNvSpPr txBox="1"/>
          <p:nvPr/>
        </p:nvSpPr>
        <p:spPr>
          <a:xfrm>
            <a:off x="0" y="1066800"/>
            <a:ext cx="9144000" cy="354012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If you were running a program on two different desktop computers, you’d say that the faster one is the desktop computer that gets the job done first. </a:t>
            </a:r>
            <a:endParaRPr/>
          </a:p>
          <a:p>
            <a:pPr indent="0" lvl="0" marL="0" marR="0" rtl="0" algn="just">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If you were running a datacenter that had several servers running jobs submitted by many users, you’d say that the faster computer was the one that completed the most jobs during a 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
          <p:cNvSpPr txBox="1"/>
          <p:nvPr/>
        </p:nvSpPr>
        <p:spPr>
          <a:xfrm>
            <a:off x="0" y="457200"/>
            <a:ext cx="8991600" cy="5695200"/>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As an individual computer user, you are interested in reducing </a:t>
            </a:r>
            <a:r>
              <a:rPr b="1" i="0" lang="en-US" sz="2800" u="none" cap="none" strike="noStrike">
                <a:solidFill>
                  <a:schemeClr val="dk1"/>
                </a:solidFill>
                <a:latin typeface="Comic Sans MS"/>
                <a:ea typeface="Comic Sans MS"/>
                <a:cs typeface="Comic Sans MS"/>
                <a:sym typeface="Comic Sans MS"/>
              </a:rPr>
              <a:t>response time—the </a:t>
            </a:r>
            <a:r>
              <a:rPr b="0" i="0" lang="en-US" sz="2800" u="none" cap="none" strike="noStrike">
                <a:solidFill>
                  <a:schemeClr val="dk1"/>
                </a:solidFill>
                <a:latin typeface="Comic Sans MS"/>
                <a:ea typeface="Comic Sans MS"/>
                <a:cs typeface="Comic Sans MS"/>
                <a:sym typeface="Comic Sans MS"/>
              </a:rPr>
              <a:t>time between the start and completion of a task—also referred to as </a:t>
            </a:r>
            <a:r>
              <a:rPr b="1" i="0" lang="en-US" sz="2800" u="none" cap="none" strike="noStrike">
                <a:solidFill>
                  <a:schemeClr val="dk1"/>
                </a:solidFill>
                <a:latin typeface="Comic Sans MS"/>
                <a:ea typeface="Comic Sans MS"/>
                <a:cs typeface="Comic Sans MS"/>
                <a:sym typeface="Comic Sans MS"/>
              </a:rPr>
              <a:t>execution time.</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This includes disk accesses, memory accesses, I/O  activities, operating system overhead, CPU execution  time, etc.</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Datacenter managers are often interested in increasing </a:t>
            </a:r>
            <a:r>
              <a:rPr b="1" lang="en-US" sz="2800">
                <a:solidFill>
                  <a:schemeClr val="dk1"/>
                </a:solidFill>
                <a:latin typeface="Comic Sans MS"/>
                <a:ea typeface="Comic Sans MS"/>
                <a:cs typeface="Comic Sans MS"/>
                <a:sym typeface="Comic Sans MS"/>
              </a:rPr>
              <a:t>throughput—the</a:t>
            </a:r>
            <a:r>
              <a:rPr b="0" i="0" lang="en-US" sz="2800" u="none" cap="none" strike="noStrike">
                <a:solidFill>
                  <a:schemeClr val="dk1"/>
                </a:solidFill>
                <a:latin typeface="Comic Sans MS"/>
                <a:ea typeface="Comic Sans MS"/>
                <a:cs typeface="Comic Sans MS"/>
                <a:sym typeface="Comic Sans MS"/>
              </a:rPr>
              <a:t> total amount of work done in a given time</a:t>
            </a:r>
            <a:r>
              <a:rPr b="0" i="0" lang="en-US" sz="1800" u="none" cap="none" strike="noStrike">
                <a:solidFill>
                  <a:schemeClr val="dk1"/>
                </a:solidFill>
                <a:latin typeface="Times New Roman"/>
                <a:ea typeface="Times New Roman"/>
                <a:cs typeface="Times New Roman"/>
                <a:sym typeface="Times New Roman"/>
              </a:rPr>
              <a:t>.</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omic Sans MS"/>
                <a:ea typeface="Comic Sans MS"/>
                <a:cs typeface="Comic Sans MS"/>
                <a:sym typeface="Comic Sans MS"/>
              </a:rPr>
              <a:t>Decreasing response time almost always improves throughput.</a:t>
            </a:r>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
        <p:nvSpPr>
          <p:cNvPr id="128" name="Google Shape;128;p3"/>
          <p:cNvSpPr txBox="1"/>
          <p:nvPr/>
        </p:nvSpPr>
        <p:spPr>
          <a:xfrm>
            <a:off x="0" y="0"/>
            <a:ext cx="10382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Cont.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nvSpPr>
        <p:spPr>
          <a:xfrm>
            <a:off x="0" y="0"/>
            <a:ext cx="10382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Cont.</a:t>
            </a:r>
            <a:endParaRPr/>
          </a:p>
        </p:txBody>
      </p:sp>
      <p:sp>
        <p:nvSpPr>
          <p:cNvPr id="134" name="Google Shape;134;p4"/>
          <p:cNvSpPr txBox="1"/>
          <p:nvPr/>
        </p:nvSpPr>
        <p:spPr>
          <a:xfrm>
            <a:off x="0" y="838200"/>
            <a:ext cx="9144000" cy="1816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To maximize performance, we want to minimize response time or execution time for some task. Thus, we can relate performance and execution time for a computer X:</a:t>
            </a:r>
            <a:endParaRPr/>
          </a:p>
        </p:txBody>
      </p:sp>
      <p:pic>
        <p:nvPicPr>
          <p:cNvPr id="135" name="Google Shape;135;p4"/>
          <p:cNvPicPr preferRelativeResize="0"/>
          <p:nvPr/>
        </p:nvPicPr>
        <p:blipFill rotWithShape="1">
          <a:blip r:embed="rId3">
            <a:alphaModFix/>
          </a:blip>
          <a:srcRect b="0" l="0" r="0" t="0"/>
          <a:stretch/>
        </p:blipFill>
        <p:spPr>
          <a:xfrm>
            <a:off x="838200" y="2895600"/>
            <a:ext cx="6962775" cy="135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0" y="0"/>
            <a:ext cx="10382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Cont.</a:t>
            </a:r>
            <a:endParaRPr/>
          </a:p>
        </p:txBody>
      </p:sp>
      <p:sp>
        <p:nvSpPr>
          <p:cNvPr id="141" name="Google Shape;141;p5"/>
          <p:cNvSpPr txBox="1"/>
          <p:nvPr/>
        </p:nvSpPr>
        <p:spPr>
          <a:xfrm>
            <a:off x="0" y="685800"/>
            <a:ext cx="91440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This means that for two computers X and Y, if the performance of X is greater than the performance of Y, we have</a:t>
            </a:r>
            <a:endParaRPr/>
          </a:p>
        </p:txBody>
      </p:sp>
      <p:pic>
        <p:nvPicPr>
          <p:cNvPr id="142" name="Google Shape;142;p5"/>
          <p:cNvPicPr preferRelativeResize="0"/>
          <p:nvPr/>
        </p:nvPicPr>
        <p:blipFill rotWithShape="1">
          <a:blip r:embed="rId3">
            <a:alphaModFix/>
          </a:blip>
          <a:srcRect b="0" l="0" r="0" t="0"/>
          <a:stretch/>
        </p:blipFill>
        <p:spPr>
          <a:xfrm>
            <a:off x="1981200" y="1828800"/>
            <a:ext cx="5948362" cy="2568575"/>
          </a:xfrm>
          <a:prstGeom prst="rect">
            <a:avLst/>
          </a:prstGeom>
          <a:noFill/>
          <a:ln>
            <a:noFill/>
          </a:ln>
        </p:spPr>
      </p:pic>
      <p:sp>
        <p:nvSpPr>
          <p:cNvPr id="143" name="Google Shape;143;p5"/>
          <p:cNvSpPr txBox="1"/>
          <p:nvPr/>
        </p:nvSpPr>
        <p:spPr>
          <a:xfrm>
            <a:off x="0" y="46482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That is, the execution time on Y is longer than that on X, if X is faster than 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nvSpPr>
        <p:spPr>
          <a:xfrm>
            <a:off x="0" y="0"/>
            <a:ext cx="10382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Cont.</a:t>
            </a:r>
            <a:endParaRPr/>
          </a:p>
        </p:txBody>
      </p:sp>
      <p:sp>
        <p:nvSpPr>
          <p:cNvPr id="149" name="Google Shape;149;p6"/>
          <p:cNvSpPr txBox="1"/>
          <p:nvPr/>
        </p:nvSpPr>
        <p:spPr>
          <a:xfrm>
            <a:off x="0" y="457200"/>
            <a:ext cx="9144000" cy="2246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In discussing a computer design, we often want to relate the performance of two different computers quantitatively. We will use the phrase “X is </a:t>
            </a:r>
            <a:r>
              <a:rPr b="0" i="1" lang="en-US" sz="2800" u="none">
                <a:solidFill>
                  <a:schemeClr val="dk1"/>
                </a:solidFill>
                <a:latin typeface="Comic Sans MS"/>
                <a:ea typeface="Comic Sans MS"/>
                <a:cs typeface="Comic Sans MS"/>
                <a:sym typeface="Comic Sans MS"/>
              </a:rPr>
              <a:t>n times faster </a:t>
            </a:r>
            <a:r>
              <a:rPr b="0" i="0" lang="en-US" sz="2800" u="none">
                <a:solidFill>
                  <a:schemeClr val="dk1"/>
                </a:solidFill>
                <a:latin typeface="Comic Sans MS"/>
                <a:ea typeface="Comic Sans MS"/>
                <a:cs typeface="Comic Sans MS"/>
                <a:sym typeface="Comic Sans MS"/>
              </a:rPr>
              <a:t>Than Y”—or equivalently “X is </a:t>
            </a:r>
            <a:r>
              <a:rPr b="0" i="1" lang="en-US" sz="2800" u="none">
                <a:solidFill>
                  <a:schemeClr val="dk1"/>
                </a:solidFill>
                <a:latin typeface="Comic Sans MS"/>
                <a:ea typeface="Comic Sans MS"/>
                <a:cs typeface="Comic Sans MS"/>
                <a:sym typeface="Comic Sans MS"/>
              </a:rPr>
              <a:t>n times as fast as Y”—to mean</a:t>
            </a:r>
            <a:endParaRPr/>
          </a:p>
        </p:txBody>
      </p:sp>
      <p:pic>
        <p:nvPicPr>
          <p:cNvPr id="150" name="Google Shape;150;p6"/>
          <p:cNvPicPr preferRelativeResize="0"/>
          <p:nvPr/>
        </p:nvPicPr>
        <p:blipFill rotWithShape="1">
          <a:blip r:embed="rId3">
            <a:alphaModFix/>
          </a:blip>
          <a:srcRect b="0" l="0" r="0" t="0"/>
          <a:stretch/>
        </p:blipFill>
        <p:spPr>
          <a:xfrm>
            <a:off x="3124200" y="2593975"/>
            <a:ext cx="3733800" cy="1141412"/>
          </a:xfrm>
          <a:prstGeom prst="rect">
            <a:avLst/>
          </a:prstGeom>
          <a:noFill/>
          <a:ln>
            <a:noFill/>
          </a:ln>
        </p:spPr>
      </p:pic>
      <p:sp>
        <p:nvSpPr>
          <p:cNvPr id="151" name="Google Shape;151;p6"/>
          <p:cNvSpPr txBox="1"/>
          <p:nvPr/>
        </p:nvSpPr>
        <p:spPr>
          <a:xfrm>
            <a:off x="0" y="38862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If X is n times faster than Y, then the execution time on Y is n times longer than it is on X:</a:t>
            </a:r>
            <a:endParaRPr/>
          </a:p>
        </p:txBody>
      </p:sp>
      <p:pic>
        <p:nvPicPr>
          <p:cNvPr id="152" name="Google Shape;152;p6"/>
          <p:cNvPicPr preferRelativeResize="0"/>
          <p:nvPr/>
        </p:nvPicPr>
        <p:blipFill rotWithShape="1">
          <a:blip r:embed="rId4">
            <a:alphaModFix/>
          </a:blip>
          <a:srcRect b="0" l="0" r="0" t="0"/>
          <a:stretch/>
        </p:blipFill>
        <p:spPr>
          <a:xfrm>
            <a:off x="2362200" y="5029200"/>
            <a:ext cx="5832475" cy="144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nvSpPr>
        <p:spPr>
          <a:xfrm>
            <a:off x="0" y="0"/>
            <a:ext cx="167798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Example </a:t>
            </a:r>
            <a:endParaRPr/>
          </a:p>
        </p:txBody>
      </p:sp>
      <p:sp>
        <p:nvSpPr>
          <p:cNvPr id="158" name="Google Shape;158;p7"/>
          <p:cNvSpPr txBox="1"/>
          <p:nvPr/>
        </p:nvSpPr>
        <p:spPr>
          <a:xfrm>
            <a:off x="0" y="762000"/>
            <a:ext cx="89916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If computer A runs a program in 10 seconds and computer B runs the same program in 15 seconds, how much faster is A than B?</a:t>
            </a:r>
            <a:endParaRPr/>
          </a:p>
        </p:txBody>
      </p:sp>
      <p:sp>
        <p:nvSpPr>
          <p:cNvPr id="159" name="Google Shape;159;p7"/>
          <p:cNvSpPr txBox="1"/>
          <p:nvPr/>
        </p:nvSpPr>
        <p:spPr>
          <a:xfrm>
            <a:off x="0" y="3200400"/>
            <a:ext cx="91440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We know that A is </a:t>
            </a:r>
            <a:r>
              <a:rPr b="0" i="1" lang="en-US" sz="2800" u="none">
                <a:solidFill>
                  <a:schemeClr val="dk1"/>
                </a:solidFill>
                <a:latin typeface="Comic Sans MS"/>
                <a:ea typeface="Comic Sans MS"/>
                <a:cs typeface="Comic Sans MS"/>
                <a:sym typeface="Comic Sans MS"/>
              </a:rPr>
              <a:t>n times faster than B if</a:t>
            </a:r>
            <a:endParaRPr/>
          </a:p>
        </p:txBody>
      </p:sp>
      <p:sp>
        <p:nvSpPr>
          <p:cNvPr id="160" name="Google Shape;160;p7"/>
          <p:cNvSpPr txBox="1"/>
          <p:nvPr/>
        </p:nvSpPr>
        <p:spPr>
          <a:xfrm>
            <a:off x="0" y="2362200"/>
            <a:ext cx="155416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Solution</a:t>
            </a:r>
            <a:endParaRPr/>
          </a:p>
        </p:txBody>
      </p:sp>
      <p:pic>
        <p:nvPicPr>
          <p:cNvPr id="161" name="Google Shape;161;p7"/>
          <p:cNvPicPr preferRelativeResize="0"/>
          <p:nvPr/>
        </p:nvPicPr>
        <p:blipFill rotWithShape="1">
          <a:blip r:embed="rId3">
            <a:alphaModFix/>
          </a:blip>
          <a:srcRect b="0" l="0" r="0" t="0"/>
          <a:stretch/>
        </p:blipFill>
        <p:spPr>
          <a:xfrm>
            <a:off x="2133600" y="3962400"/>
            <a:ext cx="4495800" cy="1571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nvSpPr>
        <p:spPr>
          <a:xfrm>
            <a:off x="0" y="0"/>
            <a:ext cx="30480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Solution-Cont.</a:t>
            </a:r>
            <a:endParaRPr/>
          </a:p>
        </p:txBody>
      </p:sp>
      <p:sp>
        <p:nvSpPr>
          <p:cNvPr id="167" name="Google Shape;167;p8"/>
          <p:cNvSpPr txBox="1"/>
          <p:nvPr/>
        </p:nvSpPr>
        <p:spPr>
          <a:xfrm>
            <a:off x="0" y="533400"/>
            <a:ext cx="52324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Thus the performance ratio is</a:t>
            </a:r>
            <a:endParaRPr/>
          </a:p>
        </p:txBody>
      </p:sp>
      <p:pic>
        <p:nvPicPr>
          <p:cNvPr id="168" name="Google Shape;168;p8"/>
          <p:cNvPicPr preferRelativeResize="0"/>
          <p:nvPr/>
        </p:nvPicPr>
        <p:blipFill rotWithShape="1">
          <a:blip r:embed="rId3">
            <a:alphaModFix/>
          </a:blip>
          <a:srcRect b="0" l="0" r="0" t="0"/>
          <a:stretch/>
        </p:blipFill>
        <p:spPr>
          <a:xfrm>
            <a:off x="3276600" y="990600"/>
            <a:ext cx="1565275" cy="990600"/>
          </a:xfrm>
          <a:prstGeom prst="rect">
            <a:avLst/>
          </a:prstGeom>
          <a:noFill/>
          <a:ln>
            <a:noFill/>
          </a:ln>
        </p:spPr>
      </p:pic>
      <p:sp>
        <p:nvSpPr>
          <p:cNvPr id="169" name="Google Shape;169;p8"/>
          <p:cNvSpPr txBox="1"/>
          <p:nvPr/>
        </p:nvSpPr>
        <p:spPr>
          <a:xfrm>
            <a:off x="0" y="19050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In the above example, we could also say that computer B is 1.5 times </a:t>
            </a:r>
            <a:r>
              <a:rPr b="0" i="1" lang="en-US" sz="2800" u="none">
                <a:solidFill>
                  <a:schemeClr val="dk1"/>
                </a:solidFill>
                <a:latin typeface="Comic Sans MS"/>
                <a:ea typeface="Comic Sans MS"/>
                <a:cs typeface="Comic Sans MS"/>
                <a:sym typeface="Comic Sans MS"/>
              </a:rPr>
              <a:t>slower than </a:t>
            </a:r>
            <a:r>
              <a:rPr b="0" i="0" lang="en-US" sz="2800" u="none">
                <a:solidFill>
                  <a:schemeClr val="dk1"/>
                </a:solidFill>
                <a:latin typeface="Comic Sans MS"/>
                <a:ea typeface="Comic Sans MS"/>
                <a:cs typeface="Comic Sans MS"/>
                <a:sym typeface="Comic Sans MS"/>
              </a:rPr>
              <a:t>computer A, since</a:t>
            </a:r>
            <a:endParaRPr/>
          </a:p>
        </p:txBody>
      </p:sp>
      <p:pic>
        <p:nvPicPr>
          <p:cNvPr id="170" name="Google Shape;170;p8"/>
          <p:cNvPicPr preferRelativeResize="0"/>
          <p:nvPr/>
        </p:nvPicPr>
        <p:blipFill rotWithShape="1">
          <a:blip r:embed="rId4">
            <a:alphaModFix/>
          </a:blip>
          <a:srcRect b="0" l="0" r="0" t="0"/>
          <a:stretch/>
        </p:blipFill>
        <p:spPr>
          <a:xfrm>
            <a:off x="2743200" y="3048000"/>
            <a:ext cx="3378200" cy="1219200"/>
          </a:xfrm>
          <a:prstGeom prst="rect">
            <a:avLst/>
          </a:prstGeom>
          <a:noFill/>
          <a:ln>
            <a:noFill/>
          </a:ln>
        </p:spPr>
      </p:pic>
      <p:sp>
        <p:nvSpPr>
          <p:cNvPr id="171" name="Google Shape;171;p8"/>
          <p:cNvSpPr txBox="1"/>
          <p:nvPr/>
        </p:nvSpPr>
        <p:spPr>
          <a:xfrm>
            <a:off x="0" y="4191000"/>
            <a:ext cx="204628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means that</a:t>
            </a:r>
            <a:endParaRPr/>
          </a:p>
        </p:txBody>
      </p:sp>
      <p:pic>
        <p:nvPicPr>
          <p:cNvPr id="172" name="Google Shape;172;p8"/>
          <p:cNvPicPr preferRelativeResize="0"/>
          <p:nvPr/>
        </p:nvPicPr>
        <p:blipFill rotWithShape="1">
          <a:blip r:embed="rId5">
            <a:alphaModFix/>
          </a:blip>
          <a:srcRect b="0" l="0" r="0" t="0"/>
          <a:stretch/>
        </p:blipFill>
        <p:spPr>
          <a:xfrm>
            <a:off x="2514600" y="4800600"/>
            <a:ext cx="3856037" cy="99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Measuring Performance </a:t>
            </a:r>
            <a:endParaRPr/>
          </a:p>
        </p:txBody>
      </p:sp>
      <p:sp>
        <p:nvSpPr>
          <p:cNvPr id="178" name="Google Shape;178;p9"/>
          <p:cNvSpPr txBox="1"/>
          <p:nvPr/>
        </p:nvSpPr>
        <p:spPr>
          <a:xfrm>
            <a:off x="0" y="685800"/>
            <a:ext cx="9144000" cy="563245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Time is the measure of computer performance: the computer that performs the same amount of work in the least time is the fastest.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Program </a:t>
            </a:r>
            <a:r>
              <a:rPr b="0" i="1" lang="en-US" sz="2400" u="none">
                <a:solidFill>
                  <a:schemeClr val="dk1"/>
                </a:solidFill>
                <a:latin typeface="Comic Sans MS"/>
                <a:ea typeface="Comic Sans MS"/>
                <a:cs typeface="Comic Sans MS"/>
                <a:sym typeface="Comic Sans MS"/>
              </a:rPr>
              <a:t>execution time is </a:t>
            </a:r>
            <a:r>
              <a:rPr b="0" i="0" lang="en-US" sz="2400" u="none">
                <a:solidFill>
                  <a:schemeClr val="dk1"/>
                </a:solidFill>
                <a:latin typeface="Comic Sans MS"/>
                <a:ea typeface="Comic Sans MS"/>
                <a:cs typeface="Comic Sans MS"/>
                <a:sym typeface="Comic Sans MS"/>
              </a:rPr>
              <a:t>measured in seconds per program.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However, time can be defined in different ways, depending on what we count.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The most straightforward definition of time is called </a:t>
            </a:r>
            <a:r>
              <a:rPr b="0" i="1" lang="en-US" sz="2400" u="none">
                <a:solidFill>
                  <a:schemeClr val="dk1"/>
                </a:solidFill>
                <a:latin typeface="Comic Sans MS"/>
                <a:ea typeface="Comic Sans MS"/>
                <a:cs typeface="Comic Sans MS"/>
                <a:sym typeface="Comic Sans MS"/>
              </a:rPr>
              <a:t>wall clock time, response time, or elapsed time. </a:t>
            </a:r>
            <a:endParaRPr/>
          </a:p>
          <a:p>
            <a:pPr indent="0" lvl="0" marL="0" marR="0" rtl="0" algn="just">
              <a:lnSpc>
                <a:spcPct val="100000"/>
              </a:lnSpc>
              <a:spcBef>
                <a:spcPts val="0"/>
              </a:spcBef>
              <a:spcAft>
                <a:spcPts val="0"/>
              </a:spcAft>
              <a:buClr>
                <a:schemeClr val="dk1"/>
              </a:buClr>
              <a:buSzPts val="2400"/>
              <a:buFont typeface="Arial"/>
              <a:buNone/>
            </a:pPr>
            <a:r>
              <a:t/>
            </a:r>
            <a:endParaRPr b="0" i="1"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1" lang="en-US" sz="2400" u="none">
                <a:solidFill>
                  <a:schemeClr val="dk1"/>
                </a:solidFill>
                <a:latin typeface="Comic Sans MS"/>
                <a:ea typeface="Comic Sans MS"/>
                <a:cs typeface="Comic Sans MS"/>
                <a:sym typeface="Comic Sans MS"/>
              </a:rPr>
              <a:t>These terms mean the total time </a:t>
            </a:r>
            <a:r>
              <a:rPr b="0" i="0" lang="en-US" sz="2400" u="none">
                <a:solidFill>
                  <a:schemeClr val="dk1"/>
                </a:solidFill>
                <a:latin typeface="Comic Sans MS"/>
                <a:ea typeface="Comic Sans MS"/>
                <a:cs typeface="Comic Sans MS"/>
                <a:sym typeface="Comic Sans MS"/>
              </a:rPr>
              <a:t>to complete a task, including disk accesses, memory accesses, input/output (I/O) activities, operating system overhead—everything.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Measuring Performance-Cont. </a:t>
            </a:r>
            <a:endParaRPr/>
          </a:p>
        </p:txBody>
      </p:sp>
      <p:sp>
        <p:nvSpPr>
          <p:cNvPr id="184" name="Google Shape;184;p10"/>
          <p:cNvSpPr txBox="1"/>
          <p:nvPr/>
        </p:nvSpPr>
        <p:spPr>
          <a:xfrm>
            <a:off x="0" y="381000"/>
            <a:ext cx="9144000" cy="637063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Computers are often shared, however, and a processor may work on several programs simultaneously.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In such cases, the system may try to optimize throughput rather than attempt to minimize the elapsed time for one program.</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Hence, we often want to distinguish between the elapsed time and the time that the processor is working on our behalf.</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Comic Sans MS"/>
                <a:ea typeface="Comic Sans MS"/>
                <a:cs typeface="Comic Sans MS"/>
                <a:sym typeface="Comic Sans MS"/>
              </a:rPr>
              <a:t>CPU execution time or simply CPU time, </a:t>
            </a:r>
            <a:r>
              <a:rPr b="0" i="0" lang="en-US" sz="2400" u="none">
                <a:solidFill>
                  <a:schemeClr val="dk1"/>
                </a:solidFill>
                <a:latin typeface="Comic Sans MS"/>
                <a:ea typeface="Comic Sans MS"/>
                <a:cs typeface="Comic Sans MS"/>
                <a:sym typeface="Comic Sans MS"/>
              </a:rPr>
              <a:t>which recognizes this distinction, is the time the CPU spends computing for this task and does not include time spent waiting for I/O or running other programs.</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The response time experienced by the user will be the elapsed time of the program, not the CPU time.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nvSpPr>
        <p:spPr>
          <a:xfrm>
            <a:off x="0" y="609600"/>
            <a:ext cx="9144000" cy="61245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2"/>
              </a:buClr>
              <a:buSzPts val="2100"/>
              <a:buFont typeface="Noto Sans Symbols"/>
              <a:buChar char="■"/>
            </a:pPr>
            <a:r>
              <a:rPr b="0" i="0" lang="en-US" sz="2800" u="none">
                <a:solidFill>
                  <a:schemeClr val="dk1"/>
                </a:solidFill>
                <a:latin typeface="Comic Sans MS"/>
                <a:ea typeface="Comic Sans MS"/>
                <a:cs typeface="Comic Sans MS"/>
                <a:sym typeface="Comic Sans MS"/>
              </a:rPr>
              <a:t>CPU time- 1. User CPU time</a:t>
            </a:r>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2. System CPU time</a:t>
            </a:r>
            <a:endParaRPr/>
          </a:p>
          <a:p>
            <a:pPr indent="-165100" lvl="0" marL="342900" marR="0" rtl="0" algn="just">
              <a:lnSpc>
                <a:spcPct val="100000"/>
              </a:lnSpc>
              <a:spcBef>
                <a:spcPts val="0"/>
              </a:spcBef>
              <a:spcAft>
                <a:spcPts val="0"/>
              </a:spcAft>
              <a:buClr>
                <a:schemeClr val="dk1"/>
              </a:buClr>
              <a:buSzPts val="2800"/>
              <a:buFont typeface="Arial"/>
              <a:buNone/>
            </a:pPr>
            <a:r>
              <a:t/>
            </a:r>
            <a:endParaRPr b="0" i="0" sz="28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CPU time spent in the program is called User CPU time and the CPU time spent in the operating system performing tasks requested by the program is called System CPU time.</a:t>
            </a:r>
            <a:endParaRPr/>
          </a:p>
          <a:p>
            <a:pPr indent="-342900" lvl="0" marL="342900" marR="0" rtl="0" algn="l">
              <a:lnSpc>
                <a:spcPct val="100000"/>
              </a:lnSpc>
              <a:spcBef>
                <a:spcPts val="560"/>
              </a:spcBef>
              <a:spcAft>
                <a:spcPts val="0"/>
              </a:spcAft>
              <a:buClr>
                <a:schemeClr val="lt2"/>
              </a:buClr>
              <a:buSzPts val="2100"/>
              <a:buFont typeface="Noto Sans Symbols"/>
              <a:buChar char="■"/>
            </a:pPr>
            <a:r>
              <a:rPr b="0" i="0" lang="en-US" sz="2800" u="none">
                <a:solidFill>
                  <a:schemeClr val="dk1"/>
                </a:solidFill>
                <a:latin typeface="Comic Sans MS"/>
                <a:ea typeface="Comic Sans MS"/>
                <a:cs typeface="Comic Sans MS"/>
                <a:sym typeface="Comic Sans MS"/>
              </a:rPr>
              <a:t>Suppose, after executing a program we get the following measurements:</a:t>
            </a:r>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User CPU time – 90.7 seconds</a:t>
            </a:r>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System CPU time – 12.9 seconds</a:t>
            </a:r>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Elapsed time – 159 seconds</a:t>
            </a:r>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
        <p:nvSpPr>
          <p:cNvPr id="190" name="Google Shape;190;p11"/>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Measuring Performance-Cont.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Measuring Performance-Cont. </a:t>
            </a:r>
            <a:endParaRPr/>
          </a:p>
        </p:txBody>
      </p:sp>
      <p:sp>
        <p:nvSpPr>
          <p:cNvPr id="196" name="Google Shape;196;p12"/>
          <p:cNvSpPr txBox="1"/>
          <p:nvPr/>
        </p:nvSpPr>
        <p:spPr>
          <a:xfrm>
            <a:off x="0" y="990600"/>
            <a:ext cx="91440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lt2"/>
              </a:buClr>
              <a:buSzPts val="2100"/>
              <a:buFont typeface="Noto Sans Symbols"/>
              <a:buChar char="■"/>
            </a:pPr>
            <a:r>
              <a:rPr b="0" i="0" lang="en-US" sz="2800" u="none">
                <a:solidFill>
                  <a:schemeClr val="dk1"/>
                </a:solidFill>
                <a:latin typeface="Comic Sans MS"/>
                <a:ea typeface="Comic Sans MS"/>
                <a:cs typeface="Comic Sans MS"/>
                <a:sym typeface="Comic Sans MS"/>
              </a:rPr>
              <a:t>The term </a:t>
            </a:r>
            <a:r>
              <a:rPr b="1" i="0" lang="en-US" sz="2800" u="none">
                <a:solidFill>
                  <a:srgbClr val="990000"/>
                </a:solidFill>
                <a:latin typeface="Comic Sans MS"/>
                <a:ea typeface="Comic Sans MS"/>
                <a:cs typeface="Comic Sans MS"/>
                <a:sym typeface="Comic Sans MS"/>
              </a:rPr>
              <a:t>system performance</a:t>
            </a:r>
            <a:r>
              <a:rPr b="0" i="0" lang="en-US" sz="2800" u="none">
                <a:solidFill>
                  <a:schemeClr val="dk1"/>
                </a:solidFill>
                <a:latin typeface="Comic Sans MS"/>
                <a:ea typeface="Comic Sans MS"/>
                <a:cs typeface="Comic Sans MS"/>
                <a:sym typeface="Comic Sans MS"/>
              </a:rPr>
              <a:t> is used to refer to elapsed time on an unloaded system while </a:t>
            </a:r>
            <a:r>
              <a:rPr b="1" i="0" lang="en-US" sz="2800" u="none">
                <a:solidFill>
                  <a:srgbClr val="990000"/>
                </a:solidFill>
                <a:latin typeface="Comic Sans MS"/>
                <a:ea typeface="Comic Sans MS"/>
                <a:cs typeface="Comic Sans MS"/>
                <a:sym typeface="Comic Sans MS"/>
              </a:rPr>
              <a:t>CPU performance</a:t>
            </a:r>
            <a:r>
              <a:rPr b="1" i="0" lang="en-US" sz="2800" u="none">
                <a:solidFill>
                  <a:schemeClr val="dk1"/>
                </a:solidFill>
                <a:latin typeface="Comic Sans MS"/>
                <a:ea typeface="Comic Sans MS"/>
                <a:cs typeface="Comic Sans MS"/>
                <a:sym typeface="Comic Sans MS"/>
              </a:rPr>
              <a:t> </a:t>
            </a:r>
            <a:r>
              <a:rPr b="0" i="0" lang="en-US" sz="2800" u="none">
                <a:solidFill>
                  <a:schemeClr val="dk1"/>
                </a:solidFill>
                <a:latin typeface="Comic Sans MS"/>
                <a:ea typeface="Comic Sans MS"/>
                <a:cs typeface="Comic Sans MS"/>
                <a:sym typeface="Comic Sans MS"/>
              </a:rPr>
              <a:t>refers to user CPU time on an unloaded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Clock Cycle </a:t>
            </a:r>
            <a:endParaRPr/>
          </a:p>
        </p:txBody>
      </p:sp>
      <p:sp>
        <p:nvSpPr>
          <p:cNvPr id="202" name="Google Shape;202;p13"/>
          <p:cNvSpPr txBox="1"/>
          <p:nvPr/>
        </p:nvSpPr>
        <p:spPr>
          <a:xfrm>
            <a:off x="0" y="609600"/>
            <a:ext cx="91440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2"/>
              </a:buClr>
              <a:buSzPts val="1800"/>
              <a:buFont typeface="Noto Sans Symbols"/>
              <a:buChar char="■"/>
            </a:pPr>
            <a:r>
              <a:rPr b="0" i="0" lang="en-US" sz="2400" u="none">
                <a:solidFill>
                  <a:schemeClr val="dk1"/>
                </a:solidFill>
                <a:latin typeface="Comic Sans MS"/>
                <a:ea typeface="Comic Sans MS"/>
                <a:cs typeface="Comic Sans MS"/>
                <a:sym typeface="Comic Sans MS"/>
              </a:rPr>
              <a:t>Almost all computers are constructed using a clock that runs at a constant rate and determines when events take place in the hardware.</a:t>
            </a:r>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480"/>
              </a:spcBef>
              <a:spcAft>
                <a:spcPts val="0"/>
              </a:spcAft>
              <a:buClr>
                <a:schemeClr val="lt2"/>
              </a:buClr>
              <a:buSzPts val="1800"/>
              <a:buFont typeface="Noto Sans Symbols"/>
              <a:buChar char="■"/>
            </a:pPr>
            <a:r>
              <a:rPr b="0" i="0" lang="en-US" sz="2400" u="none">
                <a:solidFill>
                  <a:schemeClr val="dk1"/>
                </a:solidFill>
                <a:latin typeface="Comic Sans MS"/>
                <a:ea typeface="Comic Sans MS"/>
                <a:cs typeface="Comic Sans MS"/>
                <a:sym typeface="Comic Sans MS"/>
              </a:rPr>
              <a:t>Designers refer to the length of a </a:t>
            </a:r>
            <a:r>
              <a:rPr b="1" i="0" lang="en-US" sz="2400" u="none">
                <a:solidFill>
                  <a:schemeClr val="dk1"/>
                </a:solidFill>
                <a:latin typeface="Comic Sans MS"/>
                <a:ea typeface="Comic Sans MS"/>
                <a:cs typeface="Comic Sans MS"/>
                <a:sym typeface="Comic Sans MS"/>
              </a:rPr>
              <a:t>clock period </a:t>
            </a:r>
            <a:r>
              <a:rPr b="0" i="0" lang="en-US" sz="2400" u="none">
                <a:solidFill>
                  <a:schemeClr val="dk1"/>
                </a:solidFill>
                <a:latin typeface="Comic Sans MS"/>
                <a:ea typeface="Comic Sans MS"/>
                <a:cs typeface="Comic Sans MS"/>
                <a:sym typeface="Comic Sans MS"/>
              </a:rPr>
              <a:t>both as the time for a complete </a:t>
            </a:r>
            <a:r>
              <a:rPr b="0" i="1" lang="en-US" sz="2400" u="none">
                <a:solidFill>
                  <a:schemeClr val="dk1"/>
                </a:solidFill>
                <a:latin typeface="Comic Sans MS"/>
                <a:ea typeface="Comic Sans MS"/>
                <a:cs typeface="Comic Sans MS"/>
                <a:sym typeface="Comic Sans MS"/>
              </a:rPr>
              <a:t>clock cycle (e.g., 250 picoseconds, or 250 ps)</a:t>
            </a:r>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1" sz="24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480"/>
              </a:spcBef>
              <a:spcAft>
                <a:spcPts val="0"/>
              </a:spcAft>
              <a:buClr>
                <a:schemeClr val="dk1"/>
              </a:buClr>
              <a:buSzPts val="2400"/>
              <a:buFont typeface="Times New Roman"/>
              <a:buNone/>
            </a:pPr>
            <a:r>
              <a:t/>
            </a:r>
            <a:endParaRPr b="0" i="1" sz="2400" u="none">
              <a:solidFill>
                <a:schemeClr val="dk1"/>
              </a:solidFill>
              <a:latin typeface="Comic Sans MS"/>
              <a:ea typeface="Comic Sans MS"/>
              <a:cs typeface="Comic Sans MS"/>
              <a:sym typeface="Comic Sans MS"/>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1" sz="24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480"/>
              </a:spcBef>
              <a:spcAft>
                <a:spcPts val="0"/>
              </a:spcAft>
              <a:buClr>
                <a:schemeClr val="lt2"/>
              </a:buClr>
              <a:buSzPts val="1800"/>
              <a:buFont typeface="Noto Sans Symbols"/>
              <a:buChar char="■"/>
            </a:pPr>
            <a:r>
              <a:rPr b="0" i="0" lang="en-US" sz="2400" u="none">
                <a:solidFill>
                  <a:schemeClr val="dk1"/>
                </a:solidFill>
                <a:latin typeface="Comic Sans MS"/>
                <a:ea typeface="Comic Sans MS"/>
                <a:cs typeface="Comic Sans MS"/>
                <a:sym typeface="Comic Sans MS"/>
              </a:rPr>
              <a:t>The </a:t>
            </a:r>
            <a:r>
              <a:rPr b="0" i="1" lang="en-US" sz="2400" u="none">
                <a:solidFill>
                  <a:schemeClr val="dk1"/>
                </a:solidFill>
                <a:latin typeface="Comic Sans MS"/>
                <a:ea typeface="Comic Sans MS"/>
                <a:cs typeface="Comic Sans MS"/>
                <a:sym typeface="Comic Sans MS"/>
              </a:rPr>
              <a:t>clock rate (e.g., 4 gigahertz, or 4 GHz), is the inverse of the clock period.</a:t>
            </a:r>
            <a:endParaRPr b="0" i="0" sz="24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pic>
        <p:nvPicPr>
          <p:cNvPr id="203" name="Google Shape;203;p13"/>
          <p:cNvPicPr preferRelativeResize="0"/>
          <p:nvPr/>
        </p:nvPicPr>
        <p:blipFill rotWithShape="1">
          <a:blip r:embed="rId3">
            <a:alphaModFix/>
          </a:blip>
          <a:srcRect b="0" l="0" r="0" t="0"/>
          <a:stretch/>
        </p:blipFill>
        <p:spPr>
          <a:xfrm>
            <a:off x="2362200" y="3429000"/>
            <a:ext cx="5278437" cy="1066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A more realistic Clock Cycle </a:t>
            </a:r>
            <a:endParaRPr/>
          </a:p>
        </p:txBody>
      </p:sp>
      <p:sp>
        <p:nvSpPr>
          <p:cNvPr id="209" name="Google Shape;209;p14"/>
          <p:cNvSpPr txBox="1"/>
          <p:nvPr/>
        </p:nvSpPr>
        <p:spPr>
          <a:xfrm>
            <a:off x="0" y="838200"/>
            <a:ext cx="9144000"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 clock can't really instantaneously go from 0 to 1 and back to 0. A more realistic diagram looks like: </a:t>
            </a:r>
            <a:endParaRPr/>
          </a:p>
        </p:txBody>
      </p:sp>
      <p:pic>
        <p:nvPicPr>
          <p:cNvPr id="210" name="Google Shape;210;p14"/>
          <p:cNvPicPr preferRelativeResize="0"/>
          <p:nvPr/>
        </p:nvPicPr>
        <p:blipFill rotWithShape="1">
          <a:blip r:embed="rId3">
            <a:alphaModFix/>
          </a:blip>
          <a:srcRect b="0" l="0" r="0" t="0"/>
          <a:stretch/>
        </p:blipFill>
        <p:spPr>
          <a:xfrm>
            <a:off x="228600" y="2286000"/>
            <a:ext cx="8815387"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5"/>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i="0" lang="en-US" sz="2800" u="none">
                <a:solidFill>
                  <a:schemeClr val="dk1"/>
                </a:solidFill>
                <a:latin typeface="Comic Sans MS"/>
                <a:ea typeface="Comic Sans MS"/>
                <a:cs typeface="Comic Sans MS"/>
                <a:sym typeface="Comic Sans MS"/>
              </a:rPr>
              <a:t>Features of a Clock</a:t>
            </a:r>
            <a:endParaRPr/>
          </a:p>
        </p:txBody>
      </p:sp>
      <p:pic>
        <p:nvPicPr>
          <p:cNvPr id="216" name="Google Shape;216;p15"/>
          <p:cNvPicPr preferRelativeResize="0"/>
          <p:nvPr/>
        </p:nvPicPr>
        <p:blipFill rotWithShape="1">
          <a:blip r:embed="rId3">
            <a:alphaModFix/>
          </a:blip>
          <a:srcRect b="0" l="0" r="0" t="0"/>
          <a:stretch/>
        </p:blipFill>
        <p:spPr>
          <a:xfrm>
            <a:off x="4572000" y="0"/>
            <a:ext cx="3867150" cy="1528762"/>
          </a:xfrm>
          <a:prstGeom prst="rect">
            <a:avLst/>
          </a:prstGeom>
          <a:noFill/>
          <a:ln>
            <a:noFill/>
          </a:ln>
        </p:spPr>
      </p:pic>
      <p:sp>
        <p:nvSpPr>
          <p:cNvPr id="217" name="Google Shape;217;p15"/>
          <p:cNvSpPr txBox="1"/>
          <p:nvPr/>
        </p:nvSpPr>
        <p:spPr>
          <a:xfrm>
            <a:off x="0" y="1447800"/>
            <a:ext cx="9144000" cy="5632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period</a:t>
            </a:r>
            <a:r>
              <a:rPr b="0" i="0" lang="en-US" sz="2400" u="none">
                <a:solidFill>
                  <a:schemeClr val="dk1"/>
                </a:solidFill>
                <a:latin typeface="Comic Sans MS"/>
                <a:ea typeface="Comic Sans MS"/>
                <a:cs typeface="Comic Sans MS"/>
                <a:sym typeface="Comic Sans MS"/>
              </a:rPr>
              <a:t> This is the time it takes for a clock signal to repeat. Its unit of measurement is seconds. The symbol for the period is </a:t>
            </a:r>
            <a:r>
              <a:rPr b="1" i="0" lang="en-US" sz="2400" u="none">
                <a:solidFill>
                  <a:schemeClr val="dk1"/>
                </a:solidFill>
                <a:latin typeface="Comic Sans MS"/>
                <a:ea typeface="Comic Sans MS"/>
                <a:cs typeface="Comic Sans MS"/>
                <a:sym typeface="Comic Sans MS"/>
              </a:rPr>
              <a:t>T</a:t>
            </a:r>
            <a:r>
              <a:rPr b="0" i="0" lang="en-US" sz="2400" u="none">
                <a:solidFill>
                  <a:schemeClr val="dk1"/>
                </a:solidFill>
                <a:latin typeface="Comic Sans MS"/>
                <a:ea typeface="Comic Sans MS"/>
                <a:cs typeface="Comic Sans MS"/>
                <a:sym typeface="Comic Sans MS"/>
              </a:rPr>
              <a:t>. </a:t>
            </a:r>
            <a:endParaRPr/>
          </a:p>
          <a:p>
            <a:pPr indent="0" lvl="0" marL="0" marR="0" rtl="0" algn="just">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frequency</a:t>
            </a:r>
            <a:r>
              <a:rPr b="0" i="0" lang="en-US" sz="2400" u="none">
                <a:solidFill>
                  <a:schemeClr val="dk1"/>
                </a:solidFill>
                <a:latin typeface="Comic Sans MS"/>
                <a:ea typeface="Comic Sans MS"/>
                <a:cs typeface="Comic Sans MS"/>
                <a:sym typeface="Comic Sans MS"/>
              </a:rPr>
              <a:t> Frequency is </a:t>
            </a:r>
            <a:r>
              <a:rPr b="1" i="0" lang="en-US" sz="2400" u="none">
                <a:solidFill>
                  <a:schemeClr val="dk1"/>
                </a:solidFill>
                <a:latin typeface="Comic Sans MS"/>
                <a:ea typeface="Comic Sans MS"/>
                <a:cs typeface="Comic Sans MS"/>
                <a:sym typeface="Comic Sans MS"/>
              </a:rPr>
              <a:t>1/T</a:t>
            </a:r>
            <a:r>
              <a:rPr b="0" i="0" lang="en-US" sz="2400" u="none">
                <a:solidFill>
                  <a:schemeClr val="dk1"/>
                </a:solidFill>
                <a:latin typeface="Comic Sans MS"/>
                <a:ea typeface="Comic Sans MS"/>
                <a:cs typeface="Comic Sans MS"/>
                <a:sym typeface="Comic Sans MS"/>
              </a:rPr>
              <a:t>. The unit of measurement is </a:t>
            </a:r>
            <a:r>
              <a:rPr b="1" i="0" lang="en-US" sz="2400" u="none">
                <a:solidFill>
                  <a:schemeClr val="dk1"/>
                </a:solidFill>
                <a:latin typeface="Comic Sans MS"/>
                <a:ea typeface="Comic Sans MS"/>
                <a:cs typeface="Comic Sans MS"/>
                <a:sym typeface="Comic Sans MS"/>
              </a:rPr>
              <a:t>s</a:t>
            </a:r>
            <a:r>
              <a:rPr b="1" baseline="30000" i="0" lang="en-US" sz="2400" u="none">
                <a:solidFill>
                  <a:schemeClr val="dk1"/>
                </a:solidFill>
                <a:latin typeface="Comic Sans MS"/>
                <a:ea typeface="Comic Sans MS"/>
                <a:cs typeface="Comic Sans MS"/>
                <a:sym typeface="Comic Sans MS"/>
              </a:rPr>
              <a:t>-1</a:t>
            </a:r>
            <a:r>
              <a:rPr b="0" i="0" lang="en-US" sz="2400" u="none">
                <a:solidFill>
                  <a:schemeClr val="dk1"/>
                </a:solidFill>
                <a:latin typeface="Comic Sans MS"/>
                <a:ea typeface="Comic Sans MS"/>
                <a:cs typeface="Comic Sans MS"/>
                <a:sym typeface="Comic Sans MS"/>
              </a:rPr>
              <a:t>, which is inverse seconds. This is also sometimes called </a:t>
            </a:r>
            <a:r>
              <a:rPr b="1" i="0" lang="en-US" sz="2400" u="none">
                <a:solidFill>
                  <a:schemeClr val="dk1"/>
                </a:solidFill>
                <a:latin typeface="Comic Sans MS"/>
                <a:ea typeface="Comic Sans MS"/>
                <a:cs typeface="Comic Sans MS"/>
                <a:sym typeface="Comic Sans MS"/>
              </a:rPr>
              <a:t>Hertz</a:t>
            </a:r>
            <a:r>
              <a:rPr b="0" i="0" lang="en-US" sz="2400" u="none">
                <a:solidFill>
                  <a:schemeClr val="dk1"/>
                </a:solidFill>
                <a:latin typeface="Comic Sans MS"/>
                <a:ea typeface="Comic Sans MS"/>
                <a:cs typeface="Comic Sans MS"/>
                <a:sym typeface="Comic Sans MS"/>
              </a:rPr>
              <a:t> (abbreviated </a:t>
            </a:r>
            <a:r>
              <a:rPr b="1" i="0" lang="en-US" sz="2400" u="none">
                <a:solidFill>
                  <a:schemeClr val="dk1"/>
                </a:solidFill>
                <a:latin typeface="Comic Sans MS"/>
                <a:ea typeface="Comic Sans MS"/>
                <a:cs typeface="Comic Sans MS"/>
                <a:sym typeface="Comic Sans MS"/>
              </a:rPr>
              <a:t>Hz</a:t>
            </a:r>
            <a:r>
              <a:rPr b="0" i="0" lang="en-US" sz="2400" u="none">
                <a:solidFill>
                  <a:schemeClr val="dk1"/>
                </a:solidFill>
                <a:latin typeface="Comic Sans MS"/>
                <a:ea typeface="Comic Sans MS"/>
                <a:cs typeface="Comic Sans MS"/>
                <a:sym typeface="Comic Sans MS"/>
              </a:rPr>
              <a:t>). Sometimes people say "cycles per second" instead of </a:t>
            </a:r>
            <a:r>
              <a:rPr b="1" i="0" lang="en-US" sz="2400" u="none">
                <a:solidFill>
                  <a:schemeClr val="dk1"/>
                </a:solidFill>
                <a:latin typeface="Comic Sans MS"/>
                <a:ea typeface="Comic Sans MS"/>
                <a:cs typeface="Comic Sans MS"/>
                <a:sym typeface="Comic Sans MS"/>
              </a:rPr>
              <a:t>Hz</a:t>
            </a:r>
            <a:r>
              <a:rPr b="0" i="0" lang="en-US" sz="2400" u="none">
                <a:solidFill>
                  <a:schemeClr val="dk1"/>
                </a:solidFill>
                <a:latin typeface="Comic Sans MS"/>
                <a:ea typeface="Comic Sans MS"/>
                <a:cs typeface="Comic Sans MS"/>
                <a:sym typeface="Comic Sans MS"/>
              </a:rPr>
              <a:t> or </a:t>
            </a:r>
            <a:r>
              <a:rPr b="1" i="0" lang="en-US" sz="2400" u="none">
                <a:solidFill>
                  <a:schemeClr val="dk1"/>
                </a:solidFill>
                <a:latin typeface="Comic Sans MS"/>
                <a:ea typeface="Comic Sans MS"/>
                <a:cs typeface="Comic Sans MS"/>
                <a:sym typeface="Comic Sans MS"/>
              </a:rPr>
              <a:t>s</a:t>
            </a:r>
            <a:r>
              <a:rPr b="1" baseline="30000" i="0" lang="en-US" sz="2400" u="none">
                <a:solidFill>
                  <a:schemeClr val="dk1"/>
                </a:solidFill>
                <a:latin typeface="Comic Sans MS"/>
                <a:ea typeface="Comic Sans MS"/>
                <a:cs typeface="Comic Sans MS"/>
                <a:sym typeface="Comic Sans MS"/>
              </a:rPr>
              <a:t>-1</a:t>
            </a:r>
            <a:r>
              <a:rPr b="0" i="0" lang="en-US" sz="2400" u="none">
                <a:solidFill>
                  <a:schemeClr val="dk1"/>
                </a:solidFill>
                <a:latin typeface="Comic Sans MS"/>
                <a:ea typeface="Comic Sans MS"/>
                <a:cs typeface="Comic Sans MS"/>
                <a:sym typeface="Comic Sans MS"/>
              </a:rPr>
              <a:t>. They all mean the same. When people refer to the "speed" of a CPU, they are usually talking about the clock frequency. </a:t>
            </a:r>
            <a:endParaRPr/>
          </a:p>
          <a:p>
            <a:pPr indent="0" lvl="0" marL="0" marR="0" rtl="0" algn="just">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positive edge</a:t>
            </a:r>
            <a:r>
              <a:rPr b="0" i="0" lang="en-US" sz="2400" u="none">
                <a:solidFill>
                  <a:schemeClr val="dk1"/>
                </a:solidFill>
                <a:latin typeface="Comic Sans MS"/>
                <a:ea typeface="Comic Sans MS"/>
                <a:cs typeface="Comic Sans MS"/>
                <a:sym typeface="Comic Sans MS"/>
              </a:rPr>
              <a:t> When the signal transitions from 0 to 1. It's circled above. </a:t>
            </a:r>
            <a:endParaRPr/>
          </a:p>
          <a:p>
            <a:pPr indent="0" lvl="0" marL="0" marR="0" rtl="0" algn="just">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negative edge</a:t>
            </a:r>
            <a:r>
              <a:rPr b="0" i="0" lang="en-US" sz="2400" u="none">
                <a:solidFill>
                  <a:schemeClr val="dk1"/>
                </a:solidFill>
                <a:latin typeface="Comic Sans MS"/>
                <a:ea typeface="Comic Sans MS"/>
                <a:cs typeface="Comic Sans MS"/>
                <a:sym typeface="Comic Sans MS"/>
              </a:rPr>
              <a:t> When the signal transitions from 1 to 0. It's circled above. Each positive clock edge appears once per clock period. Each negative clock edge appears once per clock period.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6"/>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Why clock used for?</a:t>
            </a:r>
            <a:endParaRPr/>
          </a:p>
        </p:txBody>
      </p:sp>
      <p:sp>
        <p:nvSpPr>
          <p:cNvPr id="223" name="Google Shape;223;p16"/>
          <p:cNvSpPr txBox="1"/>
          <p:nvPr/>
        </p:nvSpPr>
        <p:spPr>
          <a:xfrm>
            <a:off x="0" y="487362"/>
            <a:ext cx="9144000" cy="637063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We use a clock to synchronize the events of a CPU. Devices in a CPU can be categorized as sequential circuits or combinational circuits. </a:t>
            </a:r>
            <a:r>
              <a:rPr b="1" i="0" lang="en-US" sz="2400" u="none">
                <a:solidFill>
                  <a:schemeClr val="dk1"/>
                </a:solidFill>
                <a:latin typeface="Times New Roman"/>
                <a:ea typeface="Times New Roman"/>
                <a:cs typeface="Times New Roman"/>
                <a:sym typeface="Times New Roman"/>
              </a:rPr>
              <a:t>Sequential logic</a:t>
            </a:r>
            <a:r>
              <a:rPr b="0" i="0" lang="en-US" sz="2400" u="none">
                <a:solidFill>
                  <a:schemeClr val="dk1"/>
                </a:solidFill>
                <a:latin typeface="Times New Roman"/>
                <a:ea typeface="Times New Roman"/>
                <a:cs typeface="Times New Roman"/>
                <a:sym typeface="Times New Roman"/>
              </a:rPr>
              <a:t> devices use a clock.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Basically, sequential logic devices can only change outputs once a period, usually during a positive or a negative edge.</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give you an analogy, imagine a music conductor tapping a beat with a baton (a stick) at regular intervals. Suppose you are playing a piano, and you're told to play a new note each time he taps his baton. Thus, how fast the conductor taps the baton controls how often you play notes.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Similarly, the rate at which the positive clock edge appears controls how fast a sequential logic device can change outputs.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It turns out that by using a clock, we can design a CPU more easily than if we don't use a clock. This is primary reason to use a clock.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nvSpPr>
        <p:spPr>
          <a:xfrm>
            <a:off x="0" y="0"/>
            <a:ext cx="5410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68"/>
              </a:buClr>
              <a:buSzPts val="2800"/>
              <a:buFont typeface="Comic Sans MS"/>
              <a:buNone/>
            </a:pPr>
            <a:r>
              <a:rPr b="0" i="0" lang="en-US" sz="2800" u="none">
                <a:solidFill>
                  <a:srgbClr val="222268"/>
                </a:solidFill>
                <a:latin typeface="Comic Sans MS"/>
                <a:ea typeface="Comic Sans MS"/>
                <a:cs typeface="Comic Sans MS"/>
                <a:sym typeface="Comic Sans MS"/>
              </a:rPr>
              <a:t>Can’t we make it faster?</a:t>
            </a:r>
            <a:endParaRPr/>
          </a:p>
        </p:txBody>
      </p:sp>
      <p:sp>
        <p:nvSpPr>
          <p:cNvPr id="229" name="Google Shape;229;p17"/>
          <p:cNvSpPr txBox="1"/>
          <p:nvPr/>
        </p:nvSpPr>
        <p:spPr>
          <a:xfrm>
            <a:off x="0" y="1600200"/>
            <a:ext cx="9144000" cy="3108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If a CPU will run faster with a faster clock, then why not run it faster? The problem is that it takes time for signals to move around in a circuit. You can reduce this time in several ways. The main way is simply to make the circuit smaller. When the circuit is smaller, signals have less distance to travel, and therefore everything can happen more quickly.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0" y="0"/>
            <a:ext cx="6640512"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CPU Performance and Its Factors</a:t>
            </a:r>
            <a:endParaRPr/>
          </a:p>
        </p:txBody>
      </p:sp>
      <p:sp>
        <p:nvSpPr>
          <p:cNvPr id="235" name="Google Shape;235;p18"/>
          <p:cNvSpPr txBox="1"/>
          <p:nvPr/>
        </p:nvSpPr>
        <p:spPr>
          <a:xfrm>
            <a:off x="228600" y="609600"/>
            <a:ext cx="83820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2"/>
              </a:buClr>
              <a:buSzPts val="1800"/>
              <a:buFont typeface="Noto Sans Symbols"/>
              <a:buChar char="■"/>
            </a:pPr>
            <a:r>
              <a:rPr b="0" i="0" lang="en-US" sz="2400" u="none">
                <a:solidFill>
                  <a:schemeClr val="dk1"/>
                </a:solidFill>
                <a:latin typeface="Comic Sans MS"/>
                <a:ea typeface="Comic Sans MS"/>
                <a:cs typeface="Comic Sans MS"/>
                <a:sym typeface="Comic Sans MS"/>
              </a:rPr>
              <a:t>CPU time for a program can be expressed in two ways:</a:t>
            </a:r>
            <a:endParaRPr/>
          </a:p>
          <a:p>
            <a:pPr indent="-228600" lvl="0" marL="342900" marR="0" rtl="0" algn="l">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228600" lvl="0" marL="342900" marR="0" rtl="0" algn="l">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228600" lvl="0" marL="342900" marR="0" rtl="0" algn="l">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480"/>
              </a:spcBef>
              <a:spcAft>
                <a:spcPts val="0"/>
              </a:spcAft>
              <a:buClr>
                <a:schemeClr val="lt2"/>
              </a:buClr>
              <a:buSzPts val="1800"/>
              <a:buFont typeface="Noto Sans Symbols"/>
              <a:buChar char="■"/>
            </a:pPr>
            <a:r>
              <a:rPr b="0" i="0" lang="en-US" sz="2400" u="none">
                <a:solidFill>
                  <a:schemeClr val="dk1"/>
                </a:solidFill>
                <a:latin typeface="Comic Sans MS"/>
                <a:ea typeface="Comic Sans MS"/>
                <a:cs typeface="Comic Sans MS"/>
                <a:sym typeface="Comic Sans MS"/>
              </a:rPr>
              <a:t>Alternatively, because clock rate and clock cycle time are inverses,</a:t>
            </a:r>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228600" lvl="0" marL="342900" marR="0" rtl="0" algn="just">
              <a:lnSpc>
                <a:spcPct val="100000"/>
              </a:lnSpc>
              <a:spcBef>
                <a:spcPts val="480"/>
              </a:spcBef>
              <a:spcAft>
                <a:spcPts val="0"/>
              </a:spcAft>
              <a:buClr>
                <a:schemeClr val="lt2"/>
              </a:buClr>
              <a:buSzPts val="1800"/>
              <a:buFont typeface="Noto Sans Symbols"/>
              <a:buNone/>
            </a:pPr>
            <a:r>
              <a:t/>
            </a:r>
            <a:endParaRPr b="0" i="0" sz="24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This formula makes it clear that the hardware designer can improve performance by reducing the number of clock cycles required for a program or the length of the clock cycle.</a:t>
            </a:r>
            <a:endParaRPr/>
          </a:p>
          <a:p>
            <a:pPr indent="-342900" lvl="0" marL="342900" marR="0" rtl="0" algn="just">
              <a:lnSpc>
                <a:spcPct val="100000"/>
              </a:lnSpc>
              <a:spcBef>
                <a:spcPts val="48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       </a:t>
            </a:r>
            <a:endParaRPr/>
          </a:p>
        </p:txBody>
      </p:sp>
      <p:pic>
        <p:nvPicPr>
          <p:cNvPr id="236" name="Google Shape;236;p18"/>
          <p:cNvPicPr preferRelativeResize="0"/>
          <p:nvPr/>
        </p:nvPicPr>
        <p:blipFill rotWithShape="1">
          <a:blip r:embed="rId3">
            <a:alphaModFix/>
          </a:blip>
          <a:srcRect b="0" l="0" r="0" t="0"/>
          <a:stretch/>
        </p:blipFill>
        <p:spPr>
          <a:xfrm>
            <a:off x="228600" y="1143000"/>
            <a:ext cx="8712200" cy="1219200"/>
          </a:xfrm>
          <a:prstGeom prst="rect">
            <a:avLst/>
          </a:prstGeom>
          <a:noFill/>
          <a:ln>
            <a:noFill/>
          </a:ln>
        </p:spPr>
      </p:pic>
      <p:pic>
        <p:nvPicPr>
          <p:cNvPr id="237" name="Google Shape;237;p18"/>
          <p:cNvPicPr preferRelativeResize="0"/>
          <p:nvPr/>
        </p:nvPicPr>
        <p:blipFill rotWithShape="1">
          <a:blip r:embed="rId4">
            <a:alphaModFix/>
          </a:blip>
          <a:srcRect b="0" l="0" r="0" t="0"/>
          <a:stretch/>
        </p:blipFill>
        <p:spPr>
          <a:xfrm>
            <a:off x="304800" y="3124200"/>
            <a:ext cx="7858125" cy="1143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txBox="1"/>
          <p:nvPr/>
        </p:nvSpPr>
        <p:spPr>
          <a:xfrm>
            <a:off x="0" y="0"/>
            <a:ext cx="17684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Example</a:t>
            </a:r>
            <a:endParaRPr/>
          </a:p>
        </p:txBody>
      </p:sp>
      <p:sp>
        <p:nvSpPr>
          <p:cNvPr id="243" name="Google Shape;243;p19"/>
          <p:cNvSpPr txBox="1"/>
          <p:nvPr/>
        </p:nvSpPr>
        <p:spPr>
          <a:xfrm>
            <a:off x="0" y="1143000"/>
            <a:ext cx="9144000" cy="44005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Our favourite program runs in 10 seconds on computer A, which has a 2 GHz clock. We are trying to help a computer designer build a computer, B, which will run this program in 6 seconds. The designer has determined that a substantial increase in the clock rate is possible, but this increase will affect the rest of the CPU design, causing computer B to require 1.2 times as many clock cycles as computer A for this program. What clock rate should we tell the designer to target?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0"/>
          <p:cNvSpPr txBox="1"/>
          <p:nvPr/>
        </p:nvSpPr>
        <p:spPr>
          <a:xfrm>
            <a:off x="0" y="0"/>
            <a:ext cx="175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Solution</a:t>
            </a:r>
            <a:endParaRPr/>
          </a:p>
        </p:txBody>
      </p:sp>
      <p:pic>
        <p:nvPicPr>
          <p:cNvPr id="249" name="Google Shape;249;p20"/>
          <p:cNvPicPr preferRelativeResize="0"/>
          <p:nvPr/>
        </p:nvPicPr>
        <p:blipFill rotWithShape="1">
          <a:blip r:embed="rId3">
            <a:alphaModFix/>
          </a:blip>
          <a:srcRect b="0" l="0" r="0" t="0"/>
          <a:stretch/>
        </p:blipFill>
        <p:spPr>
          <a:xfrm>
            <a:off x="381000" y="1219200"/>
            <a:ext cx="8112125" cy="3543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nvSpPr>
        <p:spPr>
          <a:xfrm>
            <a:off x="0" y="0"/>
            <a:ext cx="28987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Solution-Cont.</a:t>
            </a:r>
            <a:endParaRPr/>
          </a:p>
        </p:txBody>
      </p:sp>
      <p:pic>
        <p:nvPicPr>
          <p:cNvPr id="255" name="Google Shape;255;p21"/>
          <p:cNvPicPr preferRelativeResize="0"/>
          <p:nvPr/>
        </p:nvPicPr>
        <p:blipFill rotWithShape="1">
          <a:blip r:embed="rId3">
            <a:alphaModFix/>
          </a:blip>
          <a:srcRect b="0" l="0" r="0" t="0"/>
          <a:stretch/>
        </p:blipFill>
        <p:spPr>
          <a:xfrm>
            <a:off x="304800" y="1066800"/>
            <a:ext cx="8421687" cy="3962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2"/>
          <p:cNvSpPr txBox="1"/>
          <p:nvPr/>
        </p:nvSpPr>
        <p:spPr>
          <a:xfrm>
            <a:off x="0" y="0"/>
            <a:ext cx="506412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Instruction Performance </a:t>
            </a:r>
            <a:endParaRPr/>
          </a:p>
        </p:txBody>
      </p:sp>
      <p:sp>
        <p:nvSpPr>
          <p:cNvPr id="261" name="Google Shape;261;p22"/>
          <p:cNvSpPr txBox="1"/>
          <p:nvPr/>
        </p:nvSpPr>
        <p:spPr>
          <a:xfrm>
            <a:off x="0" y="533400"/>
            <a:ext cx="9144000" cy="4524375"/>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Since the compiler clearly generated instructions to execute, and the computer had to execute the instructions to run the program, the execution time must depend on the number of instructions in a program.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One way to think about execution time is that it equals the number of instructions executed multiplied by the average time per instruction.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Comic Sans MS"/>
              <a:ea typeface="Comic Sans MS"/>
              <a:cs typeface="Comic Sans MS"/>
              <a:sym typeface="Comic Sans MS"/>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omic Sans MS"/>
                <a:ea typeface="Comic Sans MS"/>
                <a:cs typeface="Comic Sans MS"/>
                <a:sym typeface="Comic Sans MS"/>
              </a:rPr>
              <a:t>Therefore, the number of clock cycles required for a program can be written as</a:t>
            </a:r>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pic>
        <p:nvPicPr>
          <p:cNvPr id="262" name="Google Shape;262;p22"/>
          <p:cNvPicPr preferRelativeResize="0"/>
          <p:nvPr/>
        </p:nvPicPr>
        <p:blipFill rotWithShape="1">
          <a:blip r:embed="rId3">
            <a:alphaModFix/>
          </a:blip>
          <a:srcRect b="0" l="0" r="0" t="0"/>
          <a:stretch/>
        </p:blipFill>
        <p:spPr>
          <a:xfrm>
            <a:off x="0" y="5029200"/>
            <a:ext cx="8763000" cy="106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nvSpPr>
        <p:spPr>
          <a:xfrm>
            <a:off x="0" y="0"/>
            <a:ext cx="62103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Instruction Performance –Cont.</a:t>
            </a:r>
            <a:endParaRPr/>
          </a:p>
        </p:txBody>
      </p:sp>
      <p:sp>
        <p:nvSpPr>
          <p:cNvPr id="268" name="Google Shape;268;p23"/>
          <p:cNvSpPr txBox="1"/>
          <p:nvPr/>
        </p:nvSpPr>
        <p:spPr>
          <a:xfrm>
            <a:off x="0" y="685800"/>
            <a:ext cx="9144000" cy="612457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The term </a:t>
            </a:r>
            <a:r>
              <a:rPr b="1" i="0" lang="en-US" sz="2800" u="none">
                <a:solidFill>
                  <a:schemeClr val="dk1"/>
                </a:solidFill>
                <a:latin typeface="Comic Sans MS"/>
                <a:ea typeface="Comic Sans MS"/>
                <a:cs typeface="Comic Sans MS"/>
                <a:sym typeface="Comic Sans MS"/>
              </a:rPr>
              <a:t>clock cycles per instruction, which is the average number of clock </a:t>
            </a:r>
            <a:r>
              <a:rPr b="0" i="0" lang="en-US" sz="2800" u="none">
                <a:solidFill>
                  <a:schemeClr val="dk1"/>
                </a:solidFill>
                <a:latin typeface="Comic Sans MS"/>
                <a:ea typeface="Comic Sans MS"/>
                <a:cs typeface="Comic Sans MS"/>
                <a:sym typeface="Comic Sans MS"/>
              </a:rPr>
              <a:t>cycles each instruction takes to execute, is often abbreviated as </a:t>
            </a:r>
            <a:r>
              <a:rPr b="1" i="0" lang="en-US" sz="2800" u="none">
                <a:solidFill>
                  <a:schemeClr val="dk1"/>
                </a:solidFill>
                <a:latin typeface="Comic Sans MS"/>
                <a:ea typeface="Comic Sans MS"/>
                <a:cs typeface="Comic Sans MS"/>
                <a:sym typeface="Comic Sans MS"/>
              </a:rPr>
              <a:t>CPI.</a:t>
            </a:r>
            <a:r>
              <a:rPr b="0" i="0" lang="en-US" sz="2800" u="none">
                <a:solidFill>
                  <a:schemeClr val="dk1"/>
                </a:solidFill>
                <a:latin typeface="Comic Sans MS"/>
                <a:ea typeface="Comic Sans MS"/>
                <a:cs typeface="Comic Sans MS"/>
                <a:sym typeface="Comic Sans MS"/>
              </a:rPr>
              <a:t> </a:t>
            </a:r>
            <a:endParaRPr/>
          </a:p>
          <a:p>
            <a:pPr indent="0" lvl="0" marL="0" marR="0" rtl="0" algn="just">
              <a:lnSpc>
                <a:spcPct val="100000"/>
              </a:lnSpc>
              <a:spcBef>
                <a:spcPts val="0"/>
              </a:spcBef>
              <a:spcAft>
                <a:spcPts val="0"/>
              </a:spcAft>
              <a:buClr>
                <a:schemeClr val="dk1"/>
              </a:buClr>
              <a:buSzPts val="2800"/>
              <a:buFont typeface="Arial"/>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Since different instructions may take different amounts of time depending on what they do, CPI is an average of all the instructions executed in the program. </a:t>
            </a:r>
            <a:endParaRPr/>
          </a:p>
          <a:p>
            <a:pPr indent="0" lvl="0" marL="0" marR="0" rtl="0" algn="just">
              <a:lnSpc>
                <a:spcPct val="100000"/>
              </a:lnSpc>
              <a:spcBef>
                <a:spcPts val="0"/>
              </a:spcBef>
              <a:spcAft>
                <a:spcPts val="0"/>
              </a:spcAft>
              <a:buClr>
                <a:schemeClr val="dk1"/>
              </a:buClr>
              <a:buSzPts val="2800"/>
              <a:buFont typeface="Arial"/>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CPI provides one way of comparing two different implementations of the same instruction set architecture, since the number of instructions executed for a program will, of course, be the same.</a:t>
            </a:r>
            <a:endParaRPr b="1" i="0" sz="28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1" i="0" sz="2800" u="none">
              <a:solidFill>
                <a:schemeClr val="dk1"/>
              </a:solidFill>
              <a:latin typeface="Comic Sans MS"/>
              <a:ea typeface="Comic Sans MS"/>
              <a:cs typeface="Comic Sans MS"/>
              <a:sym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4"/>
          <p:cNvSpPr txBox="1"/>
          <p:nvPr/>
        </p:nvSpPr>
        <p:spPr>
          <a:xfrm>
            <a:off x="0" y="0"/>
            <a:ext cx="17684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Example</a:t>
            </a:r>
            <a:endParaRPr/>
          </a:p>
        </p:txBody>
      </p:sp>
      <p:sp>
        <p:nvSpPr>
          <p:cNvPr id="274" name="Google Shape;274;p24"/>
          <p:cNvSpPr txBox="1"/>
          <p:nvPr/>
        </p:nvSpPr>
        <p:spPr>
          <a:xfrm>
            <a:off x="0" y="1295400"/>
            <a:ext cx="9144000"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Suppose we have two implementations of the same instruction set architecture. Computer A has a clock cycle time of 250 ps and a CPI of 2.0 for some program, and computer B has a clock cycle time of 500 ps and a CPI of 1.2 for the same program.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Which computer is faster for this program and by how much?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5"/>
          <p:cNvSpPr txBox="1"/>
          <p:nvPr/>
        </p:nvSpPr>
        <p:spPr>
          <a:xfrm>
            <a:off x="0" y="0"/>
            <a:ext cx="175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Solution</a:t>
            </a:r>
            <a:endParaRPr/>
          </a:p>
        </p:txBody>
      </p:sp>
      <p:sp>
        <p:nvSpPr>
          <p:cNvPr id="280" name="Google Shape;280;p25"/>
          <p:cNvSpPr txBox="1"/>
          <p:nvPr/>
        </p:nvSpPr>
        <p:spPr>
          <a:xfrm>
            <a:off x="0" y="457200"/>
            <a:ext cx="9144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We know that each computer executes the same number of instructions for the program; let’s call this number I. First, find the number of processor clock cycles for each computer:</a:t>
            </a:r>
            <a:endParaRPr/>
          </a:p>
        </p:txBody>
      </p:sp>
      <p:pic>
        <p:nvPicPr>
          <p:cNvPr id="281" name="Google Shape;281;p25"/>
          <p:cNvPicPr preferRelativeResize="0"/>
          <p:nvPr/>
        </p:nvPicPr>
        <p:blipFill rotWithShape="1">
          <a:blip r:embed="rId3">
            <a:alphaModFix/>
          </a:blip>
          <a:srcRect b="0" l="0" r="0" t="0"/>
          <a:stretch/>
        </p:blipFill>
        <p:spPr>
          <a:xfrm>
            <a:off x="1981200" y="1752600"/>
            <a:ext cx="4724400" cy="1500187"/>
          </a:xfrm>
          <a:prstGeom prst="rect">
            <a:avLst/>
          </a:prstGeom>
          <a:noFill/>
          <a:ln>
            <a:noFill/>
          </a:ln>
        </p:spPr>
      </p:pic>
      <p:sp>
        <p:nvSpPr>
          <p:cNvPr id="282" name="Google Shape;282;p25"/>
          <p:cNvSpPr txBox="1"/>
          <p:nvPr/>
        </p:nvSpPr>
        <p:spPr>
          <a:xfrm>
            <a:off x="0" y="3124200"/>
            <a:ext cx="9144000" cy="1200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Now we can compute the CPU time for each computer:</a:t>
            </a:r>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pic>
        <p:nvPicPr>
          <p:cNvPr id="283" name="Google Shape;283;p25"/>
          <p:cNvPicPr preferRelativeResize="0"/>
          <p:nvPr/>
        </p:nvPicPr>
        <p:blipFill rotWithShape="1">
          <a:blip r:embed="rId4">
            <a:alphaModFix/>
          </a:blip>
          <a:srcRect b="0" l="0" r="0" t="0"/>
          <a:stretch/>
        </p:blipFill>
        <p:spPr>
          <a:xfrm>
            <a:off x="990600" y="4724400"/>
            <a:ext cx="7064375" cy="1114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6"/>
          <p:cNvSpPr txBox="1"/>
          <p:nvPr/>
        </p:nvSpPr>
        <p:spPr>
          <a:xfrm>
            <a:off x="0" y="0"/>
            <a:ext cx="11588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Cont.</a:t>
            </a:r>
            <a:endParaRPr/>
          </a:p>
        </p:txBody>
      </p:sp>
      <p:sp>
        <p:nvSpPr>
          <p:cNvPr id="289" name="Google Shape;289;p26"/>
          <p:cNvSpPr txBox="1"/>
          <p:nvPr/>
        </p:nvSpPr>
        <p:spPr>
          <a:xfrm>
            <a:off x="0" y="533400"/>
            <a:ext cx="2590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Likewise, for B:</a:t>
            </a:r>
            <a:endParaRPr/>
          </a:p>
        </p:txBody>
      </p:sp>
      <p:pic>
        <p:nvPicPr>
          <p:cNvPr id="290" name="Google Shape;290;p26"/>
          <p:cNvPicPr preferRelativeResize="0"/>
          <p:nvPr/>
        </p:nvPicPr>
        <p:blipFill rotWithShape="1">
          <a:blip r:embed="rId3">
            <a:alphaModFix/>
          </a:blip>
          <a:srcRect b="0" l="0" r="0" t="0"/>
          <a:stretch/>
        </p:blipFill>
        <p:spPr>
          <a:xfrm>
            <a:off x="2590800" y="304800"/>
            <a:ext cx="5897562" cy="830262"/>
          </a:xfrm>
          <a:prstGeom prst="rect">
            <a:avLst/>
          </a:prstGeom>
          <a:noFill/>
          <a:ln>
            <a:noFill/>
          </a:ln>
        </p:spPr>
      </p:pic>
      <p:sp>
        <p:nvSpPr>
          <p:cNvPr id="291" name="Google Shape;291;p26"/>
          <p:cNvSpPr txBox="1"/>
          <p:nvPr/>
        </p:nvSpPr>
        <p:spPr>
          <a:xfrm>
            <a:off x="0" y="1219200"/>
            <a:ext cx="9144000" cy="830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Clearly, computer A is faster. The amount faster is given by the ratio of the execution times:</a:t>
            </a:r>
            <a:endParaRPr/>
          </a:p>
        </p:txBody>
      </p:sp>
      <p:pic>
        <p:nvPicPr>
          <p:cNvPr id="292" name="Google Shape;292;p26"/>
          <p:cNvPicPr preferRelativeResize="0"/>
          <p:nvPr/>
        </p:nvPicPr>
        <p:blipFill rotWithShape="1">
          <a:blip r:embed="rId4">
            <a:alphaModFix/>
          </a:blip>
          <a:srcRect b="0" l="0" r="0" t="0"/>
          <a:stretch/>
        </p:blipFill>
        <p:spPr>
          <a:xfrm>
            <a:off x="762000" y="2286000"/>
            <a:ext cx="7632700" cy="990600"/>
          </a:xfrm>
          <a:prstGeom prst="rect">
            <a:avLst/>
          </a:prstGeom>
          <a:noFill/>
          <a:ln>
            <a:noFill/>
          </a:ln>
        </p:spPr>
      </p:pic>
      <p:sp>
        <p:nvSpPr>
          <p:cNvPr id="293" name="Google Shape;293;p26"/>
          <p:cNvSpPr txBox="1"/>
          <p:nvPr/>
        </p:nvSpPr>
        <p:spPr>
          <a:xfrm>
            <a:off x="0" y="4038600"/>
            <a:ext cx="9144000" cy="954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We can conclude that computer A is 1.2 times as fast as computer B for this program.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CPU Execution time</a:t>
            </a:r>
            <a:endParaRPr/>
          </a:p>
        </p:txBody>
      </p:sp>
      <p:pic>
        <p:nvPicPr>
          <p:cNvPr id="299" name="Google Shape;299;p27"/>
          <p:cNvPicPr preferRelativeResize="0"/>
          <p:nvPr/>
        </p:nvPicPr>
        <p:blipFill rotWithShape="1">
          <a:blip r:embed="rId3">
            <a:alphaModFix/>
          </a:blip>
          <a:srcRect b="0" l="0" r="0" t="0"/>
          <a:stretch/>
        </p:blipFill>
        <p:spPr>
          <a:xfrm>
            <a:off x="838200" y="1066800"/>
            <a:ext cx="7056437" cy="1066800"/>
          </a:xfrm>
          <a:prstGeom prst="rect">
            <a:avLst/>
          </a:prstGeom>
          <a:noFill/>
          <a:ln>
            <a:noFill/>
          </a:ln>
        </p:spPr>
      </p:pic>
      <p:sp>
        <p:nvSpPr>
          <p:cNvPr id="300" name="Google Shape;300;p27"/>
          <p:cNvSpPr txBox="1"/>
          <p:nvPr/>
        </p:nvSpPr>
        <p:spPr>
          <a:xfrm>
            <a:off x="0" y="533400"/>
            <a:ext cx="2590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We have,</a:t>
            </a:r>
            <a:endParaRPr/>
          </a:p>
        </p:txBody>
      </p:sp>
      <p:pic>
        <p:nvPicPr>
          <p:cNvPr id="301" name="Google Shape;301;p27"/>
          <p:cNvPicPr preferRelativeResize="0"/>
          <p:nvPr/>
        </p:nvPicPr>
        <p:blipFill rotWithShape="1">
          <a:blip r:embed="rId4">
            <a:alphaModFix/>
          </a:blip>
          <a:srcRect b="0" l="0" r="0" t="0"/>
          <a:stretch/>
        </p:blipFill>
        <p:spPr>
          <a:xfrm>
            <a:off x="228600" y="2133600"/>
            <a:ext cx="8763000" cy="1066800"/>
          </a:xfrm>
          <a:prstGeom prst="rect">
            <a:avLst/>
          </a:prstGeom>
          <a:noFill/>
          <a:ln>
            <a:noFill/>
          </a:ln>
        </p:spPr>
      </p:pic>
      <p:pic>
        <p:nvPicPr>
          <p:cNvPr id="302" name="Google Shape;302;p27"/>
          <p:cNvPicPr preferRelativeResize="0"/>
          <p:nvPr/>
        </p:nvPicPr>
        <p:blipFill rotWithShape="1">
          <a:blip r:embed="rId5">
            <a:alphaModFix/>
          </a:blip>
          <a:srcRect b="0" l="0" r="0" t="0"/>
          <a:stretch/>
        </p:blipFill>
        <p:spPr>
          <a:xfrm>
            <a:off x="533400" y="4267200"/>
            <a:ext cx="7523162" cy="838200"/>
          </a:xfrm>
          <a:prstGeom prst="rect">
            <a:avLst/>
          </a:prstGeom>
          <a:noFill/>
          <a:ln>
            <a:noFill/>
          </a:ln>
        </p:spPr>
      </p:pic>
      <p:sp>
        <p:nvSpPr>
          <p:cNvPr id="303" name="Google Shape;303;p27"/>
          <p:cNvSpPr txBox="1"/>
          <p:nvPr/>
        </p:nvSpPr>
        <p:spPr>
          <a:xfrm>
            <a:off x="0" y="1828800"/>
            <a:ext cx="2590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Also,</a:t>
            </a:r>
            <a:endParaRPr/>
          </a:p>
        </p:txBody>
      </p:sp>
      <p:sp>
        <p:nvSpPr>
          <p:cNvPr id="304" name="Google Shape;304;p27"/>
          <p:cNvSpPr txBox="1"/>
          <p:nvPr/>
        </p:nvSpPr>
        <p:spPr>
          <a:xfrm>
            <a:off x="0" y="3048000"/>
            <a:ext cx="9144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We can now write this basic performance equation in terms of </a:t>
            </a:r>
            <a:r>
              <a:rPr b="1" i="0" lang="en-US" sz="2400" u="none">
                <a:solidFill>
                  <a:schemeClr val="dk1"/>
                </a:solidFill>
                <a:latin typeface="Comic Sans MS"/>
                <a:ea typeface="Comic Sans MS"/>
                <a:cs typeface="Comic Sans MS"/>
                <a:sym typeface="Comic Sans MS"/>
              </a:rPr>
              <a:t>instruction count </a:t>
            </a:r>
            <a:r>
              <a:rPr b="0" i="0" lang="en-US" sz="2400" u="none">
                <a:solidFill>
                  <a:schemeClr val="dk1"/>
                </a:solidFill>
                <a:latin typeface="Comic Sans MS"/>
                <a:ea typeface="Comic Sans MS"/>
                <a:cs typeface="Comic Sans MS"/>
                <a:sym typeface="Comic Sans MS"/>
              </a:rPr>
              <a:t>(the number of instructions executed by the program), CPI, and clock cycle time: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CPU Execution time</a:t>
            </a:r>
            <a:endParaRPr/>
          </a:p>
        </p:txBody>
      </p:sp>
      <p:sp>
        <p:nvSpPr>
          <p:cNvPr id="310" name="Google Shape;310;p28"/>
          <p:cNvSpPr txBox="1"/>
          <p:nvPr/>
        </p:nvSpPr>
        <p:spPr>
          <a:xfrm>
            <a:off x="0" y="31242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or, since the clock rate is the inverse of clock cycle time:</a:t>
            </a:r>
            <a:endParaRPr/>
          </a:p>
        </p:txBody>
      </p:sp>
      <p:pic>
        <p:nvPicPr>
          <p:cNvPr id="311" name="Google Shape;311;p28"/>
          <p:cNvPicPr preferRelativeResize="0"/>
          <p:nvPr/>
        </p:nvPicPr>
        <p:blipFill rotWithShape="1">
          <a:blip r:embed="rId3">
            <a:alphaModFix/>
          </a:blip>
          <a:srcRect b="0" l="0" r="0" t="0"/>
          <a:stretch/>
        </p:blipFill>
        <p:spPr>
          <a:xfrm>
            <a:off x="1219200" y="4495800"/>
            <a:ext cx="6051550" cy="1143000"/>
          </a:xfrm>
          <a:prstGeom prst="rect">
            <a:avLst/>
          </a:prstGeom>
          <a:noFill/>
          <a:ln>
            <a:noFill/>
          </a:ln>
        </p:spPr>
      </p:pic>
      <p:pic>
        <p:nvPicPr>
          <p:cNvPr id="312" name="Google Shape;312;p28"/>
          <p:cNvPicPr preferRelativeResize="0"/>
          <p:nvPr/>
        </p:nvPicPr>
        <p:blipFill rotWithShape="1">
          <a:blip r:embed="rId4">
            <a:alphaModFix/>
          </a:blip>
          <a:srcRect b="0" l="0" r="0" t="0"/>
          <a:stretch/>
        </p:blipFill>
        <p:spPr>
          <a:xfrm>
            <a:off x="0" y="1419225"/>
            <a:ext cx="9144000" cy="1019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Example</a:t>
            </a:r>
            <a:endParaRPr/>
          </a:p>
        </p:txBody>
      </p:sp>
      <p:sp>
        <p:nvSpPr>
          <p:cNvPr id="318" name="Google Shape;318;p29"/>
          <p:cNvSpPr txBox="1"/>
          <p:nvPr/>
        </p:nvSpPr>
        <p:spPr>
          <a:xfrm>
            <a:off x="0" y="685800"/>
            <a:ext cx="9144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 compiler designer is trying to decide between two code sequences for a particular computer. The hardware designers have supplied the following facts:</a:t>
            </a:r>
            <a:endParaRPr/>
          </a:p>
        </p:txBody>
      </p:sp>
      <p:pic>
        <p:nvPicPr>
          <p:cNvPr id="319" name="Google Shape;319;p29"/>
          <p:cNvPicPr preferRelativeResize="0"/>
          <p:nvPr/>
        </p:nvPicPr>
        <p:blipFill rotWithShape="1">
          <a:blip r:embed="rId3">
            <a:alphaModFix/>
          </a:blip>
          <a:srcRect b="0" l="0" r="0" t="0"/>
          <a:stretch/>
        </p:blipFill>
        <p:spPr>
          <a:xfrm>
            <a:off x="1905000" y="1828800"/>
            <a:ext cx="5557837" cy="1030287"/>
          </a:xfrm>
          <a:prstGeom prst="rect">
            <a:avLst/>
          </a:prstGeom>
          <a:noFill/>
          <a:ln>
            <a:noFill/>
          </a:ln>
        </p:spPr>
      </p:pic>
      <p:sp>
        <p:nvSpPr>
          <p:cNvPr id="320" name="Google Shape;320;p29"/>
          <p:cNvSpPr txBox="1"/>
          <p:nvPr/>
        </p:nvSpPr>
        <p:spPr>
          <a:xfrm>
            <a:off x="0" y="3048000"/>
            <a:ext cx="9144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For a particular high-level language statement, the compiler writer is considering two code sequences that require the following instruction counts:</a:t>
            </a:r>
            <a:endParaRPr/>
          </a:p>
        </p:txBody>
      </p:sp>
      <p:pic>
        <p:nvPicPr>
          <p:cNvPr id="321" name="Google Shape;321;p29"/>
          <p:cNvPicPr preferRelativeResize="0"/>
          <p:nvPr/>
        </p:nvPicPr>
        <p:blipFill rotWithShape="1">
          <a:blip r:embed="rId4">
            <a:alphaModFix/>
          </a:blip>
          <a:srcRect b="0" l="0" r="0" t="0"/>
          <a:stretch/>
        </p:blipFill>
        <p:spPr>
          <a:xfrm>
            <a:off x="1905000" y="4191000"/>
            <a:ext cx="5881687" cy="1295400"/>
          </a:xfrm>
          <a:prstGeom prst="rect">
            <a:avLst/>
          </a:prstGeom>
          <a:noFill/>
          <a:ln>
            <a:noFill/>
          </a:ln>
        </p:spPr>
      </p:pic>
      <p:sp>
        <p:nvSpPr>
          <p:cNvPr id="322" name="Google Shape;322;p29"/>
          <p:cNvSpPr txBox="1"/>
          <p:nvPr/>
        </p:nvSpPr>
        <p:spPr>
          <a:xfrm>
            <a:off x="0" y="5638800"/>
            <a:ext cx="9144000"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Which code sequence executes the most instructions? Which will be faster? What is the CPI for each sequence?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0"/>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Solution </a:t>
            </a:r>
            <a:endParaRPr/>
          </a:p>
        </p:txBody>
      </p:sp>
      <p:sp>
        <p:nvSpPr>
          <p:cNvPr id="328" name="Google Shape;328;p30"/>
          <p:cNvSpPr txBox="1"/>
          <p:nvPr/>
        </p:nvSpPr>
        <p:spPr>
          <a:xfrm>
            <a:off x="0" y="533400"/>
            <a:ext cx="9144000" cy="1384300"/>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Sequence 1 executes 2 + 1 + 2 = 5 instructions. </a:t>
            </a:r>
            <a:endParaRPr/>
          </a:p>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Sequence 2 executes 4 + 1 + 1 = 6 instructions. </a:t>
            </a:r>
            <a:endParaRPr/>
          </a:p>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Therefore, sequence 1 executes fewer instructions</a:t>
            </a:r>
            <a:r>
              <a:rPr b="0" i="0" lang="en-US" sz="2800" u="none">
                <a:solidFill>
                  <a:schemeClr val="dk1"/>
                </a:solidFill>
                <a:latin typeface="Times New Roman"/>
                <a:ea typeface="Times New Roman"/>
                <a:cs typeface="Times New Roman"/>
                <a:sym typeface="Times New Roman"/>
              </a:rPr>
              <a:t>.</a:t>
            </a:r>
            <a:endParaRPr/>
          </a:p>
        </p:txBody>
      </p:sp>
      <p:pic>
        <p:nvPicPr>
          <p:cNvPr id="329" name="Google Shape;329;p30"/>
          <p:cNvPicPr preferRelativeResize="0"/>
          <p:nvPr/>
        </p:nvPicPr>
        <p:blipFill rotWithShape="1">
          <a:blip r:embed="rId3">
            <a:alphaModFix/>
          </a:blip>
          <a:srcRect b="0" l="0" r="0" t="0"/>
          <a:stretch/>
        </p:blipFill>
        <p:spPr>
          <a:xfrm>
            <a:off x="2057400" y="1981200"/>
            <a:ext cx="4789487" cy="1066800"/>
          </a:xfrm>
          <a:prstGeom prst="rect">
            <a:avLst/>
          </a:prstGeom>
          <a:noFill/>
          <a:ln>
            <a:noFill/>
          </a:ln>
        </p:spPr>
      </p:pic>
      <p:pic>
        <p:nvPicPr>
          <p:cNvPr id="330" name="Google Shape;330;p30"/>
          <p:cNvPicPr preferRelativeResize="0"/>
          <p:nvPr/>
        </p:nvPicPr>
        <p:blipFill rotWithShape="1">
          <a:blip r:embed="rId4">
            <a:alphaModFix/>
          </a:blip>
          <a:srcRect b="0" l="0" r="0" t="0"/>
          <a:stretch/>
        </p:blipFill>
        <p:spPr>
          <a:xfrm>
            <a:off x="533400" y="2971800"/>
            <a:ext cx="7391400" cy="1792287"/>
          </a:xfrm>
          <a:prstGeom prst="rect">
            <a:avLst/>
          </a:prstGeom>
          <a:noFill/>
          <a:ln>
            <a:noFill/>
          </a:ln>
        </p:spPr>
      </p:pic>
      <p:sp>
        <p:nvSpPr>
          <p:cNvPr id="331" name="Google Shape;331;p30"/>
          <p:cNvSpPr txBox="1"/>
          <p:nvPr/>
        </p:nvSpPr>
        <p:spPr>
          <a:xfrm>
            <a:off x="0" y="49530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So code sequence 2 is faster, even though it executes one extra instruction.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1"/>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Cont.</a:t>
            </a:r>
            <a:endParaRPr/>
          </a:p>
        </p:txBody>
      </p:sp>
      <p:pic>
        <p:nvPicPr>
          <p:cNvPr id="337" name="Google Shape;337;p31"/>
          <p:cNvPicPr preferRelativeResize="0"/>
          <p:nvPr/>
        </p:nvPicPr>
        <p:blipFill rotWithShape="1">
          <a:blip r:embed="rId3">
            <a:alphaModFix/>
          </a:blip>
          <a:srcRect b="0" l="0" r="0" t="0"/>
          <a:stretch/>
        </p:blipFill>
        <p:spPr>
          <a:xfrm>
            <a:off x="2209800" y="2133600"/>
            <a:ext cx="5111750" cy="3429000"/>
          </a:xfrm>
          <a:prstGeom prst="rect">
            <a:avLst/>
          </a:prstGeom>
          <a:noFill/>
          <a:ln>
            <a:noFill/>
          </a:ln>
        </p:spPr>
      </p:pic>
      <p:pic>
        <p:nvPicPr>
          <p:cNvPr id="338" name="Google Shape;338;p31"/>
          <p:cNvPicPr preferRelativeResize="0"/>
          <p:nvPr/>
        </p:nvPicPr>
        <p:blipFill rotWithShape="1">
          <a:blip r:embed="rId4">
            <a:alphaModFix/>
          </a:blip>
          <a:srcRect b="0" l="0" r="0" t="0"/>
          <a:stretch/>
        </p:blipFill>
        <p:spPr>
          <a:xfrm>
            <a:off x="152400" y="838200"/>
            <a:ext cx="8763000" cy="1066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2"/>
          <p:cNvSpPr txBox="1"/>
          <p:nvPr/>
        </p:nvSpPr>
        <p:spPr>
          <a:xfrm>
            <a:off x="0" y="0"/>
            <a:ext cx="5562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Summary </a:t>
            </a:r>
            <a:endParaRPr/>
          </a:p>
        </p:txBody>
      </p:sp>
      <p:pic>
        <p:nvPicPr>
          <p:cNvPr id="344" name="Google Shape;344;p32"/>
          <p:cNvPicPr preferRelativeResize="0"/>
          <p:nvPr/>
        </p:nvPicPr>
        <p:blipFill rotWithShape="1">
          <a:blip r:embed="rId3">
            <a:alphaModFix/>
          </a:blip>
          <a:srcRect b="0" l="0" r="0" t="0"/>
          <a:stretch/>
        </p:blipFill>
        <p:spPr>
          <a:xfrm>
            <a:off x="228600" y="1371600"/>
            <a:ext cx="8669337" cy="2133600"/>
          </a:xfrm>
          <a:prstGeom prst="rect">
            <a:avLst/>
          </a:prstGeom>
          <a:noFill/>
          <a:ln>
            <a:noFill/>
          </a:ln>
        </p:spPr>
      </p:pic>
      <p:pic>
        <p:nvPicPr>
          <p:cNvPr id="345" name="Google Shape;345;p32"/>
          <p:cNvPicPr preferRelativeResize="0"/>
          <p:nvPr/>
        </p:nvPicPr>
        <p:blipFill rotWithShape="1">
          <a:blip r:embed="rId4">
            <a:alphaModFix/>
          </a:blip>
          <a:srcRect b="0" l="0" r="0" t="0"/>
          <a:stretch/>
        </p:blipFill>
        <p:spPr>
          <a:xfrm>
            <a:off x="914400" y="3657600"/>
            <a:ext cx="7488237" cy="990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2008-03-23T23:58:27Z</dcterms:created>
  <dc:creator>Mrs.Nayeema Islam</dc:creator>
</cp:coreProperties>
</file>