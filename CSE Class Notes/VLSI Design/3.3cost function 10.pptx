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504E3A-E35F-41A7-A374-01FA1B4BA6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92A97A-0FF7-49E4-A99D-41377E34A1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5B940-2DBD-494B-ADA5-ED073397BD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250CA7-E07D-4CB2-9A22-B6C8455F60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0EC415-0A81-4E5F-9D33-A82B752237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F30DFF-7A97-43F5-8493-CAF7AD920A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A57329-14F0-4036-B356-9F520AC511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0E6CE4-F4EC-4C47-AF35-E84C094095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BDE94D-1121-4D3E-A881-B47B1A940C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7A764B-1286-4812-9132-C4847E640E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105150-62DA-4494-8019-A9254939B3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6000" r="-6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4"/>
          <p:cNvSpPr/>
          <p:nvPr/>
        </p:nvSpPr>
        <p:spPr>
          <a:xfrm>
            <a:off x="0" y="1981080"/>
            <a:ext cx="8894160" cy="144756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0" y="2271960"/>
            <a:ext cx="9164520" cy="699840"/>
          </a:xfrm>
          <a:prstGeom prst="rect">
            <a:avLst/>
          </a:prstGeom>
          <a:solidFill>
            <a:srgbClr val="000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  <a:scene3d>
              <a:camera prst="orthographicFront"/>
              <a:lightRig dir="t" rig="sof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150" strike="noStrike">
                <a:solidFill>
                  <a:srgbClr val="FFFF00"/>
                </a:solidFill>
                <a:effectLst/>
                <a:uFillTx/>
                <a:latin typeface="Times New Roman"/>
              </a:rPr>
              <a:t>Estimating cost of a floorplan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4"/>
          <p:cNvSpPr/>
          <p:nvPr/>
        </p:nvSpPr>
        <p:spPr>
          <a:xfrm>
            <a:off x="2401560" y="532440"/>
            <a:ext cx="4340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Topics will be discussed –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2966760" y="1981080"/>
            <a:ext cx="3210480" cy="24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FFFF00"/>
              </a:buClr>
              <a:buSzPct val="90000"/>
              <a:buFont typeface="Calibri"/>
              <a:buChar char="»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Introduction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FFFF00"/>
              </a:buClr>
              <a:buSzPct val="90000"/>
              <a:buFont typeface="Calibri"/>
              <a:buChar char="»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Objective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FFFF00"/>
              </a:buClr>
              <a:buSzPct val="90000"/>
              <a:buFont typeface="Calibri"/>
              <a:buChar char="»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Cost Function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FFFF00"/>
              </a:buClr>
              <a:buSzPct val="90000"/>
              <a:buFont typeface="Calibri"/>
              <a:buChar char="»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Computation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4"/>
          <p:cNvSpPr/>
          <p:nvPr/>
        </p:nvSpPr>
        <p:spPr>
          <a:xfrm>
            <a:off x="3040920" y="532440"/>
            <a:ext cx="3061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INTRODUCTION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526320" y="2286000"/>
            <a:ext cx="8090640" cy="18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Cost of floorplanning : 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00"/>
              </a:buClr>
              <a:buSzPct val="95000"/>
              <a:buFont typeface="Cambria"/>
              <a:buChar char="»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 The number of feasible solutions of a floorplanning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00"/>
              </a:buClr>
              <a:buSzPct val="95000"/>
              <a:buFont typeface="Cambria"/>
              <a:buChar char="»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 Measure the quality of floorplans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"/>
          <p:cNvSpPr/>
          <p:nvPr/>
        </p:nvSpPr>
        <p:spPr>
          <a:xfrm>
            <a:off x="3461760" y="532440"/>
            <a:ext cx="22208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OBJECTIVE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1009800" y="2133720"/>
            <a:ext cx="7124400" cy="18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Finding the best solution with minimized  cost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50000"/>
              </a:lnSpc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for floorplanning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50000"/>
              </a:lnSpc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to optimize the performance of the circuits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4"/>
          <p:cNvSpPr/>
          <p:nvPr/>
        </p:nvSpPr>
        <p:spPr>
          <a:xfrm>
            <a:off x="3391920" y="532440"/>
            <a:ext cx="2359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Cost function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1628640" y="2396880"/>
            <a:ext cx="5886000" cy="21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lang="en-US" sz="26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Two most commonly used cost criteria –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428840" lvl="2" indent="-514440" defTabSz="914400">
              <a:lnSpc>
                <a:spcPct val="150000"/>
              </a:lnSpc>
              <a:spcBef>
                <a:spcPts val="1199"/>
              </a:spcBef>
              <a:buClr>
                <a:srgbClr val="FFFF00"/>
              </a:buClr>
              <a:buSzPct val="90000"/>
              <a:buFont typeface="Calibri"/>
              <a:buAutoNum type="arabicPeriod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Minimizing Area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428840" lvl="2" indent="-514440" defTabSz="914400">
              <a:lnSpc>
                <a:spcPts val="2999"/>
              </a:lnSpc>
              <a:buClr>
                <a:srgbClr val="FFFF00"/>
              </a:buClr>
              <a:buSzPct val="90000"/>
              <a:buFont typeface="Calibri"/>
              <a:buAutoNum type="arabicPeriod"/>
            </a:pPr>
            <a:r>
              <a:rPr lang="en-US" sz="2600" b="0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Minimizing total Wirelength      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4"/>
          <p:cNvSpPr/>
          <p:nvPr/>
        </p:nvSpPr>
        <p:spPr>
          <a:xfrm>
            <a:off x="3698640" y="532440"/>
            <a:ext cx="2359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Cost function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380880" y="1676520"/>
            <a:ext cx="8534160" cy="3738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Times New Roman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4"/>
          <p:cNvSpPr/>
          <p:nvPr/>
        </p:nvSpPr>
        <p:spPr>
          <a:xfrm>
            <a:off x="304164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Picture 1"/>
          <p:cNvPicPr/>
          <p:nvPr/>
        </p:nvPicPr>
        <p:blipFill>
          <a:blip r:embed="rId1"/>
          <a:stretch/>
        </p:blipFill>
        <p:spPr>
          <a:xfrm>
            <a:off x="235440" y="1828800"/>
            <a:ext cx="8755560" cy="24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 2"/>
          <p:cNvSpPr/>
          <p:nvPr/>
        </p:nvSpPr>
        <p:spPr>
          <a:xfrm>
            <a:off x="7509240" y="1902600"/>
            <a:ext cx="1447560" cy="2285640"/>
          </a:xfrm>
          <a:prstGeom prst="rect">
            <a:avLst/>
          </a:prstGeom>
          <a:solidFill>
            <a:srgbClr val="FF0000">
              <a:alpha val="21000"/>
            </a:srgbClr>
          </a:solidFill>
          <a:ln w="3810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235440" y="4419720"/>
            <a:ext cx="868644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2500" b="1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Cambria"/>
              </a:rPr>
              <a:t>A ( the minimized area with zero dead space ) : 12H34HV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4"/>
          <p:cNvSpPr/>
          <p:nvPr/>
        </p:nvSpPr>
        <p:spPr>
          <a:xfrm>
            <a:off x="304164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235440" y="1290960"/>
            <a:ext cx="86864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1 : Constructing the corresponding skewed slicing tree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Rectangle 1"/>
          <p:cNvSpPr/>
          <p:nvPr/>
        </p:nvSpPr>
        <p:spPr>
          <a:xfrm>
            <a:off x="453600" y="2736720"/>
            <a:ext cx="2202480" cy="23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Normalized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Polish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Expression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500"/>
              </a:lnSpc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12H34H5HV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1" name="Straight Connector 5"/>
          <p:cNvCxnSpPr/>
          <p:nvPr/>
        </p:nvCxnSpPr>
        <p:spPr>
          <a:xfrm>
            <a:off x="460440" y="4419360"/>
            <a:ext cx="175284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82" name="Right Arrow 8"/>
          <p:cNvSpPr/>
          <p:nvPr/>
        </p:nvSpPr>
        <p:spPr>
          <a:xfrm>
            <a:off x="2930040" y="3657600"/>
            <a:ext cx="1142640" cy="380520"/>
          </a:xfrm>
          <a:prstGeom prst="rightArrow">
            <a:avLst>
              <a:gd name="adj1" fmla="val 50000"/>
              <a:gd name="adj2" fmla="val 50000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3" name="Group 32"/>
          <p:cNvGrpSpPr/>
          <p:nvPr/>
        </p:nvGrpSpPr>
        <p:grpSpPr>
          <a:xfrm>
            <a:off x="4180320" y="2310120"/>
            <a:ext cx="4709520" cy="4179240"/>
            <a:chOff x="4180320" y="2310120"/>
            <a:chExt cx="4709520" cy="4179240"/>
          </a:xfrm>
        </p:grpSpPr>
        <p:sp>
          <p:nvSpPr>
            <p:cNvPr id="84" name="TextBox 2"/>
            <p:cNvSpPr/>
            <p:nvPr/>
          </p:nvSpPr>
          <p:spPr>
            <a:xfrm>
              <a:off x="4180320" y="2310120"/>
              <a:ext cx="4709520" cy="41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            </a:t>
              </a: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V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  <a:spcBef>
                  <a:spcPts val="1800"/>
                </a:spcBef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H                               H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ts val="3501"/>
                </a:lnSpc>
              </a:pP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1            2                    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        H                       5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3                 4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cxnSp>
          <p:nvCxnSpPr>
            <p:cNvPr id="85" name="Straight Arrow Connector 10"/>
            <p:cNvCxnSpPr/>
            <p:nvPr/>
          </p:nvCxnSpPr>
          <p:spPr>
            <a:xfrm flipH="1">
              <a:off x="5116680" y="2760840"/>
              <a:ext cx="914760" cy="68616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86" name="Straight Arrow Connector 12"/>
            <p:cNvCxnSpPr/>
            <p:nvPr/>
          </p:nvCxnSpPr>
          <p:spPr>
            <a:xfrm>
              <a:off x="6336000" y="2760840"/>
              <a:ext cx="1067040" cy="68616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87" name="Straight Arrow Connector 18"/>
            <p:cNvCxnSpPr/>
            <p:nvPr/>
          </p:nvCxnSpPr>
          <p:spPr>
            <a:xfrm flipH="1">
              <a:off x="4356720" y="3865680"/>
              <a:ext cx="457560" cy="80028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88" name="Straight Arrow Connector 20"/>
            <p:cNvCxnSpPr/>
            <p:nvPr/>
          </p:nvCxnSpPr>
          <p:spPr>
            <a:xfrm>
              <a:off x="5040360" y="3865680"/>
              <a:ext cx="381600" cy="80028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89" name="Straight Arrow Connector 22"/>
            <p:cNvCxnSpPr/>
            <p:nvPr/>
          </p:nvCxnSpPr>
          <p:spPr>
            <a:xfrm>
              <a:off x="6855480" y="5580000"/>
              <a:ext cx="547560" cy="45756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90" name="Straight Arrow Connector 23"/>
            <p:cNvCxnSpPr/>
            <p:nvPr/>
          </p:nvCxnSpPr>
          <p:spPr>
            <a:xfrm>
              <a:off x="7707600" y="3922920"/>
              <a:ext cx="914760" cy="120024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91" name="Straight Arrow Connector 25"/>
            <p:cNvCxnSpPr/>
            <p:nvPr/>
          </p:nvCxnSpPr>
          <p:spPr>
            <a:xfrm flipH="1">
              <a:off x="6716880" y="3922920"/>
              <a:ext cx="762480" cy="120024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92" name="Straight Arrow Connector 26"/>
            <p:cNvCxnSpPr/>
            <p:nvPr/>
          </p:nvCxnSpPr>
          <p:spPr>
            <a:xfrm flipH="1">
              <a:off x="6031080" y="5580000"/>
              <a:ext cx="487440" cy="45756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228600" y="1147320"/>
            <a:ext cx="868644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2 : Placing the dimensions of the modules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from given information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5" name="Table 9"/>
          <p:cNvGraphicFramePr/>
          <p:nvPr/>
        </p:nvGraphicFramePr>
        <p:xfrm>
          <a:off x="4121640" y="2286000"/>
          <a:ext cx="4488480" cy="2837880"/>
        </p:xfrm>
        <a:graphic>
          <a:graphicData uri="http://schemas.openxmlformats.org/drawingml/2006/table">
            <a:tbl>
              <a:tblPr/>
              <a:tblGrid>
                <a:gridCol w="1496160"/>
                <a:gridCol w="1496160"/>
                <a:gridCol w="1496160"/>
              </a:tblGrid>
              <a:tr h="228600"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Dimensions of the modules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Module No.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 Width ( w 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Height ( h 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6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522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5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6" name="Group 17"/>
          <p:cNvGrpSpPr/>
          <p:nvPr/>
        </p:nvGrpSpPr>
        <p:grpSpPr>
          <a:xfrm>
            <a:off x="486720" y="2291040"/>
            <a:ext cx="2980440" cy="3233160"/>
            <a:chOff x="486720" y="2291040"/>
            <a:chExt cx="2980440" cy="3233160"/>
          </a:xfrm>
        </p:grpSpPr>
        <p:grpSp>
          <p:nvGrpSpPr>
            <p:cNvPr id="97" name="Group 15"/>
            <p:cNvGrpSpPr/>
            <p:nvPr/>
          </p:nvGrpSpPr>
          <p:grpSpPr>
            <a:xfrm>
              <a:off x="924480" y="2756880"/>
              <a:ext cx="2378160" cy="2262240"/>
              <a:chOff x="924480" y="2756880"/>
              <a:chExt cx="2378160" cy="2262240"/>
            </a:xfrm>
          </p:grpSpPr>
          <p:sp>
            <p:nvSpPr>
              <p:cNvPr id="98" name="Rectangle 11"/>
              <p:cNvSpPr/>
              <p:nvPr/>
            </p:nvSpPr>
            <p:spPr>
              <a:xfrm>
                <a:off x="924480" y="3888000"/>
                <a:ext cx="768960" cy="1130760"/>
              </a:xfrm>
              <a:prstGeom prst="rect">
                <a:avLst/>
              </a:prstGeom>
              <a:noFill/>
              <a:ln>
                <a:solidFill>
                  <a:srgbClr val="F79646">
                    <a:lumMod val="40000"/>
                    <a:lumOff val="60000"/>
                  </a:srgbClr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99" name="Straight Arrow Connector 14"/>
              <p:cNvCxnSpPr/>
              <p:nvPr/>
            </p:nvCxnSpPr>
            <p:spPr>
              <a:xfrm>
                <a:off x="924480" y="5019120"/>
                <a:ext cx="2378520" cy="360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round/>
                <a:tailEnd len="med" type="arrow" w="med"/>
              </a:ln>
            </p:spPr>
          </p:cxnSp>
          <p:cxnSp>
            <p:nvCxnSpPr>
              <p:cNvPr id="100" name="Straight Arrow Connector 21"/>
              <p:cNvCxnSpPr/>
              <p:nvPr/>
            </p:nvCxnSpPr>
            <p:spPr>
              <a:xfrm flipV="1">
                <a:off x="924480" y="2756880"/>
                <a:ext cx="360" cy="2262600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round/>
                <a:tailEnd len="med" type="arrow" w="med"/>
              </a:ln>
            </p:spPr>
          </p:cxnSp>
        </p:grpSp>
        <p:sp>
          <p:nvSpPr>
            <p:cNvPr id="101" name="TextBox 16"/>
            <p:cNvSpPr/>
            <p:nvPr/>
          </p:nvSpPr>
          <p:spPr>
            <a:xfrm>
              <a:off x="2526120" y="5068800"/>
              <a:ext cx="941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width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" name="TextBox 24"/>
            <p:cNvSpPr/>
            <p:nvPr/>
          </p:nvSpPr>
          <p:spPr>
            <a:xfrm>
              <a:off x="486720" y="2291040"/>
              <a:ext cx="10015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height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3" name="TextBox 27"/>
          <p:cNvSpPr/>
          <p:nvPr/>
        </p:nvSpPr>
        <p:spPr>
          <a:xfrm>
            <a:off x="2022120" y="5519160"/>
            <a:ext cx="4637520" cy="47124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Dimension of a module : ( w , h 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" dur="indefinite" restart="never" nodeType="tmRoot">
          <p:childTnLst>
            <p:seq>
              <p:cTn id="35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228600" y="1147320"/>
            <a:ext cx="868644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2 : Placing the dimensions of the modules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from given information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"/>
          <p:cNvSpPr/>
          <p:nvPr/>
        </p:nvSpPr>
        <p:spPr>
          <a:xfrm>
            <a:off x="263160" y="2094120"/>
            <a:ext cx="4096080" cy="13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One thing to notice –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Module rotation is allowed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Two types implementation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7" name="Group 3"/>
          <p:cNvGrpSpPr/>
          <p:nvPr/>
        </p:nvGrpSpPr>
        <p:grpSpPr>
          <a:xfrm>
            <a:off x="6068160" y="1747440"/>
            <a:ext cx="2846880" cy="2470680"/>
            <a:chOff x="6068160" y="1747440"/>
            <a:chExt cx="2846880" cy="2470680"/>
          </a:xfrm>
        </p:grpSpPr>
        <p:grpSp>
          <p:nvGrpSpPr>
            <p:cNvPr id="108" name="Group 17"/>
            <p:cNvGrpSpPr/>
            <p:nvPr/>
          </p:nvGrpSpPr>
          <p:grpSpPr>
            <a:xfrm>
              <a:off x="6628320" y="1747440"/>
              <a:ext cx="2286720" cy="2470680"/>
              <a:chOff x="6628320" y="1747440"/>
              <a:chExt cx="2286720" cy="2470680"/>
            </a:xfrm>
          </p:grpSpPr>
          <p:grpSp>
            <p:nvGrpSpPr>
              <p:cNvPr id="109" name="Group 15"/>
              <p:cNvGrpSpPr/>
              <p:nvPr/>
            </p:nvGrpSpPr>
            <p:grpSpPr>
              <a:xfrm>
                <a:off x="6921720" y="2208960"/>
                <a:ext cx="1594080" cy="1519560"/>
                <a:chOff x="6921720" y="2208960"/>
                <a:chExt cx="1594080" cy="1519560"/>
              </a:xfrm>
            </p:grpSpPr>
            <p:sp>
              <p:nvSpPr>
                <p:cNvPr id="110" name="Rectangle 11"/>
                <p:cNvSpPr/>
                <p:nvPr/>
              </p:nvSpPr>
              <p:spPr>
                <a:xfrm>
                  <a:off x="6922080" y="2675880"/>
                  <a:ext cx="621360" cy="1052640"/>
                </a:xfrm>
                <a:prstGeom prst="rect">
                  <a:avLst/>
                </a:prstGeom>
                <a:noFill/>
                <a:ln>
                  <a:solidFill>
                    <a:srgbClr val="F79646">
                      <a:lumMod val="40000"/>
                      <a:lumOff val="60000"/>
                    </a:srgbClr>
                  </a:solidFill>
                  <a:prstDash val="dash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cxnSp>
              <p:nvCxnSpPr>
                <p:cNvPr id="111" name="Straight Arrow Connector 14"/>
                <p:cNvCxnSpPr/>
                <p:nvPr/>
              </p:nvCxnSpPr>
              <p:spPr>
                <a:xfrm>
                  <a:off x="6921720" y="3728520"/>
                  <a:ext cx="1594440" cy="360"/>
                </a:xfrm>
                <a:prstGeom prst="straightConnector1">
                  <a:avLst/>
                </a:prstGeom>
                <a:ln w="38100">
                  <a:solidFill>
                    <a:srgbClr val="FFFF00"/>
                  </a:solidFill>
                  <a:round/>
                  <a:tailEnd len="med" type="arrow" w="med"/>
                </a:ln>
              </p:spPr>
            </p:cxnSp>
            <p:cxnSp>
              <p:nvCxnSpPr>
                <p:cNvPr id="112" name="Straight Arrow Connector 21"/>
                <p:cNvCxnSpPr/>
                <p:nvPr/>
              </p:nvCxnSpPr>
              <p:spPr>
                <a:xfrm flipV="1">
                  <a:off x="6921720" y="2208960"/>
                  <a:ext cx="360" cy="1519920"/>
                </a:xfrm>
                <a:prstGeom prst="straightConnector1">
                  <a:avLst/>
                </a:prstGeom>
                <a:ln w="38100">
                  <a:solidFill>
                    <a:srgbClr val="FFFF00"/>
                  </a:solidFill>
                  <a:round/>
                  <a:tailEnd len="med" type="arrow" w="med"/>
                </a:ln>
              </p:spPr>
            </p:cxnSp>
          </p:grpSp>
          <p:sp>
            <p:nvSpPr>
              <p:cNvPr id="113" name="TextBox 16"/>
              <p:cNvSpPr/>
              <p:nvPr/>
            </p:nvSpPr>
            <p:spPr>
              <a:xfrm>
                <a:off x="7315200" y="3762000"/>
                <a:ext cx="159984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400" b="0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Width ( 4 )</a:t>
                </a:r>
                <a:endParaRPr lang="en-US" sz="24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4" name="TextBox 24"/>
              <p:cNvSpPr/>
              <p:nvPr/>
            </p:nvSpPr>
            <p:spPr>
              <a:xfrm>
                <a:off x="6628320" y="1747440"/>
                <a:ext cx="188712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400" b="0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Height ( 6 ) </a:t>
                </a:r>
                <a:endParaRPr lang="en-US" sz="24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15" name="TextBox 2"/>
            <p:cNvSpPr/>
            <p:nvPr/>
          </p:nvSpPr>
          <p:spPr>
            <a:xfrm>
              <a:off x="6068160" y="2730240"/>
              <a:ext cx="717120" cy="47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500" b="0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( a )</a:t>
              </a:r>
              <a:endParaRPr lang="en-US" sz="25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16" name="Group 18"/>
          <p:cNvGrpSpPr/>
          <p:nvPr/>
        </p:nvGrpSpPr>
        <p:grpSpPr>
          <a:xfrm>
            <a:off x="6144480" y="4192920"/>
            <a:ext cx="2846880" cy="2470680"/>
            <a:chOff x="6144480" y="4192920"/>
            <a:chExt cx="2846880" cy="2470680"/>
          </a:xfrm>
        </p:grpSpPr>
        <p:grpSp>
          <p:nvGrpSpPr>
            <p:cNvPr id="117" name="Group 19"/>
            <p:cNvGrpSpPr/>
            <p:nvPr/>
          </p:nvGrpSpPr>
          <p:grpSpPr>
            <a:xfrm>
              <a:off x="6704640" y="4192920"/>
              <a:ext cx="2286720" cy="2470680"/>
              <a:chOff x="6704640" y="4192920"/>
              <a:chExt cx="2286720" cy="2470680"/>
            </a:xfrm>
          </p:grpSpPr>
          <p:grpSp>
            <p:nvGrpSpPr>
              <p:cNvPr id="118" name="Group 22"/>
              <p:cNvGrpSpPr/>
              <p:nvPr/>
            </p:nvGrpSpPr>
            <p:grpSpPr>
              <a:xfrm>
                <a:off x="6998040" y="4654440"/>
                <a:ext cx="1594080" cy="1519560"/>
                <a:chOff x="6998040" y="4654440"/>
                <a:chExt cx="1594080" cy="1519560"/>
              </a:xfrm>
            </p:grpSpPr>
            <p:sp>
              <p:nvSpPr>
                <p:cNvPr id="119" name="Rectangle 26"/>
                <p:cNvSpPr/>
                <p:nvPr/>
              </p:nvSpPr>
              <p:spPr>
                <a:xfrm rot="5400000">
                  <a:off x="7214400" y="5336640"/>
                  <a:ext cx="621360" cy="1052640"/>
                </a:xfrm>
                <a:prstGeom prst="rect">
                  <a:avLst/>
                </a:prstGeom>
                <a:noFill/>
                <a:ln>
                  <a:solidFill>
                    <a:srgbClr val="F79646">
                      <a:lumMod val="40000"/>
                      <a:lumOff val="60000"/>
                    </a:srgbClr>
                  </a:solidFill>
                  <a:prstDash val="dash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cxnSp>
              <p:nvCxnSpPr>
                <p:cNvPr id="120" name="Straight Arrow Connector 28"/>
                <p:cNvCxnSpPr/>
                <p:nvPr/>
              </p:nvCxnSpPr>
              <p:spPr>
                <a:xfrm>
                  <a:off x="6998040" y="6174000"/>
                  <a:ext cx="1594440" cy="360"/>
                </a:xfrm>
                <a:prstGeom prst="straightConnector1">
                  <a:avLst/>
                </a:prstGeom>
                <a:ln w="38100">
                  <a:solidFill>
                    <a:srgbClr val="FFFF00"/>
                  </a:solidFill>
                  <a:round/>
                  <a:tailEnd len="med" type="arrow" w="med"/>
                </a:ln>
              </p:spPr>
            </p:cxnSp>
            <p:cxnSp>
              <p:nvCxnSpPr>
                <p:cNvPr id="121" name="Straight Arrow Connector 29"/>
                <p:cNvCxnSpPr/>
                <p:nvPr/>
              </p:nvCxnSpPr>
              <p:spPr>
                <a:xfrm flipV="1">
                  <a:off x="6998040" y="4654440"/>
                  <a:ext cx="360" cy="1519920"/>
                </a:xfrm>
                <a:prstGeom prst="straightConnector1">
                  <a:avLst/>
                </a:prstGeom>
                <a:ln w="38100">
                  <a:solidFill>
                    <a:srgbClr val="FFFF00"/>
                  </a:solidFill>
                  <a:round/>
                  <a:tailEnd len="med" type="arrow" w="med"/>
                </a:ln>
              </p:spPr>
            </p:cxnSp>
          </p:grpSp>
          <p:sp>
            <p:nvSpPr>
              <p:cNvPr id="122" name="TextBox 23"/>
              <p:cNvSpPr/>
              <p:nvPr/>
            </p:nvSpPr>
            <p:spPr>
              <a:xfrm>
                <a:off x="7391520" y="6207480"/>
                <a:ext cx="159984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400" b="0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Width ( 6 )</a:t>
                </a:r>
                <a:endParaRPr lang="en-US" sz="24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3" name="TextBox 25"/>
              <p:cNvSpPr/>
              <p:nvPr/>
            </p:nvSpPr>
            <p:spPr>
              <a:xfrm>
                <a:off x="6704640" y="4192920"/>
                <a:ext cx="188712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400" b="0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Height ( 4 ) </a:t>
                </a:r>
                <a:endParaRPr lang="en-US" sz="24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24" name="TextBox 20"/>
            <p:cNvSpPr/>
            <p:nvPr/>
          </p:nvSpPr>
          <p:spPr>
            <a:xfrm>
              <a:off x="6144480" y="5175720"/>
              <a:ext cx="735840" cy="47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500" b="0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( b )</a:t>
              </a:r>
              <a:endParaRPr lang="en-US" sz="25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5" name="TextBox 49"/>
          <p:cNvSpPr/>
          <p:nvPr/>
        </p:nvSpPr>
        <p:spPr>
          <a:xfrm>
            <a:off x="366120" y="3509640"/>
            <a:ext cx="5265000" cy="13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For example :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( a ) from given table –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        Dimension of module 1 : ( 4 , 6 )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Box 50"/>
          <p:cNvSpPr/>
          <p:nvPr/>
        </p:nvSpPr>
        <p:spPr>
          <a:xfrm>
            <a:off x="366120" y="5016960"/>
            <a:ext cx="526500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( b ) by rotating –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        Dimension of module 1 : ( 6 , 4 )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       ( </a:t>
            </a: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width = height = 6 ; height = width = 4 )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" dur="indefinite" restart="never" nodeType="tmRoot">
          <p:childTnLst>
            <p:seq>
              <p:cTn id="47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8" name="Group 30"/>
          <p:cNvGrpSpPr/>
          <p:nvPr/>
        </p:nvGrpSpPr>
        <p:grpSpPr>
          <a:xfrm>
            <a:off x="1212480" y="1351080"/>
            <a:ext cx="6428160" cy="4407840"/>
            <a:chOff x="1212480" y="1351080"/>
            <a:chExt cx="6428160" cy="4407840"/>
          </a:xfrm>
        </p:grpSpPr>
        <p:sp>
          <p:nvSpPr>
            <p:cNvPr id="129" name="TextBox 31"/>
            <p:cNvSpPr/>
            <p:nvPr/>
          </p:nvSpPr>
          <p:spPr>
            <a:xfrm>
              <a:off x="1212480" y="1351080"/>
              <a:ext cx="6428160" cy="440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                             </a:t>
              </a: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V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  <a:spcBef>
                  <a:spcPts val="1800"/>
                </a:spcBef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H                                               H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ts val="3501"/>
                </a:lnSpc>
              </a:pP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1                  2                    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ts val="18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                              H                       5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                                        3                      4</a:t>
              </a:r>
              <a:endParaRPr lang="en-US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cxnSp>
          <p:nvCxnSpPr>
            <p:cNvPr id="130" name="Straight Arrow Connector 32"/>
            <p:cNvCxnSpPr/>
            <p:nvPr/>
          </p:nvCxnSpPr>
          <p:spPr>
            <a:xfrm flipH="1">
              <a:off x="2598120" y="1842120"/>
              <a:ext cx="1353600" cy="74772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1" name="Straight Arrow Connector 33"/>
            <p:cNvCxnSpPr/>
            <p:nvPr/>
          </p:nvCxnSpPr>
          <p:spPr>
            <a:xfrm>
              <a:off x="4402440" y="1842120"/>
              <a:ext cx="1578960" cy="74772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2" name="Straight Arrow Connector 34"/>
            <p:cNvCxnSpPr/>
            <p:nvPr/>
          </p:nvCxnSpPr>
          <p:spPr>
            <a:xfrm flipH="1">
              <a:off x="1599840" y="3045960"/>
              <a:ext cx="550800" cy="71676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3" name="Straight Arrow Connector 35"/>
            <p:cNvCxnSpPr/>
            <p:nvPr/>
          </p:nvCxnSpPr>
          <p:spPr>
            <a:xfrm>
              <a:off x="2485440" y="3045960"/>
              <a:ext cx="486360" cy="71676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4" name="Straight Arrow Connector 36"/>
            <p:cNvCxnSpPr/>
            <p:nvPr/>
          </p:nvCxnSpPr>
          <p:spPr>
            <a:xfrm>
              <a:off x="5497560" y="4621680"/>
              <a:ext cx="810000" cy="49860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5" name="Straight Arrow Connector 37"/>
            <p:cNvCxnSpPr/>
            <p:nvPr/>
          </p:nvCxnSpPr>
          <p:spPr>
            <a:xfrm>
              <a:off x="6432120" y="3108240"/>
              <a:ext cx="959400" cy="93564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6" name="Straight Arrow Connector 38"/>
            <p:cNvCxnSpPr/>
            <p:nvPr/>
          </p:nvCxnSpPr>
          <p:spPr>
            <a:xfrm flipH="1">
              <a:off x="5333760" y="3108240"/>
              <a:ext cx="760320" cy="83880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  <p:cxnSp>
          <p:nvCxnSpPr>
            <p:cNvPr id="137" name="Straight Arrow Connector 39"/>
            <p:cNvCxnSpPr/>
            <p:nvPr/>
          </p:nvCxnSpPr>
          <p:spPr>
            <a:xfrm flipH="1">
              <a:off x="4572000" y="4621680"/>
              <a:ext cx="720720" cy="498600"/>
            </a:xfrm>
            <a:prstGeom prst="straightConnector1">
              <a:avLst/>
            </a:prstGeom>
            <a:ln w="28575">
              <a:solidFill>
                <a:srgbClr val="FFFF05"/>
              </a:solidFill>
              <a:round/>
              <a:tailEnd len="med" type="arrow" w="med"/>
            </a:ln>
          </p:spPr>
        </p:cxnSp>
      </p:grpSp>
      <p:sp>
        <p:nvSpPr>
          <p:cNvPr id="138" name="TextBox 40"/>
          <p:cNvSpPr/>
          <p:nvPr/>
        </p:nvSpPr>
        <p:spPr>
          <a:xfrm>
            <a:off x="6086880" y="1086480"/>
            <a:ext cx="296136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2 : Placing the dimensions of the modules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Box 44"/>
          <p:cNvSpPr/>
          <p:nvPr/>
        </p:nvSpPr>
        <p:spPr>
          <a:xfrm>
            <a:off x="2664360" y="426132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4 )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TextBox 45"/>
          <p:cNvSpPr/>
          <p:nvPr/>
        </p:nvSpPr>
        <p:spPr>
          <a:xfrm>
            <a:off x="4061520" y="617724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3 )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TextBox 46"/>
          <p:cNvSpPr/>
          <p:nvPr/>
        </p:nvSpPr>
        <p:spPr>
          <a:xfrm>
            <a:off x="4050360" y="565236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( 3 , 4 )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Box 47"/>
          <p:cNvSpPr/>
          <p:nvPr/>
        </p:nvSpPr>
        <p:spPr>
          <a:xfrm>
            <a:off x="5902560" y="58006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4 )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Rectangle 51"/>
          <p:cNvSpPr/>
          <p:nvPr/>
        </p:nvSpPr>
        <p:spPr>
          <a:xfrm>
            <a:off x="7959600" y="3918240"/>
            <a:ext cx="533160" cy="9446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Rectangle 52"/>
          <p:cNvSpPr/>
          <p:nvPr/>
        </p:nvSpPr>
        <p:spPr>
          <a:xfrm>
            <a:off x="7961760" y="4916880"/>
            <a:ext cx="944640" cy="533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Box 53"/>
          <p:cNvSpPr/>
          <p:nvPr/>
        </p:nvSpPr>
        <p:spPr>
          <a:xfrm>
            <a:off x="6779520" y="500400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3 )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TextBox 54"/>
          <p:cNvSpPr/>
          <p:nvPr/>
        </p:nvSpPr>
        <p:spPr>
          <a:xfrm>
            <a:off x="6779520" y="44848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( 3 , 4 )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Box 55"/>
          <p:cNvSpPr/>
          <p:nvPr/>
        </p:nvSpPr>
        <p:spPr>
          <a:xfrm>
            <a:off x="1136160" y="4284720"/>
            <a:ext cx="101376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6 )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Box 56"/>
          <p:cNvSpPr/>
          <p:nvPr/>
        </p:nvSpPr>
        <p:spPr>
          <a:xfrm>
            <a:off x="1310040" y="488232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(6 , 4 )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Rectangle 10"/>
          <p:cNvSpPr/>
          <p:nvPr/>
        </p:nvSpPr>
        <p:spPr>
          <a:xfrm>
            <a:off x="570960" y="3739680"/>
            <a:ext cx="533160" cy="9446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Rectangle 12"/>
          <p:cNvSpPr/>
          <p:nvPr/>
        </p:nvSpPr>
        <p:spPr>
          <a:xfrm>
            <a:off x="294840" y="4748760"/>
            <a:ext cx="944640" cy="533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Rectangle 49"/>
          <p:cNvSpPr/>
          <p:nvPr/>
        </p:nvSpPr>
        <p:spPr>
          <a:xfrm>
            <a:off x="3349080" y="5044320"/>
            <a:ext cx="533160" cy="9446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ectangle 50"/>
          <p:cNvSpPr/>
          <p:nvPr/>
        </p:nvSpPr>
        <p:spPr>
          <a:xfrm>
            <a:off x="2937240" y="6052680"/>
            <a:ext cx="944640" cy="533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Rectangle 57"/>
          <p:cNvSpPr/>
          <p:nvPr/>
        </p:nvSpPr>
        <p:spPr>
          <a:xfrm>
            <a:off x="3254040" y="3651840"/>
            <a:ext cx="530640" cy="533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Rectangle 58"/>
          <p:cNvSpPr/>
          <p:nvPr/>
        </p:nvSpPr>
        <p:spPr>
          <a:xfrm>
            <a:off x="5740560" y="5249880"/>
            <a:ext cx="530640" cy="533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" dur="indefinite" restart="never" nodeType="tmRoot">
          <p:childTnLst>
            <p:seq>
              <p:cTn id="65" dur="indefinite" nodeType="mainSeq">
                <p:childTnLst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228600" y="1147320"/>
            <a:ext cx="8686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 dimension based on the slicing tree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TextBox 1"/>
          <p:cNvSpPr/>
          <p:nvPr/>
        </p:nvSpPr>
        <p:spPr>
          <a:xfrm>
            <a:off x="958680" y="2299680"/>
            <a:ext cx="7258680" cy="25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Let , left module = 1 , right module = 2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  <a:spcBef>
                <a:spcPts val="1800"/>
              </a:spcBef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For </a:t>
            </a:r>
            <a:r>
              <a:rPr lang="en-US" sz="25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HORIZONTAL</a:t>
            </a: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cut :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Dimension of a module = </a:t>
            </a:r>
            <a:r>
              <a:rPr lang="en-US" sz="25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( max ( w1 , w2 ) , h1+h2 )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  <a:spcBef>
                <a:spcPts val="1800"/>
              </a:spcBef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For </a:t>
            </a:r>
            <a:r>
              <a:rPr lang="en-US" sz="2500" b="0" u="none" strike="noStrike">
                <a:solidFill>
                  <a:srgbClr val="00FFFF"/>
                </a:solidFill>
                <a:effectLst/>
                <a:uFillTx/>
                <a:latin typeface="Times New Roman"/>
                <a:ea typeface="Cambria"/>
              </a:rPr>
              <a:t>VERTICAL</a:t>
            </a:r>
            <a:r>
              <a:rPr lang="en-US" sz="2500" b="0" u="none" strike="noStrike">
                <a:solidFill>
                  <a:srgbClr val="FF33CC"/>
                </a:solidFill>
                <a:effectLst/>
                <a:uFillTx/>
                <a:latin typeface="Times New Roman"/>
                <a:ea typeface="Cambria"/>
              </a:rPr>
              <a:t> </a:t>
            </a: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cut :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Dimension of a module = </a:t>
            </a:r>
            <a:r>
              <a:rPr lang="en-US" sz="2500" b="0" u="none" strike="noStrike">
                <a:solidFill>
                  <a:srgbClr val="00FFFF"/>
                </a:solidFill>
                <a:effectLst/>
                <a:uFillTx/>
                <a:latin typeface="Times New Roman"/>
                <a:ea typeface="Cambria"/>
              </a:rPr>
              <a:t>( w1+w2 , max ( h1 , h2 ) )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0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161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162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163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64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65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66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67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68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69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70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171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3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6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9" name="Rectangle 1"/>
          <p:cNvSpPr/>
          <p:nvPr/>
        </p:nvSpPr>
        <p:spPr>
          <a:xfrm>
            <a:off x="132120" y="1071360"/>
            <a:ext cx="47062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H = ( max ( w1 , w2 ) , h1+h2 )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34H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(1) Dimension of module 3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3 , h1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4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 Dimension1 of module 34H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( 4 , 8 )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1" name="Group 8"/>
          <p:cNvGrpSpPr/>
          <p:nvPr/>
        </p:nvGrpSpPr>
        <p:grpSpPr>
          <a:xfrm>
            <a:off x="3898800" y="2049840"/>
            <a:ext cx="825480" cy="1316520"/>
            <a:chOff x="3898800" y="2049840"/>
            <a:chExt cx="825480" cy="1316520"/>
          </a:xfrm>
        </p:grpSpPr>
        <p:sp>
          <p:nvSpPr>
            <p:cNvPr id="182" name="Rectangle 42"/>
            <p:cNvSpPr/>
            <p:nvPr/>
          </p:nvSpPr>
          <p:spPr>
            <a:xfrm>
              <a:off x="3898800" y="2067120"/>
              <a:ext cx="825480" cy="12992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3" name="Rectangle 7"/>
            <p:cNvSpPr/>
            <p:nvPr/>
          </p:nvSpPr>
          <p:spPr>
            <a:xfrm>
              <a:off x="3898800" y="2700720"/>
              <a:ext cx="716760" cy="66564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dk1"/>
                  </a:solidFill>
                  <a:effectLst/>
                  <a:uFillTx/>
                  <a:latin typeface="Cambria"/>
                  <a:ea typeface="Cambria"/>
                </a:rPr>
                <a:t>3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Rectangle 41"/>
            <p:cNvSpPr/>
            <p:nvPr/>
          </p:nvSpPr>
          <p:spPr>
            <a:xfrm>
              <a:off x="3898800" y="2049840"/>
              <a:ext cx="825480" cy="6505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4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" dur="indefinite" restart="never" nodeType="tmRoot">
          <p:childTnLst>
            <p:seq>
              <p:cTn id="119" dur="indefinite" nodeType="mainSeq">
                <p:childTnLst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7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188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189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190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1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2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3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4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5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6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197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198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9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0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1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2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3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5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6" name="Rectangle 1"/>
          <p:cNvSpPr/>
          <p:nvPr/>
        </p:nvSpPr>
        <p:spPr>
          <a:xfrm>
            <a:off x="132120" y="1071360"/>
            <a:ext cx="47062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H = ( max ( w1 , w2 ) , h1+h2 )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34H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(2) Dimension of module 3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4 , h1 = 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4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 Dimension2 of module 34H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08" name="Group 24"/>
          <p:cNvGrpSpPr/>
          <p:nvPr/>
        </p:nvGrpSpPr>
        <p:grpSpPr>
          <a:xfrm>
            <a:off x="3898800" y="2049840"/>
            <a:ext cx="825480" cy="1316520"/>
            <a:chOff x="3898800" y="2049840"/>
            <a:chExt cx="825480" cy="1316520"/>
          </a:xfrm>
        </p:grpSpPr>
        <p:sp>
          <p:nvSpPr>
            <p:cNvPr id="209" name="Rectangle 25"/>
            <p:cNvSpPr/>
            <p:nvPr/>
          </p:nvSpPr>
          <p:spPr>
            <a:xfrm>
              <a:off x="3898800" y="2067120"/>
              <a:ext cx="825480" cy="12992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0" name="Rectangle 26"/>
            <p:cNvSpPr/>
            <p:nvPr/>
          </p:nvSpPr>
          <p:spPr>
            <a:xfrm>
              <a:off x="3898800" y="2700720"/>
              <a:ext cx="825480" cy="66564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dk1"/>
                  </a:solidFill>
                  <a:effectLst/>
                  <a:uFillTx/>
                  <a:latin typeface="Cambria"/>
                  <a:ea typeface="Cambria"/>
                </a:rPr>
                <a:t>3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1" name="Rectangle 27"/>
            <p:cNvSpPr/>
            <p:nvPr/>
          </p:nvSpPr>
          <p:spPr>
            <a:xfrm>
              <a:off x="3898800" y="2049840"/>
              <a:ext cx="825480" cy="6505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4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4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215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216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217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18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19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20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21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22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23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24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225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6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7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9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0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1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2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33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Rectangle 26"/>
          <p:cNvSpPr/>
          <p:nvPr/>
        </p:nvSpPr>
        <p:spPr>
          <a:xfrm>
            <a:off x="132120" y="1032840"/>
            <a:ext cx="50482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H = ( max ( w1 , w2 ) , h1+h2 )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34H5H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(1) Dimension of module 34H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4 , h1 = 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4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3 , h2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/>
              <a:buChar char="\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Dimension1 of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module 34H5H : ( 4 , 11 )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37" name="Group 3"/>
          <p:cNvGrpSpPr/>
          <p:nvPr/>
        </p:nvGrpSpPr>
        <p:grpSpPr>
          <a:xfrm>
            <a:off x="4106520" y="1882800"/>
            <a:ext cx="825480" cy="1917360"/>
            <a:chOff x="4106520" y="1882800"/>
            <a:chExt cx="825480" cy="1917360"/>
          </a:xfrm>
        </p:grpSpPr>
        <p:grpSp>
          <p:nvGrpSpPr>
            <p:cNvPr id="238" name="Group 27"/>
            <p:cNvGrpSpPr/>
            <p:nvPr/>
          </p:nvGrpSpPr>
          <p:grpSpPr>
            <a:xfrm>
              <a:off x="4106520" y="1882800"/>
              <a:ext cx="825480" cy="1644480"/>
              <a:chOff x="4106520" y="1882800"/>
              <a:chExt cx="825480" cy="1644480"/>
            </a:xfrm>
          </p:grpSpPr>
          <p:sp>
            <p:nvSpPr>
              <p:cNvPr id="239" name="Rectangle 28"/>
              <p:cNvSpPr/>
              <p:nvPr/>
            </p:nvSpPr>
            <p:spPr>
              <a:xfrm>
                <a:off x="4106520" y="1882800"/>
                <a:ext cx="825480" cy="164448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0" name="Rectangle 29"/>
              <p:cNvSpPr/>
              <p:nvPr/>
            </p:nvSpPr>
            <p:spPr>
              <a:xfrm>
                <a:off x="4106520" y="1882800"/>
                <a:ext cx="716760" cy="61524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dk1"/>
                    </a:solidFill>
                    <a:effectLst/>
                    <a:uFillTx/>
                    <a:latin typeface="Cambria"/>
                    <a:ea typeface="Cambria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1" name="Rectangle 41"/>
              <p:cNvSpPr/>
              <p:nvPr/>
            </p:nvSpPr>
            <p:spPr>
              <a:xfrm>
                <a:off x="4106520" y="2498760"/>
                <a:ext cx="825480" cy="65052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4</a:t>
                </a:r>
                <a:endParaRPr lang="en-US" sz="20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42" name="Rectangle 42"/>
            <p:cNvSpPr/>
            <p:nvPr/>
          </p:nvSpPr>
          <p:spPr>
            <a:xfrm>
              <a:off x="4106520" y="3149640"/>
              <a:ext cx="825480" cy="65052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dk1"/>
                  </a:solidFill>
                  <a:effectLst/>
                  <a:uFillTx/>
                  <a:latin typeface="Cambria"/>
                  <a:ea typeface="Cambria"/>
                </a:rPr>
                <a:t>3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4" dur="indefinite" restart="never" nodeType="tmRoot">
          <p:childTnLst>
            <p:seq>
              <p:cTn id="145" dur="indefinite" nodeType="mainSeq"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45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246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247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248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49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50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51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52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53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54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55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256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7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0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1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2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3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4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Rectangle 27"/>
          <p:cNvSpPr/>
          <p:nvPr/>
        </p:nvSpPr>
        <p:spPr>
          <a:xfrm>
            <a:off x="132120" y="1071360"/>
            <a:ext cx="50482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H = ( max ( w1 , w2 ) , h1+h2 )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34H5H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(2) Dimension of module 3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4 , h1 = 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4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/>
              <a:buChar char="\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Dimension2 of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module 34H5H : ( 4 , 10 )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68" name="Group 49"/>
          <p:cNvGrpSpPr/>
          <p:nvPr/>
        </p:nvGrpSpPr>
        <p:grpSpPr>
          <a:xfrm>
            <a:off x="4106520" y="1882800"/>
            <a:ext cx="825480" cy="1917360"/>
            <a:chOff x="4106520" y="1882800"/>
            <a:chExt cx="825480" cy="1917360"/>
          </a:xfrm>
        </p:grpSpPr>
        <p:grpSp>
          <p:nvGrpSpPr>
            <p:cNvPr id="269" name="Group 50"/>
            <p:cNvGrpSpPr/>
            <p:nvPr/>
          </p:nvGrpSpPr>
          <p:grpSpPr>
            <a:xfrm>
              <a:off x="4106520" y="1882800"/>
              <a:ext cx="825480" cy="1644480"/>
              <a:chOff x="4106520" y="1882800"/>
              <a:chExt cx="825480" cy="1644480"/>
            </a:xfrm>
          </p:grpSpPr>
          <p:sp>
            <p:nvSpPr>
              <p:cNvPr id="270" name="Rectangle 52"/>
              <p:cNvSpPr/>
              <p:nvPr/>
            </p:nvSpPr>
            <p:spPr>
              <a:xfrm>
                <a:off x="4106520" y="1882800"/>
                <a:ext cx="825480" cy="164448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1" name="Rectangle 57"/>
              <p:cNvSpPr/>
              <p:nvPr/>
            </p:nvSpPr>
            <p:spPr>
              <a:xfrm>
                <a:off x="4106520" y="1882800"/>
                <a:ext cx="825480" cy="61524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dk1"/>
                    </a:solidFill>
                    <a:effectLst/>
                    <a:uFillTx/>
                    <a:latin typeface="Cambria"/>
                    <a:ea typeface="Cambria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2" name="Rectangle 58"/>
              <p:cNvSpPr/>
              <p:nvPr/>
            </p:nvSpPr>
            <p:spPr>
              <a:xfrm>
                <a:off x="4106520" y="2498760"/>
                <a:ext cx="825480" cy="65052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4</a:t>
                </a:r>
                <a:endParaRPr lang="en-US" sz="20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73" name="Rectangle 51"/>
            <p:cNvSpPr/>
            <p:nvPr/>
          </p:nvSpPr>
          <p:spPr>
            <a:xfrm>
              <a:off x="4106520" y="3149640"/>
              <a:ext cx="825480" cy="65052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dk1"/>
                  </a:solidFill>
                  <a:effectLst/>
                  <a:uFillTx/>
                  <a:latin typeface="Cambria"/>
                  <a:ea typeface="Cambria"/>
                </a:rPr>
                <a:t>3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76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277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278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279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0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1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2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3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4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5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286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287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8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9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0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1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2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3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4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95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Oval 43"/>
          <p:cNvSpPr/>
          <p:nvPr/>
        </p:nvSpPr>
        <p:spPr>
          <a:xfrm>
            <a:off x="1918800" y="2361960"/>
            <a:ext cx="721440" cy="7412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Box 48"/>
          <p:cNvSpPr/>
          <p:nvPr/>
        </p:nvSpPr>
        <p:spPr>
          <a:xfrm>
            <a:off x="571392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Rectangle 26"/>
          <p:cNvSpPr/>
          <p:nvPr/>
        </p:nvSpPr>
        <p:spPr>
          <a:xfrm>
            <a:off x="3907800" y="2156760"/>
            <a:ext cx="50482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H = ( max ( w1 , w2 ) , h1+h2 )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12H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(1) Dimension of module 1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4 , h1 = 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2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/>
              <a:buChar char="\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Dimension1 of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module 12H : ( 4 , 10 )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01" name="Group 63"/>
          <p:cNvGrpSpPr/>
          <p:nvPr/>
        </p:nvGrpSpPr>
        <p:grpSpPr>
          <a:xfrm>
            <a:off x="7684920" y="3108600"/>
            <a:ext cx="825480" cy="1917360"/>
            <a:chOff x="7684920" y="3108600"/>
            <a:chExt cx="825480" cy="1917360"/>
          </a:xfrm>
        </p:grpSpPr>
        <p:grpSp>
          <p:nvGrpSpPr>
            <p:cNvPr id="302" name="Group 64"/>
            <p:cNvGrpSpPr/>
            <p:nvPr/>
          </p:nvGrpSpPr>
          <p:grpSpPr>
            <a:xfrm>
              <a:off x="7684920" y="3108600"/>
              <a:ext cx="825480" cy="1644480"/>
              <a:chOff x="7684920" y="3108600"/>
              <a:chExt cx="825480" cy="1644480"/>
            </a:xfrm>
          </p:grpSpPr>
          <p:sp>
            <p:nvSpPr>
              <p:cNvPr id="303" name="Rectangle 66"/>
              <p:cNvSpPr/>
              <p:nvPr/>
            </p:nvSpPr>
            <p:spPr>
              <a:xfrm>
                <a:off x="7684920" y="3108600"/>
                <a:ext cx="825480" cy="164448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4" name="Rectangle 67"/>
              <p:cNvSpPr/>
              <p:nvPr/>
            </p:nvSpPr>
            <p:spPr>
              <a:xfrm>
                <a:off x="7684920" y="3108600"/>
                <a:ext cx="825480" cy="6152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2</a:t>
                </a:r>
                <a:endParaRPr lang="en-US" sz="20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305" name="Rectangle 65"/>
            <p:cNvSpPr/>
            <p:nvPr/>
          </p:nvSpPr>
          <p:spPr>
            <a:xfrm>
              <a:off x="7684920" y="3724200"/>
              <a:ext cx="825480" cy="13017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dk1"/>
                  </a:solidFill>
                  <a:effectLst/>
                  <a:uFillTx/>
                  <a:latin typeface="Cambria"/>
                  <a:ea typeface="Cambria"/>
                </a:rPr>
                <a:t>1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6" dur="indefinite" restart="never" nodeType="tmRoot">
          <p:childTnLst>
            <p:seq>
              <p:cTn id="177" dur="indefinite" nodeType="mainSeq">
                <p:childTnLst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08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309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310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311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2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3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4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5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6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7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18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319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0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1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2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3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4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5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6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27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Oval 43"/>
          <p:cNvSpPr/>
          <p:nvPr/>
        </p:nvSpPr>
        <p:spPr>
          <a:xfrm>
            <a:off x="1918800" y="236196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Box 48"/>
          <p:cNvSpPr/>
          <p:nvPr/>
        </p:nvSpPr>
        <p:spPr>
          <a:xfrm>
            <a:off x="5713920" y="300420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Rectangle 26"/>
          <p:cNvSpPr/>
          <p:nvPr/>
        </p:nvSpPr>
        <p:spPr>
          <a:xfrm>
            <a:off x="3951360" y="2177280"/>
            <a:ext cx="50482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H = ( max ( w1 , w2 ) , h1+h2 )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12H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(2) Dimension of module 1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6 , h1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2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/>
              <a:buChar char="\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Dimension1 of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module 12H : ( 6 , 8 )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3" name="Group 1"/>
          <p:cNvGrpSpPr/>
          <p:nvPr/>
        </p:nvGrpSpPr>
        <p:grpSpPr>
          <a:xfrm>
            <a:off x="7792920" y="3527640"/>
            <a:ext cx="923400" cy="1321200"/>
            <a:chOff x="7792920" y="3527640"/>
            <a:chExt cx="923400" cy="1321200"/>
          </a:xfrm>
        </p:grpSpPr>
        <p:sp>
          <p:nvSpPr>
            <p:cNvPr id="334" name="Rectangle 65"/>
            <p:cNvSpPr/>
            <p:nvPr/>
          </p:nvSpPr>
          <p:spPr>
            <a:xfrm>
              <a:off x="7792920" y="3527640"/>
              <a:ext cx="923400" cy="1321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5" name="Rectangle 67"/>
            <p:cNvSpPr/>
            <p:nvPr/>
          </p:nvSpPr>
          <p:spPr>
            <a:xfrm>
              <a:off x="7792920" y="3527640"/>
              <a:ext cx="716760" cy="6325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lt1"/>
                  </a:solidFill>
                  <a:effectLst/>
                  <a:uFillTx/>
                  <a:latin typeface="Cambria"/>
                  <a:ea typeface="Cambria"/>
                </a:rPr>
                <a:t>2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6" name="Rectangle 68"/>
            <p:cNvSpPr/>
            <p:nvPr/>
          </p:nvSpPr>
          <p:spPr>
            <a:xfrm>
              <a:off x="7792920" y="4160520"/>
              <a:ext cx="923400" cy="68832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chemeClr val="dk1"/>
                  </a:solidFill>
                  <a:effectLst/>
                  <a:uFillTx/>
                  <a:latin typeface="Cambria"/>
                  <a:ea typeface="Cambria"/>
                </a:rPr>
                <a:t>1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7" dur="indefinite" restart="never" nodeType="tmRoot">
          <p:childTnLst>
            <p:seq>
              <p:cTn id="198" dur="indefinite" nodeType="mainSeq">
                <p:childTnLst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8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9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340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341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342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3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4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5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6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7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8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49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350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1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2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3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4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5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6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7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58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Oval 43"/>
          <p:cNvSpPr/>
          <p:nvPr/>
        </p:nvSpPr>
        <p:spPr>
          <a:xfrm>
            <a:off x="1918800" y="236196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TextBox 48"/>
          <p:cNvSpPr/>
          <p:nvPr/>
        </p:nvSpPr>
        <p:spPr>
          <a:xfrm>
            <a:off x="571392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Rectangle 26"/>
          <p:cNvSpPr/>
          <p:nvPr/>
        </p:nvSpPr>
        <p:spPr>
          <a:xfrm>
            <a:off x="1669680" y="3403800"/>
            <a:ext cx="62398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V = (w1+w2 , max ( h1 , h2 )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12H34H5HV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(1) Dimension of module 12H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4 , h1 = 10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34H5H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10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/>
              <a:buChar char="\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Dimension1 of module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12H : ( 8 , 10)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TextBox 41"/>
          <p:cNvSpPr/>
          <p:nvPr/>
        </p:nvSpPr>
        <p:spPr>
          <a:xfrm>
            <a:off x="227952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( 6 , 8 )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Box 42"/>
          <p:cNvSpPr/>
          <p:nvPr/>
        </p:nvSpPr>
        <p:spPr>
          <a:xfrm>
            <a:off x="107676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Oval 57"/>
          <p:cNvSpPr/>
          <p:nvPr/>
        </p:nvSpPr>
        <p:spPr>
          <a:xfrm>
            <a:off x="3811680" y="11718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67" name="Group 1"/>
          <p:cNvGrpSpPr/>
          <p:nvPr/>
        </p:nvGrpSpPr>
        <p:grpSpPr>
          <a:xfrm>
            <a:off x="5850360" y="4445280"/>
            <a:ext cx="1651320" cy="1917360"/>
            <a:chOff x="5850360" y="4445280"/>
            <a:chExt cx="1651320" cy="1917360"/>
          </a:xfrm>
        </p:grpSpPr>
        <p:grpSp>
          <p:nvGrpSpPr>
            <p:cNvPr id="368" name="Group 69"/>
            <p:cNvGrpSpPr/>
            <p:nvPr/>
          </p:nvGrpSpPr>
          <p:grpSpPr>
            <a:xfrm>
              <a:off x="5850360" y="4445280"/>
              <a:ext cx="825480" cy="1917360"/>
              <a:chOff x="5850360" y="4445280"/>
              <a:chExt cx="825480" cy="1917360"/>
            </a:xfrm>
          </p:grpSpPr>
          <p:grpSp>
            <p:nvGrpSpPr>
              <p:cNvPr id="369" name="Group 70"/>
              <p:cNvGrpSpPr/>
              <p:nvPr/>
            </p:nvGrpSpPr>
            <p:grpSpPr>
              <a:xfrm>
                <a:off x="5850360" y="4445280"/>
                <a:ext cx="825480" cy="1644480"/>
                <a:chOff x="5850360" y="4445280"/>
                <a:chExt cx="825480" cy="1644480"/>
              </a:xfrm>
            </p:grpSpPr>
            <p:sp>
              <p:nvSpPr>
                <p:cNvPr id="370" name="Rectangle 72"/>
                <p:cNvSpPr/>
                <p:nvPr/>
              </p:nvSpPr>
              <p:spPr>
                <a:xfrm>
                  <a:off x="5850360" y="4445280"/>
                  <a:ext cx="825480" cy="164448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71" name="Rectangle 73"/>
                <p:cNvSpPr/>
                <p:nvPr/>
              </p:nvSpPr>
              <p:spPr>
                <a:xfrm>
                  <a:off x="5850360" y="4445280"/>
                  <a:ext cx="825480" cy="6152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1" u="none" strike="noStrike">
                      <a:solidFill>
                        <a:schemeClr val="lt1"/>
                      </a:solidFill>
                      <a:effectLst/>
                      <a:uFillTx/>
                      <a:latin typeface="Cambria"/>
                      <a:ea typeface="Cambria"/>
                    </a:rPr>
                    <a:t>2</a:t>
                  </a:r>
                  <a:endParaRPr lang="en-US" sz="2000" b="0" u="none" strike="noStrike">
                    <a:solidFill>
                      <a:srgbClr val="FFFFFF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372" name="Rectangle 71"/>
              <p:cNvSpPr/>
              <p:nvPr/>
            </p:nvSpPr>
            <p:spPr>
              <a:xfrm>
                <a:off x="5850360" y="5060880"/>
                <a:ext cx="825480" cy="130176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dk1"/>
                    </a:solidFill>
                    <a:effectLst/>
                    <a:uFillTx/>
                    <a:latin typeface="Cambria"/>
                    <a:ea typeface="Cambria"/>
                  </a:rPr>
                  <a:t>1</a:t>
                </a:r>
                <a:endParaRPr lang="en-US" sz="20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73" name="Group 74"/>
            <p:cNvGrpSpPr/>
            <p:nvPr/>
          </p:nvGrpSpPr>
          <p:grpSpPr>
            <a:xfrm>
              <a:off x="6676200" y="4445280"/>
              <a:ext cx="825480" cy="1917360"/>
              <a:chOff x="6676200" y="4445280"/>
              <a:chExt cx="825480" cy="1917360"/>
            </a:xfrm>
          </p:grpSpPr>
          <p:grpSp>
            <p:nvGrpSpPr>
              <p:cNvPr id="374" name="Group 75"/>
              <p:cNvGrpSpPr/>
              <p:nvPr/>
            </p:nvGrpSpPr>
            <p:grpSpPr>
              <a:xfrm>
                <a:off x="6676200" y="4445280"/>
                <a:ext cx="825480" cy="1644480"/>
                <a:chOff x="6676200" y="4445280"/>
                <a:chExt cx="825480" cy="1644480"/>
              </a:xfrm>
            </p:grpSpPr>
            <p:sp>
              <p:nvSpPr>
                <p:cNvPr id="375" name="Rectangle 77"/>
                <p:cNvSpPr/>
                <p:nvPr/>
              </p:nvSpPr>
              <p:spPr>
                <a:xfrm>
                  <a:off x="6676200" y="4445280"/>
                  <a:ext cx="825480" cy="164448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76" name="Rectangle 78"/>
                <p:cNvSpPr/>
                <p:nvPr/>
              </p:nvSpPr>
              <p:spPr>
                <a:xfrm>
                  <a:off x="6676200" y="4445280"/>
                  <a:ext cx="825480" cy="615240"/>
                </a:xfrm>
                <a:prstGeom prst="rect">
                  <a:avLst/>
                </a:prstGeom>
                <a:solidFill>
                  <a:srgbClr val="00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1" u="none" strike="noStrike">
                      <a:solidFill>
                        <a:schemeClr val="dk1"/>
                      </a:solidFill>
                      <a:effectLst/>
                      <a:uFillTx/>
                      <a:latin typeface="Cambria"/>
                      <a:ea typeface="Cambria"/>
                    </a:rPr>
                    <a:t>5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377" name="Rectangle 79"/>
                <p:cNvSpPr/>
                <p:nvPr/>
              </p:nvSpPr>
              <p:spPr>
                <a:xfrm>
                  <a:off x="6676200" y="5060880"/>
                  <a:ext cx="825480" cy="65052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1" u="none" strike="noStrike">
                      <a:solidFill>
                        <a:schemeClr val="lt1"/>
                      </a:solidFill>
                      <a:effectLst/>
                      <a:uFillTx/>
                      <a:latin typeface="Cambria"/>
                      <a:ea typeface="Cambria"/>
                    </a:rPr>
                    <a:t>4</a:t>
                  </a:r>
                  <a:endParaRPr lang="en-US" sz="2000" b="0" u="none" strike="noStrike">
                    <a:solidFill>
                      <a:srgbClr val="FFFFFF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378" name="Rectangle 76"/>
              <p:cNvSpPr/>
              <p:nvPr/>
            </p:nvSpPr>
            <p:spPr>
              <a:xfrm>
                <a:off x="6676200" y="5712120"/>
                <a:ext cx="825480" cy="65052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dk1"/>
                    </a:solidFill>
                    <a:effectLst/>
                    <a:uFillTx/>
                    <a:latin typeface="Cambria"/>
                    <a:ea typeface="Cambria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9" dur="indefinite" restart="never" nodeType="tmRoot">
          <p:childTnLst>
            <p:seq>
              <p:cTn id="210" dur="indefinite" nodeType="mainSeq">
                <p:childTnLst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3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3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81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382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383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384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85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86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87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88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89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90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391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392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3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4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5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6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7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8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9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00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Oval 43"/>
          <p:cNvSpPr/>
          <p:nvPr/>
        </p:nvSpPr>
        <p:spPr>
          <a:xfrm>
            <a:off x="1918800" y="236196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Box 48"/>
          <p:cNvSpPr/>
          <p:nvPr/>
        </p:nvSpPr>
        <p:spPr>
          <a:xfrm>
            <a:off x="571392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Rectangle 26"/>
          <p:cNvSpPr/>
          <p:nvPr/>
        </p:nvSpPr>
        <p:spPr>
          <a:xfrm>
            <a:off x="1669680" y="3403800"/>
            <a:ext cx="6239880" cy="341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V = (w1+w2 , max ( h1 , h2 )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ts val="1001"/>
              </a:lnSpc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2001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12H34H5HV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(1) Dimension of module 12H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w1 = 6 , h1 = 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 of module 34H5H 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w2 = 4 , h2 = 10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/>
              <a:buChar char="\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Dimension1 of module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12H : ( 10 , 10)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Box 41"/>
          <p:cNvSpPr/>
          <p:nvPr/>
        </p:nvSpPr>
        <p:spPr>
          <a:xfrm>
            <a:off x="227952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( 6 , 8 )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Box 42"/>
          <p:cNvSpPr/>
          <p:nvPr/>
        </p:nvSpPr>
        <p:spPr>
          <a:xfrm>
            <a:off x="1076760" y="300420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Oval 57"/>
          <p:cNvSpPr/>
          <p:nvPr/>
        </p:nvSpPr>
        <p:spPr>
          <a:xfrm>
            <a:off x="3811680" y="11718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09" name="Group 3"/>
          <p:cNvGrpSpPr/>
          <p:nvPr/>
        </p:nvGrpSpPr>
        <p:grpSpPr>
          <a:xfrm>
            <a:off x="5829480" y="4353480"/>
            <a:ext cx="1772280" cy="1919880"/>
            <a:chOff x="5829480" y="4353480"/>
            <a:chExt cx="1772280" cy="1919880"/>
          </a:xfrm>
        </p:grpSpPr>
        <p:grpSp>
          <p:nvGrpSpPr>
            <p:cNvPr id="410" name="Group 49"/>
            <p:cNvGrpSpPr/>
            <p:nvPr/>
          </p:nvGrpSpPr>
          <p:grpSpPr>
            <a:xfrm>
              <a:off x="5829480" y="4356000"/>
              <a:ext cx="949680" cy="1917360"/>
              <a:chOff x="5829480" y="4356000"/>
              <a:chExt cx="949680" cy="1917360"/>
            </a:xfrm>
          </p:grpSpPr>
          <p:grpSp>
            <p:nvGrpSpPr>
              <p:cNvPr id="411" name="Group 50"/>
              <p:cNvGrpSpPr/>
              <p:nvPr/>
            </p:nvGrpSpPr>
            <p:grpSpPr>
              <a:xfrm>
                <a:off x="5829480" y="4356000"/>
                <a:ext cx="949680" cy="1644480"/>
                <a:chOff x="5829480" y="4356000"/>
                <a:chExt cx="949680" cy="1644480"/>
              </a:xfrm>
            </p:grpSpPr>
            <p:sp>
              <p:nvSpPr>
                <p:cNvPr id="412" name="Rectangle 52"/>
                <p:cNvSpPr/>
                <p:nvPr/>
              </p:nvSpPr>
              <p:spPr>
                <a:xfrm>
                  <a:off x="5829480" y="4356000"/>
                  <a:ext cx="949680" cy="164448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13" name="Rectangle 58"/>
                <p:cNvSpPr/>
                <p:nvPr/>
              </p:nvSpPr>
              <p:spPr>
                <a:xfrm>
                  <a:off x="5829480" y="4969440"/>
                  <a:ext cx="716760" cy="6152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1" u="none" strike="noStrike">
                      <a:solidFill>
                        <a:schemeClr val="lt1"/>
                      </a:solidFill>
                      <a:effectLst/>
                      <a:uFillTx/>
                      <a:latin typeface="Cambria"/>
                      <a:ea typeface="Cambria"/>
                    </a:rPr>
                    <a:t>2</a:t>
                  </a:r>
                  <a:endParaRPr lang="en-US" sz="2000" b="0" u="none" strike="noStrike">
                    <a:solidFill>
                      <a:srgbClr val="FFFFFF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414" name="Rectangle 51"/>
              <p:cNvSpPr/>
              <p:nvPr/>
            </p:nvSpPr>
            <p:spPr>
              <a:xfrm>
                <a:off x="5829480" y="5585040"/>
                <a:ext cx="949680" cy="68832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dk1"/>
                    </a:solidFill>
                    <a:effectLst/>
                    <a:uFillTx/>
                    <a:latin typeface="Cambria"/>
                    <a:ea typeface="Cambria"/>
                  </a:rPr>
                  <a:t>1</a:t>
                </a:r>
                <a:endParaRPr lang="en-US" sz="20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15" name="Group 59"/>
            <p:cNvGrpSpPr/>
            <p:nvPr/>
          </p:nvGrpSpPr>
          <p:grpSpPr>
            <a:xfrm>
              <a:off x="6776280" y="4353480"/>
              <a:ext cx="825480" cy="1917360"/>
              <a:chOff x="6776280" y="4353480"/>
              <a:chExt cx="825480" cy="1917360"/>
            </a:xfrm>
          </p:grpSpPr>
          <p:grpSp>
            <p:nvGrpSpPr>
              <p:cNvPr id="416" name="Group 60"/>
              <p:cNvGrpSpPr/>
              <p:nvPr/>
            </p:nvGrpSpPr>
            <p:grpSpPr>
              <a:xfrm>
                <a:off x="6776280" y="4353480"/>
                <a:ext cx="825480" cy="1644480"/>
                <a:chOff x="6776280" y="4353480"/>
                <a:chExt cx="825480" cy="1644480"/>
              </a:xfrm>
            </p:grpSpPr>
            <p:sp>
              <p:nvSpPr>
                <p:cNvPr id="417" name="Rectangle 62"/>
                <p:cNvSpPr/>
                <p:nvPr/>
              </p:nvSpPr>
              <p:spPr>
                <a:xfrm>
                  <a:off x="6776280" y="4353480"/>
                  <a:ext cx="825480" cy="164448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18" name="Rectangle 63"/>
                <p:cNvSpPr/>
                <p:nvPr/>
              </p:nvSpPr>
              <p:spPr>
                <a:xfrm>
                  <a:off x="6776280" y="4353480"/>
                  <a:ext cx="825480" cy="615240"/>
                </a:xfrm>
                <a:prstGeom prst="rect">
                  <a:avLst/>
                </a:prstGeom>
                <a:solidFill>
                  <a:srgbClr val="00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1" u="none" strike="noStrike">
                      <a:solidFill>
                        <a:schemeClr val="dk1"/>
                      </a:solidFill>
                      <a:effectLst/>
                      <a:uFillTx/>
                      <a:latin typeface="Cambria"/>
                      <a:ea typeface="Cambria"/>
                    </a:rPr>
                    <a:t>5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419" name="Rectangle 64"/>
                <p:cNvSpPr/>
                <p:nvPr/>
              </p:nvSpPr>
              <p:spPr>
                <a:xfrm>
                  <a:off x="6776280" y="4969440"/>
                  <a:ext cx="825480" cy="65052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1" u="none" strike="noStrike">
                      <a:solidFill>
                        <a:schemeClr val="lt1"/>
                      </a:solidFill>
                      <a:effectLst/>
                      <a:uFillTx/>
                      <a:latin typeface="Cambria"/>
                      <a:ea typeface="Cambria"/>
                    </a:rPr>
                    <a:t>4</a:t>
                  </a:r>
                  <a:endParaRPr lang="en-US" sz="2000" b="0" u="none" strike="noStrike">
                    <a:solidFill>
                      <a:srgbClr val="FFFFFF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420" name="Rectangle 61"/>
              <p:cNvSpPr/>
              <p:nvPr/>
            </p:nvSpPr>
            <p:spPr>
              <a:xfrm>
                <a:off x="6776280" y="5620320"/>
                <a:ext cx="825480" cy="65052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dk1"/>
                    </a:solidFill>
                    <a:effectLst/>
                    <a:uFillTx/>
                    <a:latin typeface="Cambria"/>
                    <a:ea typeface="Cambria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421" name="TextBox 65"/>
          <p:cNvSpPr/>
          <p:nvPr/>
        </p:nvSpPr>
        <p:spPr>
          <a:xfrm>
            <a:off x="3624840" y="1787040"/>
            <a:ext cx="1130040" cy="395280"/>
          </a:xfrm>
          <a:prstGeom prst="rect">
            <a:avLst/>
          </a:prstGeom>
          <a:solidFill>
            <a:srgbClr val="FFFF0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( 8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4" dur="indefinite" restart="never" nodeType="tmRoot">
          <p:childTnLst>
            <p:seq>
              <p:cTn id="235" dur="indefinite" nodeType="mainSeq">
                <p:childTnLst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0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0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angle 4"/>
          <p:cNvSpPr/>
          <p:nvPr/>
        </p:nvSpPr>
        <p:spPr>
          <a:xfrm>
            <a:off x="2734560" y="532440"/>
            <a:ext cx="36741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AREA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TextBox 40"/>
          <p:cNvSpPr/>
          <p:nvPr/>
        </p:nvSpPr>
        <p:spPr>
          <a:xfrm>
            <a:off x="6188040" y="1094760"/>
            <a:ext cx="2954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Cambria"/>
              </a:rPr>
              <a:t>Step 3 : computing dimensions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24" name="Group 2"/>
          <p:cNvGrpSpPr/>
          <p:nvPr/>
        </p:nvGrpSpPr>
        <p:grpSpPr>
          <a:xfrm>
            <a:off x="1104480" y="1351080"/>
            <a:ext cx="6805080" cy="5363640"/>
            <a:chOff x="1104480" y="1351080"/>
            <a:chExt cx="6805080" cy="5363640"/>
          </a:xfrm>
        </p:grpSpPr>
        <p:grpSp>
          <p:nvGrpSpPr>
            <p:cNvPr id="425" name="Group 30"/>
            <p:cNvGrpSpPr/>
            <p:nvPr/>
          </p:nvGrpSpPr>
          <p:grpSpPr>
            <a:xfrm>
              <a:off x="1212480" y="1351080"/>
              <a:ext cx="6428160" cy="4407840"/>
              <a:chOff x="1212480" y="1351080"/>
              <a:chExt cx="6428160" cy="4407840"/>
            </a:xfrm>
          </p:grpSpPr>
          <p:sp>
            <p:nvSpPr>
              <p:cNvPr id="426" name="TextBox 31"/>
              <p:cNvSpPr/>
              <p:nvPr/>
            </p:nvSpPr>
            <p:spPr>
              <a:xfrm>
                <a:off x="1212480" y="1351080"/>
                <a:ext cx="6428160" cy="4407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</a:t>
                </a: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V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H                                               H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3501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1                  2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ts val="18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           H                       5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2800" b="1" u="none" strike="noStrike">
                    <a:solidFill>
                      <a:schemeClr val="lt1"/>
                    </a:solidFill>
                    <a:effectLst/>
                    <a:uFillTx/>
                    <a:latin typeface="Cambria"/>
                    <a:ea typeface="Cambria"/>
                  </a:rPr>
                  <a:t>                                        3                      4</a:t>
                </a:r>
                <a:endParaRPr lang="en-US" sz="2800" b="0" u="none" strike="noStrike">
                  <a:solidFill>
                    <a:srgbClr val="FFFFFF"/>
                  </a:solidFill>
                  <a:effectLst/>
                  <a:uFillTx/>
                  <a:latin typeface="Times New Roman"/>
                </a:endParaRPr>
              </a:p>
            </p:txBody>
          </p:sp>
          <p:cxnSp>
            <p:nvCxnSpPr>
              <p:cNvPr id="427" name="Straight Arrow Connector 32"/>
              <p:cNvCxnSpPr/>
              <p:nvPr/>
            </p:nvCxnSpPr>
            <p:spPr>
              <a:xfrm flipH="1">
                <a:off x="2598120" y="1842120"/>
                <a:ext cx="135360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28" name="Straight Arrow Connector 33"/>
              <p:cNvCxnSpPr/>
              <p:nvPr/>
            </p:nvCxnSpPr>
            <p:spPr>
              <a:xfrm>
                <a:off x="4402440" y="1842120"/>
                <a:ext cx="1578960" cy="74772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29" name="Straight Arrow Connector 34"/>
              <p:cNvCxnSpPr/>
              <p:nvPr/>
            </p:nvCxnSpPr>
            <p:spPr>
              <a:xfrm flipH="1">
                <a:off x="1599840" y="3045960"/>
                <a:ext cx="55080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30" name="Straight Arrow Connector 35"/>
              <p:cNvCxnSpPr/>
              <p:nvPr/>
            </p:nvCxnSpPr>
            <p:spPr>
              <a:xfrm>
                <a:off x="2485440" y="3045960"/>
                <a:ext cx="486360" cy="71676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31" name="Straight Arrow Connector 36"/>
              <p:cNvCxnSpPr/>
              <p:nvPr/>
            </p:nvCxnSpPr>
            <p:spPr>
              <a:xfrm>
                <a:off x="5497560" y="4621680"/>
                <a:ext cx="81000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32" name="Straight Arrow Connector 37"/>
              <p:cNvCxnSpPr/>
              <p:nvPr/>
            </p:nvCxnSpPr>
            <p:spPr>
              <a:xfrm>
                <a:off x="6432120" y="3108240"/>
                <a:ext cx="959400" cy="93564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33" name="Straight Arrow Connector 38"/>
              <p:cNvCxnSpPr/>
              <p:nvPr/>
            </p:nvCxnSpPr>
            <p:spPr>
              <a:xfrm flipH="1">
                <a:off x="5333760" y="3108240"/>
                <a:ext cx="760320" cy="8388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  <p:cxnSp>
            <p:nvCxnSpPr>
              <p:cNvPr id="434" name="Straight Arrow Connector 39"/>
              <p:cNvCxnSpPr/>
              <p:nvPr/>
            </p:nvCxnSpPr>
            <p:spPr>
              <a:xfrm flipH="1">
                <a:off x="4572000" y="4621680"/>
                <a:ext cx="720720" cy="498600"/>
              </a:xfrm>
              <a:prstGeom prst="straightConnector1">
                <a:avLst/>
              </a:prstGeom>
              <a:ln w="28575">
                <a:solidFill>
                  <a:srgbClr val="FFFF05"/>
                </a:solidFill>
                <a:round/>
                <a:tailEnd len="med" type="arrow" w="med"/>
              </a:ln>
            </p:spPr>
          </p:cxnSp>
        </p:grpSp>
        <p:sp>
          <p:nvSpPr>
            <p:cNvPr id="435" name="TextBox 44"/>
            <p:cNvSpPr/>
            <p:nvPr/>
          </p:nvSpPr>
          <p:spPr>
            <a:xfrm>
              <a:off x="2664360" y="4261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6" name="TextBox 45"/>
            <p:cNvSpPr/>
            <p:nvPr/>
          </p:nvSpPr>
          <p:spPr>
            <a:xfrm>
              <a:off x="4050360" y="63194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7" name="TextBox 46"/>
            <p:cNvSpPr/>
            <p:nvPr/>
          </p:nvSpPr>
          <p:spPr>
            <a:xfrm>
              <a:off x="4061520" y="573624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8" name="TextBox 47"/>
            <p:cNvSpPr/>
            <p:nvPr/>
          </p:nvSpPr>
          <p:spPr>
            <a:xfrm>
              <a:off x="5902560" y="58006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9" name="TextBox 53"/>
            <p:cNvSpPr/>
            <p:nvPr/>
          </p:nvSpPr>
          <p:spPr>
            <a:xfrm>
              <a:off x="6779520" y="500400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3 )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0" name="TextBox 54"/>
            <p:cNvSpPr/>
            <p:nvPr/>
          </p:nvSpPr>
          <p:spPr>
            <a:xfrm>
              <a:off x="6779520" y="448488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( 3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1" name="TextBox 55"/>
            <p:cNvSpPr/>
            <p:nvPr/>
          </p:nvSpPr>
          <p:spPr>
            <a:xfrm>
              <a:off x="1136160" y="4284720"/>
              <a:ext cx="101376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( 4 , 6 )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2" name="TextBox 56"/>
            <p:cNvSpPr/>
            <p:nvPr/>
          </p:nvSpPr>
          <p:spPr>
            <a:xfrm>
              <a:off x="1104480" y="4882320"/>
              <a:ext cx="1130040" cy="395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</a:rPr>
                <a:t>(6 , 4 )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43" name="Oval 5"/>
          <p:cNvSpPr/>
          <p:nvPr/>
        </p:nvSpPr>
        <p:spPr>
          <a:xfrm>
            <a:off x="5042880" y="388368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TextBox 24"/>
          <p:cNvSpPr/>
          <p:nvPr/>
        </p:nvSpPr>
        <p:spPr>
          <a:xfrm>
            <a:off x="4885920" y="450648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7 )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Oval 25"/>
          <p:cNvSpPr/>
          <p:nvPr/>
        </p:nvSpPr>
        <p:spPr>
          <a:xfrm>
            <a:off x="5902560" y="23706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Oval 43"/>
          <p:cNvSpPr/>
          <p:nvPr/>
        </p:nvSpPr>
        <p:spPr>
          <a:xfrm>
            <a:off x="1918800" y="236196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TextBox 48"/>
          <p:cNvSpPr/>
          <p:nvPr/>
        </p:nvSpPr>
        <p:spPr>
          <a:xfrm>
            <a:off x="5713920" y="300420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TextBox 41"/>
          <p:cNvSpPr/>
          <p:nvPr/>
        </p:nvSpPr>
        <p:spPr>
          <a:xfrm>
            <a:off x="2279520" y="300420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( 6 , 8 )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TextBox 42"/>
          <p:cNvSpPr/>
          <p:nvPr/>
        </p:nvSpPr>
        <p:spPr>
          <a:xfrm>
            <a:off x="1076760" y="3004200"/>
            <a:ext cx="1130040" cy="395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mbria"/>
              </a:rPr>
              <a:t>( 4 , 10 )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Oval 57"/>
          <p:cNvSpPr/>
          <p:nvPr/>
        </p:nvSpPr>
        <p:spPr>
          <a:xfrm>
            <a:off x="3811680" y="1171800"/>
            <a:ext cx="721440" cy="737640"/>
          </a:xfrm>
          <a:prstGeom prst="ellipse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TextBox 65"/>
          <p:cNvSpPr/>
          <p:nvPr/>
        </p:nvSpPr>
        <p:spPr>
          <a:xfrm>
            <a:off x="3624840" y="1787040"/>
            <a:ext cx="1130040" cy="395280"/>
          </a:xfrm>
          <a:prstGeom prst="rect">
            <a:avLst/>
          </a:prstGeom>
          <a:solidFill>
            <a:schemeClr val="tx1"/>
          </a:solidFill>
          <a:ln w="38100">
            <a:solidFill>
              <a:srgbClr val="FFFF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( 8 , 10 )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Rectangle 67"/>
          <p:cNvSpPr/>
          <p:nvPr/>
        </p:nvSpPr>
        <p:spPr>
          <a:xfrm>
            <a:off x="1892520" y="2490480"/>
            <a:ext cx="5048280" cy="2791440"/>
          </a:xfrm>
          <a:prstGeom prst="rect">
            <a:avLst/>
          </a:prstGeom>
          <a:solidFill>
            <a:schemeClr val="tx1"/>
          </a:solidFill>
          <a:ln w="76200">
            <a:solidFill>
              <a:srgbClr val="7030A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2001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Width = 8    ;    Height = 10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ts val="4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 Area = 8 x 10 = 80 unit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4"/>
          <p:cNvSpPr/>
          <p:nvPr/>
        </p:nvSpPr>
        <p:spPr>
          <a:xfrm>
            <a:off x="2396520" y="532440"/>
            <a:ext cx="43502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wirelength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TextBox 40"/>
          <p:cNvSpPr/>
          <p:nvPr/>
        </p:nvSpPr>
        <p:spPr>
          <a:xfrm>
            <a:off x="380880" y="1523880"/>
            <a:ext cx="8381520" cy="13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FFFF00"/>
              </a:buClr>
              <a:buSzPct val="95000"/>
              <a:buFont typeface="Cambria"/>
              <a:buChar char="»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Only go through approximation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9"/>
              </a:spcBef>
              <a:buClr>
                <a:srgbClr val="FFFF00"/>
              </a:buClr>
              <a:buSzPct val="95000"/>
              <a:buFont typeface="Cambria"/>
              <a:buChar char="»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Actual wiring is not performed  at the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     floorplan stage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TextBox 66"/>
          <p:cNvSpPr/>
          <p:nvPr/>
        </p:nvSpPr>
        <p:spPr>
          <a:xfrm>
            <a:off x="304920" y="2924280"/>
            <a:ext cx="8381520" cy="28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spcBef>
                <a:spcPts val="1199"/>
              </a:spcBef>
              <a:buClr>
                <a:srgbClr val="FFFF05"/>
              </a:buClr>
              <a:buSzPct val="95000"/>
              <a:buFont typeface="Calibri"/>
              <a:buChar char="»"/>
            </a:pPr>
            <a:r>
              <a:rPr lang="en-US" sz="2500" b="0" u="none" strike="noStrike">
                <a:solidFill>
                  <a:srgbClr val="FFFF05"/>
                </a:solidFill>
                <a:effectLst/>
                <a:uFillTx/>
                <a:latin typeface="Times New Roman"/>
                <a:ea typeface="Cambria"/>
              </a:rPr>
              <a:t>HPWL</a:t>
            </a: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 : Popular approximation measurement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371600" lvl="2" indent="-457200" defTabSz="914400">
              <a:lnSpc>
                <a:spcPct val="100000"/>
              </a:lnSpc>
              <a:spcBef>
                <a:spcPts val="1199"/>
              </a:spcBef>
              <a:buClr>
                <a:srgbClr val="FFFF05"/>
              </a:buClr>
              <a:buSzPct val="60000"/>
              <a:buFont typeface="Wingdings" charset="2"/>
              <a:buChar char="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Half-perimeter wirelength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371600" lvl="2" indent="-457200" defTabSz="914400">
              <a:lnSpc>
                <a:spcPct val="100000"/>
              </a:lnSpc>
              <a:spcBef>
                <a:spcPts val="1199"/>
              </a:spcBef>
              <a:buClr>
                <a:srgbClr val="FFFF05"/>
              </a:buClr>
              <a:buSzPct val="60000"/>
              <a:buFont typeface="Wingdings" charset="2"/>
              <a:buChar char="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The half-perimeter length of the smallest bounding box that encloses all pins or the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371600" lvl="2" indent="-457200" defTabSz="914400">
              <a:lnSpc>
                <a:spcPct val="100000"/>
              </a:lnSpc>
              <a:spcBef>
                <a:spcPts val="1199"/>
              </a:spcBef>
              <a:buClr>
                <a:srgbClr val="FFFF05"/>
              </a:buClr>
              <a:buSzPct val="60000"/>
              <a:buFont typeface="Wingdings" charset="2"/>
              <a:buChar char=""/>
            </a:pPr>
            <a:r>
              <a:rPr lang="en-US" sz="2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Can be computed by use of the centers of modules      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57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0243E"/>
            </a:gs>
            <a:gs pos="50000">
              <a:srgbClr val="10243E"/>
            </a:gs>
            <a:gs pos="100000">
              <a:srgbClr val="17375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ctangle 4"/>
          <p:cNvSpPr/>
          <p:nvPr/>
        </p:nvSpPr>
        <p:spPr>
          <a:xfrm>
            <a:off x="2396520" y="532440"/>
            <a:ext cx="43502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COMPUTING  wirelength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57" name="Picture 1"/>
          <p:cNvPicPr/>
          <p:nvPr/>
        </p:nvPicPr>
        <p:blipFill>
          <a:blip r:embed="rId1"/>
          <a:stretch/>
        </p:blipFill>
        <p:spPr>
          <a:xfrm>
            <a:off x="457200" y="1752480"/>
            <a:ext cx="462708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Box 2"/>
          <p:cNvSpPr/>
          <p:nvPr/>
        </p:nvSpPr>
        <p:spPr>
          <a:xfrm>
            <a:off x="5334120" y="2438280"/>
            <a:ext cx="35809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HPWL of a net connecting modules 2 , 4 and 5 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Height = 3.5  ;  width = 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Cambria"/>
              </a:rPr>
              <a:t>HPWL = 3.5 + 4 = 7.5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</TotalTime>
  <Application>LibreOffice/26.2.3.2$Linux_X86_64 LibreOffice_project/70e089b17412e4cb7773e41413306b17a2328c34</Application>
  <AppVersion>15.0000</AppVersion>
  <Words>1668</Words>
  <Paragraphs>432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2020-03-14T04:34:08Z</dcterms:created>
  <dc:creator>DELL</dc:creator>
  <dc:description/>
  <dc:language>en-US</dc:language>
  <cp:lastModifiedBy/>
  <dcterms:modified xsi:type="dcterms:W3CDTF">2026-06-03T21:55:16Z</dcterms:modified>
  <cp:revision>82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23</vt:i4>
  </property>
</Properties>
</file>